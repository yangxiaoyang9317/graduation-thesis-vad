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2.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7.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0" r:id="rId1"/>
  </p:sldMasterIdLst>
  <p:notesMasterIdLst>
    <p:notesMasterId r:id="rId18"/>
  </p:notesMasterIdLst>
  <p:sldIdLst>
    <p:sldId id="256" r:id="rId2"/>
    <p:sldId id="267" r:id="rId3"/>
    <p:sldId id="258" r:id="rId4"/>
    <p:sldId id="269" r:id="rId5"/>
    <p:sldId id="280" r:id="rId6"/>
    <p:sldId id="281" r:id="rId7"/>
    <p:sldId id="491" r:id="rId8"/>
    <p:sldId id="500" r:id="rId9"/>
    <p:sldId id="262" r:id="rId10"/>
    <p:sldId id="501" r:id="rId11"/>
    <p:sldId id="266" r:id="rId12"/>
    <p:sldId id="494" r:id="rId13"/>
    <p:sldId id="492" r:id="rId14"/>
    <p:sldId id="348" r:id="rId15"/>
    <p:sldId id="496" r:id="rId16"/>
    <p:sldId id="49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5696"/>
    <a:srgbClr val="F9F9F9"/>
    <a:srgbClr val="83A56D"/>
    <a:srgbClr val="85B1D4"/>
    <a:srgbClr val="E0A67F"/>
    <a:srgbClr val="8192C9"/>
    <a:srgbClr val="657ABD"/>
    <a:srgbClr val="F5A5BE"/>
    <a:srgbClr val="A1AED7"/>
    <a:srgbClr val="D0D6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73" autoAdjust="0"/>
    <p:restoredTop sz="91172" autoAdjust="0"/>
  </p:normalViewPr>
  <p:slideViewPr>
    <p:cSldViewPr snapToGrid="0">
      <p:cViewPr>
        <p:scale>
          <a:sx n="96" d="100"/>
          <a:sy n="96" d="100"/>
        </p:scale>
        <p:origin x="440" y="200"/>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030549-7B5C-42CF-AD3B-1F3794621B66}" type="datetimeFigureOut">
              <a:rPr lang="zh-CN" altLang="en-US" smtClean="0"/>
              <a:t>2022/12/28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1D9AFA-665B-4AEA-895F-63CA9B852EFA}" type="slidenum">
              <a:rPr lang="zh-CN" altLang="en-US" smtClean="0"/>
              <a:t>‹#›</a:t>
            </a:fld>
            <a:endParaRPr lang="zh-CN" altLang="en-US"/>
          </a:p>
        </p:txBody>
      </p:sp>
    </p:spTree>
    <p:extLst>
      <p:ext uri="{BB962C8B-B14F-4D97-AF65-F5344CB8AC3E}">
        <p14:creationId xmlns:p14="http://schemas.microsoft.com/office/powerpoint/2010/main" val="136736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21D9AFA-665B-4AEA-895F-63CA9B852EFA}" type="slidenum">
              <a:rPr lang="zh-CN" altLang="en-US" smtClean="0"/>
              <a:t>1</a:t>
            </a:fld>
            <a:endParaRPr lang="zh-CN" altLang="en-US"/>
          </a:p>
        </p:txBody>
      </p:sp>
    </p:spTree>
    <p:extLst>
      <p:ext uri="{BB962C8B-B14F-4D97-AF65-F5344CB8AC3E}">
        <p14:creationId xmlns:p14="http://schemas.microsoft.com/office/powerpoint/2010/main" val="1852195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21D9AFA-665B-4AEA-895F-63CA9B852EFA}" type="slidenum">
              <a:rPr lang="zh-CN" altLang="en-US" smtClean="0"/>
              <a:t>3</a:t>
            </a:fld>
            <a:endParaRPr lang="zh-CN" altLang="en-US"/>
          </a:p>
        </p:txBody>
      </p:sp>
    </p:spTree>
    <p:extLst>
      <p:ext uri="{BB962C8B-B14F-4D97-AF65-F5344CB8AC3E}">
        <p14:creationId xmlns:p14="http://schemas.microsoft.com/office/powerpoint/2010/main" val="3786931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21D9AFA-665B-4AEA-895F-63CA9B852EFA}" type="slidenum">
              <a:rPr lang="zh-CN" altLang="en-US" smtClean="0"/>
              <a:t>5</a:t>
            </a:fld>
            <a:endParaRPr lang="zh-CN" altLang="en-US"/>
          </a:p>
        </p:txBody>
      </p:sp>
    </p:spTree>
    <p:extLst>
      <p:ext uri="{BB962C8B-B14F-4D97-AF65-F5344CB8AC3E}">
        <p14:creationId xmlns:p14="http://schemas.microsoft.com/office/powerpoint/2010/main" val="2587687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21D9AFA-665B-4AEA-895F-63CA9B852EFA}" type="slidenum">
              <a:rPr lang="zh-CN" altLang="en-US" smtClean="0"/>
              <a:t>6</a:t>
            </a:fld>
            <a:endParaRPr lang="zh-CN" altLang="en-US"/>
          </a:p>
        </p:txBody>
      </p:sp>
    </p:spTree>
    <p:extLst>
      <p:ext uri="{BB962C8B-B14F-4D97-AF65-F5344CB8AC3E}">
        <p14:creationId xmlns:p14="http://schemas.microsoft.com/office/powerpoint/2010/main" val="2972479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t>7</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21D9AFA-665B-4AEA-895F-63CA9B852EFA}" type="slidenum">
              <a:rPr lang="zh-CN" altLang="en-US" smtClean="0"/>
              <a:t>9</a:t>
            </a:fld>
            <a:endParaRPr lang="zh-CN" altLang="en-US"/>
          </a:p>
        </p:txBody>
      </p:sp>
    </p:spTree>
    <p:extLst>
      <p:ext uri="{BB962C8B-B14F-4D97-AF65-F5344CB8AC3E}">
        <p14:creationId xmlns:p14="http://schemas.microsoft.com/office/powerpoint/2010/main" val="1917640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21D9AFA-665B-4AEA-895F-63CA9B852EFA}" type="slidenum">
              <a:rPr lang="zh-CN" altLang="en-US" smtClean="0"/>
              <a:t>12</a:t>
            </a:fld>
            <a:endParaRPr lang="zh-CN" altLang="en-US"/>
          </a:p>
        </p:txBody>
      </p:sp>
    </p:spTree>
    <p:extLst>
      <p:ext uri="{BB962C8B-B14F-4D97-AF65-F5344CB8AC3E}">
        <p14:creationId xmlns:p14="http://schemas.microsoft.com/office/powerpoint/2010/main" val="1121508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5CB1B0D-697E-42DA-85E3-C8D229750562}" type="datetimeFigureOut">
              <a:rPr lang="zh-CN" altLang="en-US" smtClean="0"/>
              <a:t>2022/12/28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C6D07D9-9A74-4DD3-9C00-DA3D194216A9}" type="slidenum">
              <a:rPr lang="zh-CN" altLang="en-US" smtClean="0"/>
              <a:t>‹#›</a:t>
            </a:fld>
            <a:endParaRPr lang="zh-CN" altLang="en-US"/>
          </a:p>
        </p:txBody>
      </p:sp>
    </p:spTree>
    <p:extLst>
      <p:ext uri="{BB962C8B-B14F-4D97-AF65-F5344CB8AC3E}">
        <p14:creationId xmlns:p14="http://schemas.microsoft.com/office/powerpoint/2010/main" val="2486795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5CB1B0D-697E-42DA-85E3-C8D229750562}" type="datetimeFigureOut">
              <a:rPr lang="zh-CN" altLang="en-US" smtClean="0"/>
              <a:t>2022/12/28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C6D07D9-9A74-4DD3-9C00-DA3D194216A9}" type="slidenum">
              <a:rPr lang="zh-CN" altLang="en-US" smtClean="0"/>
              <a:t>‹#›</a:t>
            </a:fld>
            <a:endParaRPr lang="zh-CN" altLang="en-US"/>
          </a:p>
        </p:txBody>
      </p:sp>
    </p:spTree>
    <p:extLst>
      <p:ext uri="{BB962C8B-B14F-4D97-AF65-F5344CB8AC3E}">
        <p14:creationId xmlns:p14="http://schemas.microsoft.com/office/powerpoint/2010/main" val="1725555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5CB1B0D-697E-42DA-85E3-C8D229750562}" type="datetimeFigureOut">
              <a:rPr lang="zh-CN" altLang="en-US" smtClean="0"/>
              <a:t>2022/12/28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C6D07D9-9A74-4DD3-9C00-DA3D194216A9}" type="slidenum">
              <a:rPr lang="zh-CN" altLang="en-US" smtClean="0"/>
              <a:t>‹#›</a:t>
            </a:fld>
            <a:endParaRPr lang="zh-CN" altLang="en-US"/>
          </a:p>
        </p:txBody>
      </p:sp>
    </p:spTree>
    <p:extLst>
      <p:ext uri="{BB962C8B-B14F-4D97-AF65-F5344CB8AC3E}">
        <p14:creationId xmlns:p14="http://schemas.microsoft.com/office/powerpoint/2010/main" val="3241913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5CB1B0D-697E-42DA-85E3-C8D229750562}" type="datetimeFigureOut">
              <a:rPr lang="zh-CN" altLang="en-US" smtClean="0"/>
              <a:t>2022/12/28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C6D07D9-9A74-4DD3-9C00-DA3D194216A9}" type="slidenum">
              <a:rPr lang="zh-CN" altLang="en-US" smtClean="0"/>
              <a:t>‹#›</a:t>
            </a:fld>
            <a:endParaRPr lang="zh-CN" altLang="en-US"/>
          </a:p>
        </p:txBody>
      </p:sp>
    </p:spTree>
    <p:extLst>
      <p:ext uri="{BB962C8B-B14F-4D97-AF65-F5344CB8AC3E}">
        <p14:creationId xmlns:p14="http://schemas.microsoft.com/office/powerpoint/2010/main" val="600535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5CB1B0D-697E-42DA-85E3-C8D229750562}" type="datetimeFigureOut">
              <a:rPr lang="zh-CN" altLang="en-US" smtClean="0"/>
              <a:t>2022/12/28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C6D07D9-9A74-4DD3-9C00-DA3D194216A9}" type="slidenum">
              <a:rPr lang="zh-CN" altLang="en-US" smtClean="0"/>
              <a:t>‹#›</a:t>
            </a:fld>
            <a:endParaRPr lang="zh-CN" altLang="en-US"/>
          </a:p>
        </p:txBody>
      </p:sp>
    </p:spTree>
    <p:extLst>
      <p:ext uri="{BB962C8B-B14F-4D97-AF65-F5344CB8AC3E}">
        <p14:creationId xmlns:p14="http://schemas.microsoft.com/office/powerpoint/2010/main" val="3919783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5CB1B0D-697E-42DA-85E3-C8D229750562}" type="datetimeFigureOut">
              <a:rPr lang="zh-CN" altLang="en-US" smtClean="0"/>
              <a:t>2022/12/28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C6D07D9-9A74-4DD3-9C00-DA3D194216A9}" type="slidenum">
              <a:rPr lang="zh-CN" altLang="en-US" smtClean="0"/>
              <a:t>‹#›</a:t>
            </a:fld>
            <a:endParaRPr lang="zh-CN" altLang="en-US"/>
          </a:p>
        </p:txBody>
      </p:sp>
    </p:spTree>
    <p:extLst>
      <p:ext uri="{BB962C8B-B14F-4D97-AF65-F5344CB8AC3E}">
        <p14:creationId xmlns:p14="http://schemas.microsoft.com/office/powerpoint/2010/main" val="2400334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CB1B0D-697E-42DA-85E3-C8D229750562}" type="datetimeFigureOut">
              <a:rPr lang="zh-CN" altLang="en-US" smtClean="0"/>
              <a:t>2022/12/28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C6D07D9-9A74-4DD3-9C00-DA3D194216A9}" type="slidenum">
              <a:rPr lang="zh-CN" altLang="en-US" smtClean="0"/>
              <a:t>‹#›</a:t>
            </a:fld>
            <a:endParaRPr lang="zh-CN" altLang="en-US"/>
          </a:p>
        </p:txBody>
      </p:sp>
    </p:spTree>
    <p:extLst>
      <p:ext uri="{BB962C8B-B14F-4D97-AF65-F5344CB8AC3E}">
        <p14:creationId xmlns:p14="http://schemas.microsoft.com/office/powerpoint/2010/main" val="2174030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5CB1B0D-697E-42DA-85E3-C8D229750562}" type="datetimeFigureOut">
              <a:rPr lang="zh-CN" altLang="en-US" smtClean="0"/>
              <a:t>2022/12/28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C6D07D9-9A74-4DD3-9C00-DA3D194216A9}" type="slidenum">
              <a:rPr lang="zh-CN" altLang="en-US" smtClean="0"/>
              <a:t>‹#›</a:t>
            </a:fld>
            <a:endParaRPr lang="zh-CN" altLang="en-US"/>
          </a:p>
        </p:txBody>
      </p:sp>
    </p:spTree>
    <p:extLst>
      <p:ext uri="{BB962C8B-B14F-4D97-AF65-F5344CB8AC3E}">
        <p14:creationId xmlns:p14="http://schemas.microsoft.com/office/powerpoint/2010/main" val="35917683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5CB1B0D-697E-42DA-85E3-C8D229750562}" type="datetimeFigureOut">
              <a:rPr lang="zh-CN" altLang="en-US" smtClean="0"/>
              <a:t>2022/12/28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C6D07D9-9A74-4DD3-9C00-DA3D194216A9}" type="slidenum">
              <a:rPr lang="zh-CN" altLang="en-US" smtClean="0"/>
              <a:t>‹#›</a:t>
            </a:fld>
            <a:endParaRPr lang="zh-CN" altLang="en-US"/>
          </a:p>
        </p:txBody>
      </p:sp>
    </p:spTree>
    <p:extLst>
      <p:ext uri="{BB962C8B-B14F-4D97-AF65-F5344CB8AC3E}">
        <p14:creationId xmlns:p14="http://schemas.microsoft.com/office/powerpoint/2010/main" val="3732678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5CB1B0D-697E-42DA-85E3-C8D229750562}" type="datetimeFigureOut">
              <a:rPr lang="zh-CN" altLang="en-US" smtClean="0"/>
              <a:t>2022/12/28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C6D07D9-9A74-4DD3-9C00-DA3D194216A9}" type="slidenum">
              <a:rPr lang="zh-CN" altLang="en-US" smtClean="0"/>
              <a:t>‹#›</a:t>
            </a:fld>
            <a:endParaRPr lang="zh-CN" altLang="en-US"/>
          </a:p>
        </p:txBody>
      </p:sp>
    </p:spTree>
    <p:extLst>
      <p:ext uri="{BB962C8B-B14F-4D97-AF65-F5344CB8AC3E}">
        <p14:creationId xmlns:p14="http://schemas.microsoft.com/office/powerpoint/2010/main" val="4155304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5CB1B0D-697E-42DA-85E3-C8D229750562}" type="datetimeFigureOut">
              <a:rPr lang="zh-CN" altLang="en-US" smtClean="0"/>
              <a:t>2022/12/28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C6D07D9-9A74-4DD3-9C00-DA3D194216A9}" type="slidenum">
              <a:rPr lang="zh-CN" altLang="en-US" smtClean="0"/>
              <a:t>‹#›</a:t>
            </a:fld>
            <a:endParaRPr lang="zh-CN" altLang="en-US"/>
          </a:p>
        </p:txBody>
      </p:sp>
    </p:spTree>
    <p:extLst>
      <p:ext uri="{BB962C8B-B14F-4D97-AF65-F5344CB8AC3E}">
        <p14:creationId xmlns:p14="http://schemas.microsoft.com/office/powerpoint/2010/main" val="1219529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CB1B0D-697E-42DA-85E3-C8D229750562}" type="datetimeFigureOut">
              <a:rPr lang="zh-CN" altLang="en-US" smtClean="0"/>
              <a:t>2022/12/28</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6D07D9-9A74-4DD3-9C00-DA3D194216A9}" type="slidenum">
              <a:rPr lang="zh-CN" altLang="en-US" smtClean="0"/>
              <a:t>‹#›</a:t>
            </a:fld>
            <a:endParaRPr lang="zh-CN" altLang="en-US"/>
          </a:p>
        </p:txBody>
      </p:sp>
    </p:spTree>
    <p:extLst>
      <p:ext uri="{BB962C8B-B14F-4D97-AF65-F5344CB8AC3E}">
        <p14:creationId xmlns:p14="http://schemas.microsoft.com/office/powerpoint/2010/main" val="2383069107"/>
      </p:ext>
    </p:extLst>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tags" Target="../tags/tag26.xml"/><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tags" Target="../tags/tag25.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5" Type="http://schemas.openxmlformats.org/officeDocument/2006/relationships/tags" Target="../tags/tag18.xml"/><Relationship Id="rId10" Type="http://schemas.openxmlformats.org/officeDocument/2006/relationships/tags" Target="../tags/tag23.xml"/><Relationship Id="rId4" Type="http://schemas.openxmlformats.org/officeDocument/2006/relationships/tags" Target="../tags/tag17.xml"/><Relationship Id="rId9" Type="http://schemas.openxmlformats.org/officeDocument/2006/relationships/tags" Target="../tags/tag22.xml"/><Relationship Id="rId1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tags" Target="../tags/tag34.xml"/><Relationship Id="rId13" Type="http://schemas.openxmlformats.org/officeDocument/2006/relationships/tags" Target="../tags/tag39.xml"/><Relationship Id="rId3" Type="http://schemas.openxmlformats.org/officeDocument/2006/relationships/tags" Target="../tags/tag29.xml"/><Relationship Id="rId7" Type="http://schemas.openxmlformats.org/officeDocument/2006/relationships/tags" Target="../tags/tag33.xml"/><Relationship Id="rId12" Type="http://schemas.openxmlformats.org/officeDocument/2006/relationships/tags" Target="../tags/tag38.xml"/><Relationship Id="rId2" Type="http://schemas.openxmlformats.org/officeDocument/2006/relationships/tags" Target="../tags/tag28.xml"/><Relationship Id="rId16" Type="http://schemas.openxmlformats.org/officeDocument/2006/relationships/notesSlide" Target="../notesSlides/notesSlide5.xml"/><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tags" Target="../tags/tag37.xml"/><Relationship Id="rId5" Type="http://schemas.openxmlformats.org/officeDocument/2006/relationships/tags" Target="../tags/tag31.xml"/><Relationship Id="rId15" Type="http://schemas.openxmlformats.org/officeDocument/2006/relationships/slideLayout" Target="../slideLayouts/slideLayout7.xml"/><Relationship Id="rId10" Type="http://schemas.openxmlformats.org/officeDocument/2006/relationships/tags" Target="../tags/tag36.xml"/><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tags" Target="../tags/tag40.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tags" Target="../tags/tag53.xml"/><Relationship Id="rId3" Type="http://schemas.openxmlformats.org/officeDocument/2006/relationships/tags" Target="../tags/tag43.xml"/><Relationship Id="rId7" Type="http://schemas.openxmlformats.org/officeDocument/2006/relationships/tags" Target="../tags/tag47.xml"/><Relationship Id="rId12" Type="http://schemas.openxmlformats.org/officeDocument/2006/relationships/tags" Target="../tags/tag52.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5" Type="http://schemas.openxmlformats.org/officeDocument/2006/relationships/tags" Target="../tags/tag45.xml"/><Relationship Id="rId10" Type="http://schemas.openxmlformats.org/officeDocument/2006/relationships/tags" Target="../tags/tag50.xml"/><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tags" Target="../tags/tag61.xml"/><Relationship Id="rId13" Type="http://schemas.openxmlformats.org/officeDocument/2006/relationships/tags" Target="../tags/tag66.xml"/><Relationship Id="rId3" Type="http://schemas.openxmlformats.org/officeDocument/2006/relationships/tags" Target="../tags/tag56.xml"/><Relationship Id="rId7" Type="http://schemas.openxmlformats.org/officeDocument/2006/relationships/tags" Target="../tags/tag60.xml"/><Relationship Id="rId12" Type="http://schemas.openxmlformats.org/officeDocument/2006/relationships/tags" Target="../tags/tag65.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tags" Target="../tags/tag64.xml"/><Relationship Id="rId5" Type="http://schemas.openxmlformats.org/officeDocument/2006/relationships/tags" Target="../tags/tag58.xml"/><Relationship Id="rId10" Type="http://schemas.openxmlformats.org/officeDocument/2006/relationships/tags" Target="../tags/tag63.xml"/><Relationship Id="rId4" Type="http://schemas.openxmlformats.org/officeDocument/2006/relationships/tags" Target="../tags/tag57.xml"/><Relationship Id="rId9" Type="http://schemas.openxmlformats.org/officeDocument/2006/relationships/tags" Target="../tags/tag62.xml"/><Relationship Id="rId14"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tags" Target="../tags/tag74.xml"/><Relationship Id="rId13" Type="http://schemas.openxmlformats.org/officeDocument/2006/relationships/slideLayout" Target="../slideLayouts/slideLayout7.xml"/><Relationship Id="rId3" Type="http://schemas.openxmlformats.org/officeDocument/2006/relationships/tags" Target="../tags/tag69.xml"/><Relationship Id="rId7" Type="http://schemas.openxmlformats.org/officeDocument/2006/relationships/tags" Target="../tags/tag73.xml"/><Relationship Id="rId12" Type="http://schemas.openxmlformats.org/officeDocument/2006/relationships/tags" Target="../tags/tag78.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tags" Target="../tags/tag72.xml"/><Relationship Id="rId11" Type="http://schemas.openxmlformats.org/officeDocument/2006/relationships/tags" Target="../tags/tag77.xml"/><Relationship Id="rId5" Type="http://schemas.openxmlformats.org/officeDocument/2006/relationships/tags" Target="../tags/tag71.xml"/><Relationship Id="rId10" Type="http://schemas.openxmlformats.org/officeDocument/2006/relationships/tags" Target="../tags/tag76.xml"/><Relationship Id="rId4" Type="http://schemas.openxmlformats.org/officeDocument/2006/relationships/tags" Target="../tags/tag70.xml"/><Relationship Id="rId9" Type="http://schemas.openxmlformats.org/officeDocument/2006/relationships/tags" Target="../tags/tag75.xml"/></Relationships>
</file>

<file path=ppt/slides/_rels/slide15.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slideLayout" Target="../slideLayouts/slideLayout7.xml"/><Relationship Id="rId4" Type="http://schemas.openxmlformats.org/officeDocument/2006/relationships/tags" Target="../tags/tag8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83.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3C21762F-64D4-60A7-1AC4-F7AFD85680A7}"/>
              </a:ext>
            </a:extLst>
          </p:cNvPr>
          <p:cNvGrpSpPr/>
          <p:nvPr/>
        </p:nvGrpSpPr>
        <p:grpSpPr>
          <a:xfrm>
            <a:off x="-5080" y="1452245"/>
            <a:ext cx="12202160" cy="2435860"/>
            <a:chOff x="-8" y="2767"/>
            <a:chExt cx="19216" cy="3836"/>
          </a:xfrm>
        </p:grpSpPr>
        <p:sp>
          <p:nvSpPr>
            <p:cNvPr id="3" name="矩形 2">
              <a:extLst>
                <a:ext uri="{FF2B5EF4-FFF2-40B4-BE49-F238E27FC236}">
                  <a16:creationId xmlns:a16="http://schemas.microsoft.com/office/drawing/2014/main" id="{8D2B5D45-40E2-4C49-4C7F-EC669803366B}"/>
                </a:ext>
              </a:extLst>
            </p:cNvPr>
            <p:cNvSpPr/>
            <p:nvPr/>
          </p:nvSpPr>
          <p:spPr>
            <a:xfrm>
              <a:off x="7" y="5791"/>
              <a:ext cx="19201" cy="812"/>
            </a:xfrm>
            <a:prstGeom prst="rect">
              <a:avLst/>
            </a:prstGeom>
            <a:solidFill>
              <a:srgbClr val="A5A5A5"/>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sp>
          <p:nvSpPr>
            <p:cNvPr id="5" name="矩形 4">
              <a:extLst>
                <a:ext uri="{FF2B5EF4-FFF2-40B4-BE49-F238E27FC236}">
                  <a16:creationId xmlns:a16="http://schemas.microsoft.com/office/drawing/2014/main" id="{ACFEF0A4-BF8A-C237-5B7E-6245689FE28F}"/>
                </a:ext>
              </a:extLst>
            </p:cNvPr>
            <p:cNvSpPr/>
            <p:nvPr/>
          </p:nvSpPr>
          <p:spPr>
            <a:xfrm>
              <a:off x="-8" y="3423"/>
              <a:ext cx="19216" cy="2368"/>
            </a:xfrm>
            <a:prstGeom prst="rect">
              <a:avLst/>
            </a:prstGeom>
            <a:solidFill>
              <a:srgbClr val="4472C4">
                <a:lumMod val="5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4800" b="1" i="0" u="none" strike="noStrike" kern="0" cap="none" spc="0" normalizeH="0" baseline="0" noProof="0" dirty="0">
                  <a:ln>
                    <a:noFill/>
                  </a:ln>
                  <a:solidFill>
                    <a:prstClr val="white"/>
                  </a:solidFill>
                  <a:effectLst/>
                  <a:uLnTx/>
                  <a:uFillTx/>
                  <a:latin typeface="Times New Roman" panose="02020603050405020304" charset="0"/>
                  <a:ea typeface="微软雅黑"/>
                  <a:cs typeface="Times New Roman" panose="02020603050405020304" charset="0"/>
                </a:rPr>
                <a:t> </a:t>
              </a:r>
              <a:endParaRPr lang="zh-CN" altLang="en-US" sz="4800" b="1" kern="0" dirty="0">
                <a:solidFill>
                  <a:prstClr val="white"/>
                </a:solidFill>
                <a:latin typeface="Times New Roman" panose="02020603050405020304" charset="0"/>
                <a:ea typeface="微软雅黑"/>
                <a:cs typeface="Times New Roman" panose="02020603050405020304" charset="0"/>
              </a:endParaRPr>
            </a:p>
          </p:txBody>
        </p:sp>
        <p:pic>
          <p:nvPicPr>
            <p:cNvPr id="6" name="图片 5">
              <a:extLst>
                <a:ext uri="{FF2B5EF4-FFF2-40B4-BE49-F238E27FC236}">
                  <a16:creationId xmlns:a16="http://schemas.microsoft.com/office/drawing/2014/main" id="{A29BE58F-6465-1B3C-AEF8-5625E5043619}"/>
                </a:ext>
              </a:extLst>
            </p:cNvPr>
            <p:cNvPicPr>
              <a:picLocks noChangeAspect="1"/>
            </p:cNvPicPr>
            <p:nvPr/>
          </p:nvPicPr>
          <p:blipFill>
            <a:blip r:embed="rId3"/>
            <a:stretch>
              <a:fillRect/>
            </a:stretch>
          </p:blipFill>
          <p:spPr>
            <a:xfrm>
              <a:off x="378" y="2767"/>
              <a:ext cx="3024" cy="3024"/>
            </a:xfrm>
            <a:prstGeom prst="ellipse">
              <a:avLst/>
            </a:prstGeom>
          </p:spPr>
        </p:pic>
      </p:grpSp>
      <p:sp>
        <p:nvSpPr>
          <p:cNvPr id="7" name="文本框 6">
            <a:extLst>
              <a:ext uri="{FF2B5EF4-FFF2-40B4-BE49-F238E27FC236}">
                <a16:creationId xmlns:a16="http://schemas.microsoft.com/office/drawing/2014/main" id="{D5CA37FA-2057-EC07-A612-76DAE6E62F64}"/>
              </a:ext>
            </a:extLst>
          </p:cNvPr>
          <p:cNvSpPr txBox="1"/>
          <p:nvPr/>
        </p:nvSpPr>
        <p:spPr>
          <a:xfrm>
            <a:off x="2646360" y="4192886"/>
            <a:ext cx="6899275" cy="1604285"/>
          </a:xfrm>
          <a:prstGeom prst="rect">
            <a:avLst/>
          </a:prstGeom>
          <a:noFill/>
        </p:spPr>
        <p:txBody>
          <a:bodyPr wrap="square" rtlCol="0">
            <a:spAutoFit/>
          </a:bodyPr>
          <a:lstStyle/>
          <a:p>
            <a:pPr algn="just">
              <a:lnSpc>
                <a:spcPct val="150000"/>
              </a:lnSpc>
            </a:pPr>
            <a:r>
              <a:rPr lang="en-US" altLang="zh-CN" b="1" dirty="0">
                <a:solidFill>
                  <a:prstClr val="black"/>
                </a:solidFill>
                <a:latin typeface="黑体" panose="02010609060101010101" charset="-122"/>
                <a:ea typeface="黑体" panose="02010609060101010101" charset="-122"/>
              </a:rPr>
              <a:t>      </a:t>
            </a:r>
            <a:r>
              <a:rPr lang="en-US" altLang="zh-CN" b="1" dirty="0">
                <a:solidFill>
                  <a:prstClr val="black"/>
                </a:solidFill>
                <a:latin typeface="微软雅黑" panose="020B0503020204020204" charset="-122"/>
                <a:ea typeface="微软雅黑" panose="020B0503020204020204" charset="-122"/>
                <a:cs typeface="微软雅黑" panose="020B0503020204020204" charset="-122"/>
              </a:rPr>
              <a:t> </a:t>
            </a:r>
            <a:r>
              <a:rPr lang="zh-CN" altLang="en-US" b="1" dirty="0">
                <a:solidFill>
                  <a:prstClr val="black"/>
                </a:solidFill>
                <a:latin typeface="微软雅黑" panose="020B0503020204020204" charset="-122"/>
                <a:ea typeface="微软雅黑" panose="020B0503020204020204" charset="-122"/>
                <a:cs typeface="微软雅黑" panose="020B0503020204020204" charset="-122"/>
              </a:rPr>
              <a:t>学生姓名：</a:t>
            </a:r>
            <a:r>
              <a:rPr lang="en-US" altLang="zh-CN" dirty="0">
                <a:solidFill>
                  <a:prstClr val="black"/>
                </a:solidFill>
                <a:latin typeface="微软雅黑" panose="020B0503020204020204" charset="-122"/>
                <a:ea typeface="微软雅黑" panose="020B0503020204020204" charset="-122"/>
                <a:cs typeface="微软雅黑" panose="020B0503020204020204" charset="-122"/>
              </a:rPr>
              <a:t>  </a:t>
            </a:r>
            <a:r>
              <a:rPr lang="zh-CN" altLang="en-US" dirty="0">
                <a:solidFill>
                  <a:prstClr val="black"/>
                </a:solidFill>
                <a:latin typeface="微软雅黑" panose="020B0503020204020204" charset="-122"/>
                <a:ea typeface="微软雅黑" panose="020B0503020204020204" charset="-122"/>
                <a:cs typeface="微软雅黑" panose="020B0503020204020204" charset="-122"/>
              </a:rPr>
              <a:t>王靖洋</a:t>
            </a:r>
            <a:r>
              <a:rPr lang="en-US" altLang="zh-CN" dirty="0">
                <a:solidFill>
                  <a:prstClr val="black"/>
                </a:solidFill>
                <a:latin typeface="微软雅黑" panose="020B0503020204020204" charset="-122"/>
                <a:ea typeface="微软雅黑" panose="020B0503020204020204" charset="-122"/>
                <a:cs typeface="微软雅黑" panose="020B0503020204020204" charset="-122"/>
              </a:rPr>
              <a:t>  </a:t>
            </a:r>
            <a:r>
              <a:rPr lang="zh-CN" altLang="en-US" dirty="0">
                <a:solidFill>
                  <a:prstClr val="black"/>
                </a:solidFill>
                <a:latin typeface="微软雅黑" panose="020B0503020204020204" charset="-122"/>
                <a:ea typeface="微软雅黑" panose="020B0503020204020204" charset="-122"/>
                <a:cs typeface="微软雅黑" panose="020B0503020204020204" charset="-122"/>
              </a:rPr>
              <a:t>  </a:t>
            </a:r>
            <a:r>
              <a:rPr lang="en-US" altLang="zh-CN" dirty="0">
                <a:solidFill>
                  <a:prstClr val="black"/>
                </a:solidFill>
                <a:latin typeface="微软雅黑" panose="020B0503020204020204" charset="-122"/>
                <a:ea typeface="微软雅黑" panose="020B0503020204020204" charset="-122"/>
                <a:cs typeface="微软雅黑" panose="020B0503020204020204" charset="-122"/>
              </a:rPr>
              <a:t>   </a:t>
            </a:r>
            <a:r>
              <a:rPr lang="zh-CN" altLang="en-US" b="1" dirty="0">
                <a:solidFill>
                  <a:prstClr val="black"/>
                </a:solidFill>
                <a:latin typeface="微软雅黑" panose="020B0503020204020204" charset="-122"/>
                <a:ea typeface="微软雅黑" panose="020B0503020204020204" charset="-122"/>
                <a:cs typeface="微软雅黑" panose="020B0503020204020204" charset="-122"/>
                <a:sym typeface="+mn-ea"/>
              </a:rPr>
              <a:t>导师姓名：</a:t>
            </a:r>
            <a:r>
              <a:rPr lang="zh-CN" altLang="en-US" dirty="0">
                <a:solidFill>
                  <a:prstClr val="black"/>
                </a:solidFill>
                <a:latin typeface="微软雅黑" panose="020B0503020204020204" charset="-122"/>
                <a:ea typeface="微软雅黑" panose="020B0503020204020204" charset="-122"/>
                <a:cs typeface="微软雅黑" panose="020B0503020204020204" charset="-122"/>
                <a:sym typeface="+mn-ea"/>
              </a:rPr>
              <a:t> 钱宇华</a:t>
            </a:r>
            <a:r>
              <a:rPr lang="zh-CN" altLang="en-US" sz="1600" dirty="0">
                <a:solidFill>
                  <a:prstClr val="black"/>
                </a:solidFill>
                <a:latin typeface="微软雅黑" panose="020B0503020204020204" charset="-122"/>
                <a:ea typeface="微软雅黑" panose="020B0503020204020204" charset="-122"/>
                <a:cs typeface="微软雅黑" panose="020B0503020204020204" charset="-122"/>
                <a:sym typeface="+mn-ea"/>
              </a:rPr>
              <a:t> </a:t>
            </a:r>
            <a:r>
              <a:rPr lang="en-US" altLang="zh-CN" sz="1600" dirty="0">
                <a:solidFill>
                  <a:prstClr val="black"/>
                </a:solidFill>
                <a:latin typeface="微软雅黑" panose="020B0503020204020204" charset="-122"/>
                <a:ea typeface="微软雅黑" panose="020B0503020204020204" charset="-122"/>
                <a:cs typeface="微软雅黑" panose="020B0503020204020204" charset="-122"/>
                <a:sym typeface="+mn-ea"/>
              </a:rPr>
              <a:t> </a:t>
            </a:r>
            <a:r>
              <a:rPr lang="zh-CN" altLang="en-US" sz="1600" dirty="0">
                <a:solidFill>
                  <a:prstClr val="black"/>
                </a:solidFill>
                <a:latin typeface="微软雅黑" panose="020B0503020204020204" charset="-122"/>
                <a:ea typeface="微软雅黑" panose="020B0503020204020204" charset="-122"/>
                <a:cs typeface="微软雅黑" panose="020B0503020204020204" charset="-122"/>
                <a:sym typeface="+mn-ea"/>
              </a:rPr>
              <a:t>教授</a:t>
            </a:r>
            <a:endParaRPr lang="zh-CN" altLang="en-US" dirty="0">
              <a:solidFill>
                <a:prstClr val="black"/>
              </a:solidFill>
              <a:latin typeface="微软雅黑" panose="020B0503020204020204" charset="-122"/>
              <a:ea typeface="微软雅黑" panose="020B0503020204020204" charset="-122"/>
              <a:cs typeface="微软雅黑" panose="020B0503020204020204" charset="-122"/>
            </a:endParaRPr>
          </a:p>
          <a:p>
            <a:pPr algn="just">
              <a:lnSpc>
                <a:spcPct val="150000"/>
              </a:lnSpc>
            </a:pPr>
            <a:r>
              <a:rPr lang="en-US" altLang="zh-CN" b="1" dirty="0">
                <a:solidFill>
                  <a:prstClr val="black"/>
                </a:solidFill>
                <a:latin typeface="微软雅黑" panose="020B0503020204020204" charset="-122"/>
                <a:ea typeface="微软雅黑" panose="020B0503020204020204" charset="-122"/>
                <a:cs typeface="微软雅黑" panose="020B0503020204020204" charset="-122"/>
                <a:sym typeface="+mn-ea"/>
              </a:rPr>
              <a:t>           </a:t>
            </a:r>
            <a:r>
              <a:rPr lang="zh-CN" altLang="en-US" b="1" dirty="0">
                <a:solidFill>
                  <a:prstClr val="black"/>
                </a:solidFill>
                <a:latin typeface="微软雅黑" panose="020B0503020204020204" charset="-122"/>
                <a:ea typeface="微软雅黑" panose="020B0503020204020204" charset="-122"/>
                <a:cs typeface="微软雅黑" panose="020B0503020204020204" charset="-122"/>
                <a:sym typeface="+mn-ea"/>
              </a:rPr>
              <a:t>年   </a:t>
            </a:r>
            <a:r>
              <a:rPr lang="en-US" altLang="zh-CN" b="1" dirty="0">
                <a:solidFill>
                  <a:prstClr val="black"/>
                </a:solidFill>
                <a:latin typeface="微软雅黑" panose="020B0503020204020204" charset="-122"/>
                <a:ea typeface="微软雅黑" panose="020B0503020204020204" charset="-122"/>
                <a:cs typeface="微软雅黑" panose="020B0503020204020204" charset="-122"/>
                <a:sym typeface="+mn-ea"/>
              </a:rPr>
              <a:t>    </a:t>
            </a:r>
            <a:r>
              <a:rPr lang="zh-CN" altLang="en-US" b="1" dirty="0">
                <a:solidFill>
                  <a:prstClr val="black"/>
                </a:solidFill>
                <a:latin typeface="微软雅黑" panose="020B0503020204020204" charset="-122"/>
                <a:ea typeface="微软雅黑" panose="020B0503020204020204" charset="-122"/>
                <a:cs typeface="微软雅黑" panose="020B0503020204020204" charset="-122"/>
                <a:sym typeface="+mn-ea"/>
              </a:rPr>
              <a:t>级：</a:t>
            </a:r>
            <a:r>
              <a:rPr lang="zh-CN" altLang="en-US" dirty="0">
                <a:solidFill>
                  <a:prstClr val="black"/>
                </a:solidFill>
                <a:latin typeface="微软雅黑" panose="020B0503020204020204" charset="-122"/>
                <a:ea typeface="微软雅黑" panose="020B0503020204020204" charset="-122"/>
                <a:cs typeface="微软雅黑" panose="020B0503020204020204" charset="-122"/>
                <a:sym typeface="+mn-ea"/>
              </a:rPr>
              <a:t>  20</a:t>
            </a:r>
            <a:r>
              <a:rPr lang="en-US" altLang="zh-CN" dirty="0">
                <a:solidFill>
                  <a:prstClr val="black"/>
                </a:solidFill>
                <a:latin typeface="微软雅黑" panose="020B0503020204020204" charset="-122"/>
                <a:ea typeface="微软雅黑" panose="020B0503020204020204" charset="-122"/>
                <a:cs typeface="微软雅黑" panose="020B0503020204020204" charset="-122"/>
                <a:sym typeface="+mn-ea"/>
              </a:rPr>
              <a:t>19</a:t>
            </a:r>
            <a:r>
              <a:rPr lang="zh-CN" altLang="en-US" dirty="0">
                <a:solidFill>
                  <a:prstClr val="black"/>
                </a:solidFill>
                <a:latin typeface="微软雅黑" panose="020B0503020204020204" charset="-122"/>
                <a:ea typeface="微软雅黑" panose="020B0503020204020204" charset="-122"/>
                <a:cs typeface="微软雅黑" panose="020B0503020204020204" charset="-122"/>
                <a:sym typeface="+mn-ea"/>
              </a:rPr>
              <a:t>级  </a:t>
            </a:r>
            <a:r>
              <a:rPr lang="en-US" altLang="zh-CN" dirty="0">
                <a:solidFill>
                  <a:prstClr val="black"/>
                </a:solidFill>
                <a:latin typeface="微软雅黑" panose="020B0503020204020204" charset="-122"/>
                <a:ea typeface="微软雅黑" panose="020B0503020204020204" charset="-122"/>
                <a:cs typeface="微软雅黑" panose="020B0503020204020204" charset="-122"/>
                <a:sym typeface="+mn-ea"/>
              </a:rPr>
              <a:t>    </a:t>
            </a:r>
            <a:r>
              <a:rPr lang="zh-CN" altLang="en-US" b="1" dirty="0">
                <a:solidFill>
                  <a:prstClr val="black"/>
                </a:solidFill>
                <a:latin typeface="微软雅黑" panose="020B0503020204020204" charset="-122"/>
                <a:ea typeface="微软雅黑" panose="020B0503020204020204" charset="-122"/>
                <a:cs typeface="微软雅黑" panose="020B0503020204020204" charset="-122"/>
                <a:sym typeface="+mn-ea"/>
              </a:rPr>
              <a:t>专</a:t>
            </a:r>
            <a:r>
              <a:rPr lang="en-US" altLang="zh-CN" b="1" dirty="0">
                <a:solidFill>
                  <a:prstClr val="black"/>
                </a:solidFill>
                <a:latin typeface="微软雅黑" panose="020B0503020204020204" charset="-122"/>
                <a:ea typeface="微软雅黑" panose="020B0503020204020204" charset="-122"/>
                <a:cs typeface="微软雅黑" panose="020B0503020204020204" charset="-122"/>
                <a:sym typeface="+mn-ea"/>
              </a:rPr>
              <a:t>       </a:t>
            </a:r>
            <a:r>
              <a:rPr lang="zh-CN" altLang="en-US" b="1" dirty="0">
                <a:solidFill>
                  <a:prstClr val="black"/>
                </a:solidFill>
                <a:latin typeface="微软雅黑" panose="020B0503020204020204" charset="-122"/>
                <a:ea typeface="微软雅黑" panose="020B0503020204020204" charset="-122"/>
                <a:cs typeface="微软雅黑" panose="020B0503020204020204" charset="-122"/>
                <a:sym typeface="+mn-ea"/>
              </a:rPr>
              <a:t>业：</a:t>
            </a:r>
            <a:r>
              <a:rPr lang="en-US" altLang="zh-CN" dirty="0">
                <a:solidFill>
                  <a:prstClr val="black"/>
                </a:solidFill>
                <a:latin typeface="微软雅黑" panose="020B0503020204020204" charset="-122"/>
                <a:ea typeface="微软雅黑" panose="020B0503020204020204" charset="-122"/>
                <a:cs typeface="微软雅黑" panose="020B0503020204020204" charset="-122"/>
                <a:sym typeface="+mn-ea"/>
              </a:rPr>
              <a:t> </a:t>
            </a:r>
            <a:r>
              <a:rPr lang="zh-CN" altLang="en-US" dirty="0">
                <a:solidFill>
                  <a:prstClr val="black"/>
                </a:solidFill>
                <a:latin typeface="微软雅黑" panose="020B0503020204020204" charset="-122"/>
                <a:ea typeface="微软雅黑" panose="020B0503020204020204" charset="-122"/>
                <a:cs typeface="微软雅黑" panose="020B0503020204020204" charset="-122"/>
                <a:sym typeface="+mn-ea"/>
              </a:rPr>
              <a:t>计算机科学与技术</a:t>
            </a:r>
            <a:endParaRPr lang="zh-CN" altLang="en-US" b="1" dirty="0">
              <a:solidFill>
                <a:srgbClr val="FF0000"/>
              </a:solidFill>
              <a:latin typeface="微软雅黑" panose="020B0503020204020204" charset="-122"/>
              <a:ea typeface="微软雅黑" panose="020B0503020204020204" charset="-122"/>
              <a:cs typeface="微软雅黑" panose="020B0503020204020204" charset="-122"/>
            </a:endParaRPr>
          </a:p>
          <a:p>
            <a:pPr algn="just">
              <a:lnSpc>
                <a:spcPct val="150000"/>
              </a:lnSpc>
            </a:pPr>
            <a:endParaRPr lang="zh-CN" altLang="en-US" sz="1600" b="1" dirty="0">
              <a:solidFill>
                <a:srgbClr val="FF0000"/>
              </a:solidFill>
              <a:latin typeface="宋体" panose="02010600030101010101" pitchFamily="2" charset="-122"/>
              <a:ea typeface="宋体" panose="02010600030101010101" pitchFamily="2" charset="-122"/>
            </a:endParaRPr>
          </a:p>
          <a:p>
            <a:pPr algn="ctr">
              <a:lnSpc>
                <a:spcPct val="150000"/>
              </a:lnSpc>
            </a:pPr>
            <a:r>
              <a:rPr lang="zh-CN" altLang="en-US" sz="1600" b="1" dirty="0">
                <a:solidFill>
                  <a:srgbClr val="FF0000"/>
                </a:solidFill>
                <a:latin typeface="宋体" panose="02010600030101010101" pitchFamily="2" charset="-122"/>
                <a:ea typeface="宋体" panose="02010600030101010101" pitchFamily="2" charset="-122"/>
                <a:sym typeface="+mn-ea"/>
              </a:rPr>
              <a:t>山西大学计算机与信息技术学院</a:t>
            </a:r>
            <a:endParaRPr lang="zh-CN" altLang="en-US" sz="1600" b="1" dirty="0">
              <a:solidFill>
                <a:srgbClr val="FF0000"/>
              </a:solidFill>
              <a:latin typeface="宋体" panose="02010600030101010101" pitchFamily="2" charset="-122"/>
              <a:ea typeface="宋体" panose="02010600030101010101" pitchFamily="2" charset="-122"/>
            </a:endParaRPr>
          </a:p>
        </p:txBody>
      </p:sp>
      <p:sp>
        <p:nvSpPr>
          <p:cNvPr id="8" name="文本框 7">
            <a:extLst>
              <a:ext uri="{FF2B5EF4-FFF2-40B4-BE49-F238E27FC236}">
                <a16:creationId xmlns:a16="http://schemas.microsoft.com/office/drawing/2014/main" id="{5F0F5243-4400-7C9C-3FA4-682437E77B7E}"/>
              </a:ext>
            </a:extLst>
          </p:cNvPr>
          <p:cNvSpPr txBox="1"/>
          <p:nvPr/>
        </p:nvSpPr>
        <p:spPr>
          <a:xfrm>
            <a:off x="4716461" y="6302691"/>
            <a:ext cx="2759075" cy="337185"/>
          </a:xfrm>
          <a:prstGeom prst="rect">
            <a:avLst/>
          </a:prstGeom>
          <a:noFill/>
        </p:spPr>
        <p:txBody>
          <a:bodyPr wrap="square" rtlCol="0">
            <a:spAutoFit/>
          </a:bodyPr>
          <a:lstStyle/>
          <a:p>
            <a:pPr algn="ctr"/>
            <a:r>
              <a:rPr lang="zh-CN" altLang="en-US" sz="1600" dirty="0">
                <a:solidFill>
                  <a:prstClr val="black"/>
                </a:solidFill>
                <a:latin typeface="黑体" panose="02010609060101010101" charset="-122"/>
                <a:ea typeface="黑体" panose="02010609060101010101" charset="-122"/>
                <a:cs typeface="黑体" panose="02010609060101010101" charset="-122"/>
              </a:rPr>
              <a:t>时间：</a:t>
            </a:r>
            <a:r>
              <a:rPr lang="en-US" altLang="zh-CN" sz="1600" dirty="0">
                <a:solidFill>
                  <a:prstClr val="black"/>
                </a:solidFill>
                <a:latin typeface="黑体" panose="02010609060101010101" charset="-122"/>
                <a:ea typeface="黑体" panose="02010609060101010101" charset="-122"/>
                <a:cs typeface="黑体" panose="02010609060101010101" charset="-122"/>
              </a:rPr>
              <a:t>2022/ 12 / 29</a:t>
            </a:r>
          </a:p>
        </p:txBody>
      </p:sp>
      <p:pic>
        <p:nvPicPr>
          <p:cNvPr id="9" name="图片 2" descr="C:\Users\hello\Documents\Tencent Files\1195319519\Image\Group\thumbnail\a4d90465-4275-425d-8d20-99575961365cOri">
            <a:extLst>
              <a:ext uri="{FF2B5EF4-FFF2-40B4-BE49-F238E27FC236}">
                <a16:creationId xmlns:a16="http://schemas.microsoft.com/office/drawing/2014/main" id="{8B24D339-2455-C0DF-20AE-DED739CB252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1465580" y="2080895"/>
            <a:ext cx="1403985" cy="1358265"/>
          </a:xfrm>
          <a:prstGeom prst="ellipse">
            <a:avLst/>
          </a:prstGeom>
          <a:noFill/>
          <a:ln>
            <a:noFill/>
          </a:ln>
        </p:spPr>
      </p:pic>
      <p:grpSp>
        <p:nvGrpSpPr>
          <p:cNvPr id="10" name="组合 9">
            <a:extLst>
              <a:ext uri="{FF2B5EF4-FFF2-40B4-BE49-F238E27FC236}">
                <a16:creationId xmlns:a16="http://schemas.microsoft.com/office/drawing/2014/main" id="{D98D8511-A414-4A61-5826-494581DFB247}"/>
              </a:ext>
            </a:extLst>
          </p:cNvPr>
          <p:cNvGrpSpPr/>
          <p:nvPr/>
        </p:nvGrpSpPr>
        <p:grpSpPr>
          <a:xfrm>
            <a:off x="748030" y="314960"/>
            <a:ext cx="575945" cy="597535"/>
            <a:chOff x="384" y="320"/>
            <a:chExt cx="907" cy="941"/>
          </a:xfrm>
        </p:grpSpPr>
        <p:sp>
          <p:nvSpPr>
            <p:cNvPr id="11" name="矩形 10">
              <a:extLst>
                <a:ext uri="{FF2B5EF4-FFF2-40B4-BE49-F238E27FC236}">
                  <a16:creationId xmlns:a16="http://schemas.microsoft.com/office/drawing/2014/main" id="{7337442C-1C53-92CF-6F84-1E39FF310F40}"/>
                </a:ext>
              </a:extLst>
            </p:cNvPr>
            <p:cNvSpPr/>
            <p:nvPr/>
          </p:nvSpPr>
          <p:spPr>
            <a:xfrm>
              <a:off x="384" y="320"/>
              <a:ext cx="782" cy="782"/>
            </a:xfrm>
            <a:prstGeom prst="rect">
              <a:avLst/>
            </a:prstGeom>
            <a:solidFill>
              <a:srgbClr val="2E5696"/>
            </a:solidFill>
            <a:ln w="12700" cap="flat" cmpd="sng" algn="ctr">
              <a:noFill/>
              <a:prstDash val="solid"/>
              <a:miter lim="800000"/>
            </a:ln>
            <a:effectLst>
              <a:outerShdw blurRad="63500" algn="ctr" rotWithShape="0">
                <a:prstClr val="black">
                  <a:alpha val="40000"/>
                </a:prstClr>
              </a:outerShdw>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zh-CN" altLang="en-US" sz="1705" b="0" i="0" u="none" strike="noStrike" kern="0" cap="none" spc="0" normalizeH="0" baseline="0" noProof="0">
                <a:ln>
                  <a:noFill/>
                </a:ln>
                <a:solidFill>
                  <a:prstClr val="black">
                    <a:lumMod val="85000"/>
                    <a:lumOff val="15000"/>
                  </a:prstClr>
                </a:solidFill>
                <a:effectLst/>
                <a:uLnTx/>
                <a:uFillTx/>
                <a:latin typeface="微软雅黑" panose="020B0503020204020204" charset="-122"/>
                <a:ea typeface="微软雅黑" panose="020B0503020204020204" charset="-122"/>
                <a:cs typeface="+mn-cs"/>
              </a:endParaRPr>
            </a:p>
          </p:txBody>
        </p:sp>
        <p:sp>
          <p:nvSpPr>
            <p:cNvPr id="12" name="矩形 11">
              <a:extLst>
                <a:ext uri="{FF2B5EF4-FFF2-40B4-BE49-F238E27FC236}">
                  <a16:creationId xmlns:a16="http://schemas.microsoft.com/office/drawing/2014/main" id="{55114CF6-240D-8A6E-0F26-CC36CB69306F}"/>
                </a:ext>
              </a:extLst>
            </p:cNvPr>
            <p:cNvSpPr/>
            <p:nvPr/>
          </p:nvSpPr>
          <p:spPr>
            <a:xfrm>
              <a:off x="769" y="739"/>
              <a:ext cx="522" cy="522"/>
            </a:xfrm>
            <a:prstGeom prst="rect">
              <a:avLst/>
            </a:prstGeom>
            <a:solidFill>
              <a:srgbClr val="2E5696"/>
            </a:solidFill>
            <a:ln w="12700" cap="flat" cmpd="sng" algn="ctr">
              <a:noFill/>
              <a:prstDash val="solid"/>
              <a:miter lim="800000"/>
            </a:ln>
            <a:effectLst>
              <a:outerShdw blurRad="63500" algn="ctr" rotWithShape="0">
                <a:prstClr val="black">
                  <a:alpha val="40000"/>
                </a:prstClr>
              </a:outerShdw>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zh-CN" altLang="en-US" sz="1705" b="0" i="0" u="none" strike="noStrike" kern="0" cap="none" spc="0" normalizeH="0" baseline="0" noProof="0">
                <a:ln>
                  <a:noFill/>
                </a:ln>
                <a:solidFill>
                  <a:prstClr val="black">
                    <a:lumMod val="85000"/>
                    <a:lumOff val="15000"/>
                  </a:prstClr>
                </a:solidFill>
                <a:effectLst/>
                <a:uLnTx/>
                <a:uFillTx/>
                <a:latin typeface="微软雅黑" panose="020B0503020204020204" charset="-122"/>
                <a:ea typeface="微软雅黑" panose="020B0503020204020204" charset="-122"/>
                <a:cs typeface="+mn-cs"/>
              </a:endParaRPr>
            </a:p>
          </p:txBody>
        </p:sp>
      </p:grpSp>
      <p:sp>
        <p:nvSpPr>
          <p:cNvPr id="13" name="Rectangle 2">
            <a:extLst>
              <a:ext uri="{FF2B5EF4-FFF2-40B4-BE49-F238E27FC236}">
                <a16:creationId xmlns:a16="http://schemas.microsoft.com/office/drawing/2014/main" id="{4651C039-D01B-82CC-5BD9-855077949051}"/>
              </a:ext>
            </a:extLst>
          </p:cNvPr>
          <p:cNvSpPr txBox="1">
            <a:spLocks noChangeArrowheads="1"/>
          </p:cNvSpPr>
          <p:nvPr/>
        </p:nvSpPr>
        <p:spPr>
          <a:xfrm>
            <a:off x="1459230" y="348615"/>
            <a:ext cx="5288915" cy="4286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zh-CN" sz="2800" dirty="0">
                <a:solidFill>
                  <a:srgbClr val="C00000"/>
                </a:solidFill>
                <a:latin typeface="微软雅黑" panose="020B0503020204020204" charset="-122"/>
                <a:ea typeface="微软雅黑" panose="020B0503020204020204" charset="-122"/>
              </a:rPr>
              <a:t>山西大学</a:t>
            </a:r>
            <a:r>
              <a:rPr lang="zh-CN" altLang="en-US" sz="2800" dirty="0">
                <a:solidFill>
                  <a:srgbClr val="C00000"/>
                </a:solidFill>
                <a:latin typeface="微软雅黑" panose="020B0503020204020204" charset="-122"/>
                <a:ea typeface="微软雅黑" panose="020B0503020204020204" charset="-122"/>
              </a:rPr>
              <a:t>学士</a:t>
            </a:r>
            <a:r>
              <a:rPr lang="zh-CN" altLang="zh-CN" sz="2800" dirty="0">
                <a:solidFill>
                  <a:srgbClr val="C00000"/>
                </a:solidFill>
                <a:latin typeface="微软雅黑" panose="020B0503020204020204" charset="-122"/>
                <a:ea typeface="微软雅黑" panose="020B0503020204020204" charset="-122"/>
              </a:rPr>
              <a:t>学位论文开题报告</a:t>
            </a:r>
            <a:endParaRPr lang="zh-CN" altLang="zh-CN" sz="2800" dirty="0">
              <a:solidFill>
                <a:srgbClr val="C00000"/>
              </a:solidFill>
              <a:latin typeface="黑体" panose="02010609060101010101" charset="-122"/>
              <a:ea typeface="黑体" panose="02010609060101010101" charset="-122"/>
            </a:endParaRPr>
          </a:p>
        </p:txBody>
      </p:sp>
      <p:sp>
        <p:nvSpPr>
          <p:cNvPr id="15" name="文本框 14">
            <a:extLst>
              <a:ext uri="{FF2B5EF4-FFF2-40B4-BE49-F238E27FC236}">
                <a16:creationId xmlns:a16="http://schemas.microsoft.com/office/drawing/2014/main" id="{E97E1BB2-096A-2FE8-8C60-A5441CD5B818}"/>
              </a:ext>
            </a:extLst>
          </p:cNvPr>
          <p:cNvSpPr txBox="1"/>
          <p:nvPr/>
        </p:nvSpPr>
        <p:spPr>
          <a:xfrm>
            <a:off x="2395855" y="2333645"/>
            <a:ext cx="8893991" cy="523220"/>
          </a:xfrm>
          <a:prstGeom prst="rect">
            <a:avLst/>
          </a:prstGeom>
          <a:noFill/>
        </p:spPr>
        <p:txBody>
          <a:bodyPr wrap="square">
            <a:spAutoFit/>
          </a:bodyPr>
          <a:lstStyle/>
          <a:p>
            <a:pPr algn="ctr"/>
            <a:r>
              <a:rPr lang="zh-CN" altLang="zh-CN" sz="2800"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多源复杂环境下的语音端点检测算法研究</a:t>
            </a:r>
            <a:r>
              <a:rPr lang="zh-CN" altLang="zh-CN" sz="2800" dirty="0">
                <a:solidFill>
                  <a:schemeClr val="bg1"/>
                </a:solidFill>
                <a:effectLst/>
              </a:rPr>
              <a:t> </a:t>
            </a:r>
            <a:endParaRPr lang="zh-CN" altLang="en-US" sz="2800" dirty="0">
              <a:solidFill>
                <a:schemeClr val="bg1"/>
              </a:solidFill>
            </a:endParaRPr>
          </a:p>
        </p:txBody>
      </p:sp>
    </p:spTree>
    <p:extLst>
      <p:ext uri="{BB962C8B-B14F-4D97-AF65-F5344CB8AC3E}">
        <p14:creationId xmlns:p14="http://schemas.microsoft.com/office/powerpoint/2010/main" val="3310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0">
            <a:extLst>
              <a:ext uri="{FF2B5EF4-FFF2-40B4-BE49-F238E27FC236}">
                <a16:creationId xmlns:a16="http://schemas.microsoft.com/office/drawing/2014/main" id="{0CE9BD91-B090-5347-8AC1-2AA45EE717C4}"/>
              </a:ext>
            </a:extLst>
          </p:cNvPr>
          <p:cNvGrpSpPr/>
          <p:nvPr/>
        </p:nvGrpSpPr>
        <p:grpSpPr>
          <a:xfrm>
            <a:off x="1325301" y="1485265"/>
            <a:ext cx="1708898" cy="1209216"/>
            <a:chOff x="3026" y="2033"/>
            <a:chExt cx="2285" cy="1384"/>
          </a:xfrm>
        </p:grpSpPr>
        <p:sp>
          <p:nvSpPr>
            <p:cNvPr id="32" name="文本框 31">
              <a:extLst>
                <a:ext uri="{FF2B5EF4-FFF2-40B4-BE49-F238E27FC236}">
                  <a16:creationId xmlns:a16="http://schemas.microsoft.com/office/drawing/2014/main" id="{FDD9A235-C0FB-F11C-E674-AE125FA0922D}"/>
                </a:ext>
              </a:extLst>
            </p:cNvPr>
            <p:cNvSpPr txBox="1"/>
            <p:nvPr>
              <p:custDataLst>
                <p:tags r:id="rId11"/>
              </p:custDataLst>
            </p:nvPr>
          </p:nvSpPr>
          <p:spPr>
            <a:xfrm>
              <a:off x="3026" y="2947"/>
              <a:ext cx="2285" cy="470"/>
            </a:xfrm>
            <a:prstGeom prst="rect">
              <a:avLst/>
            </a:prstGeom>
            <a:noFill/>
          </p:spPr>
          <p:txBody>
            <a:bodyPr wrap="square" rtlCol="0">
              <a:spAutoFit/>
              <a:scene3d>
                <a:camera prst="orthographicFront"/>
                <a:lightRig rig="threePt" dir="t"/>
              </a:scene3d>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2E5696"/>
                  </a:solidFill>
                  <a:effectLst>
                    <a:outerShdw blurRad="38100" dist="25400" dir="5400000" algn="ctr" rotWithShape="0">
                      <a:srgbClr val="6E747A">
                        <a:alpha val="43000"/>
                      </a:srgbClr>
                    </a:outerShdw>
                  </a:effectLst>
                  <a:uLnTx/>
                  <a:uFillTx/>
                  <a:latin typeface="Arial"/>
                  <a:ea typeface="微软雅黑"/>
                </a:rPr>
                <a:t>CONTENTS</a:t>
              </a:r>
            </a:p>
          </p:txBody>
        </p:sp>
        <p:sp>
          <p:nvSpPr>
            <p:cNvPr id="33" name="文本框 32">
              <a:extLst>
                <a:ext uri="{FF2B5EF4-FFF2-40B4-BE49-F238E27FC236}">
                  <a16:creationId xmlns:a16="http://schemas.microsoft.com/office/drawing/2014/main" id="{1E995555-0D56-0A18-2B68-AA917EA6D13A}"/>
                </a:ext>
              </a:extLst>
            </p:cNvPr>
            <p:cNvSpPr txBox="1"/>
            <p:nvPr>
              <p:custDataLst>
                <p:tags r:id="rId12"/>
              </p:custDataLst>
            </p:nvPr>
          </p:nvSpPr>
          <p:spPr>
            <a:xfrm>
              <a:off x="3243" y="2033"/>
              <a:ext cx="1850" cy="784"/>
            </a:xfrm>
            <a:prstGeom prst="rect">
              <a:avLst/>
            </a:prstGeom>
            <a:noFill/>
          </p:spPr>
          <p:txBody>
            <a:bodyPr wrap="square" bIns="0" rtlCol="0">
              <a:spAutoFit/>
              <a:scene3d>
                <a:camera prst="orthographicFront"/>
                <a:lightRig rig="threePt" dir="t"/>
              </a:scene3d>
            </a:bodyPr>
            <a:lstStyle/>
            <a:p>
              <a:pPr marL="0" marR="0" lvl="0" indent="0" algn="dist" defTabSz="914400" eaLnBrk="1" fontAlgn="auto" latinLnBrk="0" hangingPunct="1">
                <a:lnSpc>
                  <a:spcPct val="130000"/>
                </a:lnSpc>
                <a:spcBef>
                  <a:spcPts val="0"/>
                </a:spcBef>
                <a:spcAft>
                  <a:spcPts val="0"/>
                </a:spcAft>
                <a:buClrTx/>
                <a:buSzTx/>
                <a:buFontTx/>
                <a:buNone/>
                <a:tabLst/>
                <a:defRPr/>
              </a:pPr>
              <a:r>
                <a:rPr kumimoji="0" lang="zh-CN" altLang="en-US" sz="3200" b="0" i="0" u="none" strike="noStrike" kern="0" cap="none" spc="0" normalizeH="0" baseline="0" noProof="0" dirty="0">
                  <a:ln>
                    <a:noFill/>
                  </a:ln>
                  <a:solidFill>
                    <a:srgbClr val="2E5696"/>
                  </a:solidFill>
                  <a:effectLst>
                    <a:reflection blurRad="6350" stA="53000" endA="300" endPos="35500" dir="5400000" sy="-90000" algn="bl" rotWithShape="0"/>
                  </a:effectLst>
                  <a:uLnTx/>
                  <a:uFillTx/>
                  <a:latin typeface="Arial"/>
                  <a:ea typeface="微软雅黑"/>
                </a:rPr>
                <a:t>目录</a:t>
              </a:r>
            </a:p>
          </p:txBody>
        </p:sp>
        <p:cxnSp>
          <p:nvCxnSpPr>
            <p:cNvPr id="34" name="直接连接符 33">
              <a:extLst>
                <a:ext uri="{FF2B5EF4-FFF2-40B4-BE49-F238E27FC236}">
                  <a16:creationId xmlns:a16="http://schemas.microsoft.com/office/drawing/2014/main" id="{FA9E1BC9-B1F4-2DA6-8AFF-A013C9C6B8AE}"/>
                </a:ext>
              </a:extLst>
            </p:cNvPr>
            <p:cNvCxnSpPr/>
            <p:nvPr>
              <p:custDataLst>
                <p:tags r:id="rId13"/>
              </p:custDataLst>
            </p:nvPr>
          </p:nvCxnSpPr>
          <p:spPr>
            <a:xfrm flipV="1">
              <a:off x="3242" y="2918"/>
              <a:ext cx="1907" cy="2"/>
            </a:xfrm>
            <a:prstGeom prst="line">
              <a:avLst/>
            </a:prstGeom>
            <a:noFill/>
            <a:ln w="19050" cap="flat" cmpd="sng" algn="ctr">
              <a:solidFill>
                <a:srgbClr val="4472C4"/>
              </a:solidFill>
              <a:prstDash val="solid"/>
              <a:miter lim="800000"/>
            </a:ln>
            <a:effectLst/>
          </p:spPr>
        </p:cxnSp>
      </p:grpSp>
      <p:sp>
        <p:nvSpPr>
          <p:cNvPr id="35" name="文本框 34">
            <a:extLst>
              <a:ext uri="{FF2B5EF4-FFF2-40B4-BE49-F238E27FC236}">
                <a16:creationId xmlns:a16="http://schemas.microsoft.com/office/drawing/2014/main" id="{49A39BB1-552E-2FF6-D3A6-DCB574B768DF}"/>
              </a:ext>
            </a:extLst>
          </p:cNvPr>
          <p:cNvSpPr txBox="1"/>
          <p:nvPr>
            <p:custDataLst>
              <p:tags r:id="rId1"/>
            </p:custDataLst>
          </p:nvPr>
        </p:nvSpPr>
        <p:spPr>
          <a:xfrm>
            <a:off x="5227293" y="1591333"/>
            <a:ext cx="5952199" cy="491490"/>
          </a:xfrm>
          <a:prstGeom prst="rect">
            <a:avLst/>
          </a:prstGeom>
          <a:noFill/>
        </p:spPr>
        <p:txBody>
          <a:bodyPr wrap="square" rtlCol="0">
            <a:spAutoFit/>
          </a:bodyPr>
          <a:lstStyle/>
          <a:p>
            <a:pPr>
              <a:lnSpc>
                <a:spcPct val="130000"/>
              </a:lnSpc>
            </a:pPr>
            <a:r>
              <a:rPr lang="zh-CN" altLang="en-US" sz="2000" dirty="0">
                <a:solidFill>
                  <a:prstClr val="black"/>
                </a:solidFill>
                <a:latin typeface="微软雅黑" panose="020B0503020204020204" charset="-122"/>
                <a:ea typeface="微软雅黑" panose="020B0503020204020204" charset="-122"/>
                <a:sym typeface="+mn-ea"/>
              </a:rPr>
              <a:t>研究背景和研究意义</a:t>
            </a:r>
          </a:p>
        </p:txBody>
      </p:sp>
      <p:sp>
        <p:nvSpPr>
          <p:cNvPr id="36" name="文本框 35">
            <a:extLst>
              <a:ext uri="{FF2B5EF4-FFF2-40B4-BE49-F238E27FC236}">
                <a16:creationId xmlns:a16="http://schemas.microsoft.com/office/drawing/2014/main" id="{60A2F189-A055-83E5-49EA-603DD2EDFA95}"/>
              </a:ext>
            </a:extLst>
          </p:cNvPr>
          <p:cNvSpPr txBox="1"/>
          <p:nvPr>
            <p:custDataLst>
              <p:tags r:id="rId2"/>
            </p:custDataLst>
          </p:nvPr>
        </p:nvSpPr>
        <p:spPr>
          <a:xfrm>
            <a:off x="4483617" y="1517006"/>
            <a:ext cx="717550" cy="650875"/>
          </a:xfrm>
          <a:prstGeom prst="rect">
            <a:avLst/>
          </a:prstGeom>
          <a:noFill/>
        </p:spPr>
        <p:txBody>
          <a:bodyPr wrap="square" rtlCol="0">
            <a:spAutoFit/>
          </a:bodyPr>
          <a:lstStyle/>
          <a:p>
            <a:pPr>
              <a:lnSpc>
                <a:spcPct val="130000"/>
              </a:lnSpc>
            </a:pPr>
            <a:r>
              <a:rPr lang="en-US" altLang="zh-CN" sz="2800" dirty="0">
                <a:solidFill>
                  <a:srgbClr val="2E5696"/>
                </a:solidFill>
                <a:effectLst>
                  <a:reflection blurRad="6350" stA="53000" endA="300" endPos="35500" dir="5400000" sy="-90000" algn="bl" rotWithShape="0"/>
                </a:effectLst>
                <a:latin typeface="Arial"/>
                <a:ea typeface="微软雅黑"/>
              </a:rPr>
              <a:t>01</a:t>
            </a:r>
          </a:p>
        </p:txBody>
      </p:sp>
      <p:sp>
        <p:nvSpPr>
          <p:cNvPr id="37" name="文本框 36">
            <a:extLst>
              <a:ext uri="{FF2B5EF4-FFF2-40B4-BE49-F238E27FC236}">
                <a16:creationId xmlns:a16="http://schemas.microsoft.com/office/drawing/2014/main" id="{E47BBB9B-04B2-CDB9-F0B8-871AB7DE0B2F}"/>
              </a:ext>
            </a:extLst>
          </p:cNvPr>
          <p:cNvSpPr txBox="1"/>
          <p:nvPr>
            <p:custDataLst>
              <p:tags r:id="rId3"/>
            </p:custDataLst>
          </p:nvPr>
        </p:nvSpPr>
        <p:spPr>
          <a:xfrm>
            <a:off x="5227293" y="2338251"/>
            <a:ext cx="5952199" cy="491490"/>
          </a:xfrm>
          <a:prstGeom prst="rect">
            <a:avLst/>
          </a:prstGeom>
          <a:noFill/>
        </p:spPr>
        <p:txBody>
          <a:bodyPr wrap="square" rtlCol="0">
            <a:spAutoFit/>
          </a:bodyPr>
          <a:lstStyle/>
          <a:p>
            <a:pPr>
              <a:lnSpc>
                <a:spcPct val="130000"/>
              </a:lnSpc>
            </a:pPr>
            <a:r>
              <a:rPr lang="zh-CN" altLang="en-US" sz="2000" dirty="0">
                <a:solidFill>
                  <a:srgbClr val="E7E6E6"/>
                </a:solidFill>
                <a:latin typeface="微软雅黑" panose="020B0503020204020204" charset="-122"/>
                <a:ea typeface="微软雅黑" panose="020B0503020204020204" charset="-122"/>
                <a:sym typeface="+mn-ea"/>
              </a:rPr>
              <a:t>国内外研究现状</a:t>
            </a:r>
            <a:endParaRPr lang="zh-CN" altLang="en-US" sz="2000" spc="120" dirty="0">
              <a:solidFill>
                <a:srgbClr val="E7E6E6"/>
              </a:solidFill>
              <a:latin typeface="微软雅黑" panose="020B0503020204020204" charset="-122"/>
              <a:ea typeface="微软雅黑" panose="020B0503020204020204" charset="-122"/>
              <a:sym typeface="+mn-ea"/>
            </a:endParaRPr>
          </a:p>
        </p:txBody>
      </p:sp>
      <p:sp>
        <p:nvSpPr>
          <p:cNvPr id="38" name="文本框 37">
            <a:extLst>
              <a:ext uri="{FF2B5EF4-FFF2-40B4-BE49-F238E27FC236}">
                <a16:creationId xmlns:a16="http://schemas.microsoft.com/office/drawing/2014/main" id="{AC10B670-CF96-C56F-F232-62387D343164}"/>
              </a:ext>
            </a:extLst>
          </p:cNvPr>
          <p:cNvSpPr txBox="1"/>
          <p:nvPr>
            <p:custDataLst>
              <p:tags r:id="rId4"/>
            </p:custDataLst>
          </p:nvPr>
        </p:nvSpPr>
        <p:spPr>
          <a:xfrm>
            <a:off x="4483617" y="2263289"/>
            <a:ext cx="717550" cy="650875"/>
          </a:xfrm>
          <a:prstGeom prst="rect">
            <a:avLst/>
          </a:prstGeom>
          <a:noFill/>
        </p:spPr>
        <p:txBody>
          <a:bodyPr wrap="square" rtlCol="0">
            <a:spAutoFit/>
          </a:bodyPr>
          <a:lstStyle/>
          <a:p>
            <a:pPr>
              <a:lnSpc>
                <a:spcPct val="130000"/>
              </a:lnSpc>
            </a:pPr>
            <a:r>
              <a:rPr lang="en-US" altLang="zh-CN" sz="2800" dirty="0">
                <a:solidFill>
                  <a:srgbClr val="E7E6E6"/>
                </a:solidFill>
                <a:effectLst>
                  <a:reflection blurRad="6350" stA="53000" endA="300" endPos="35500" dir="5400000" sy="-90000" algn="bl" rotWithShape="0"/>
                </a:effectLst>
                <a:latin typeface="Arial"/>
                <a:ea typeface="微软雅黑"/>
              </a:rPr>
              <a:t>02</a:t>
            </a:r>
          </a:p>
        </p:txBody>
      </p:sp>
      <p:sp>
        <p:nvSpPr>
          <p:cNvPr id="39" name="文本框 38">
            <a:extLst>
              <a:ext uri="{FF2B5EF4-FFF2-40B4-BE49-F238E27FC236}">
                <a16:creationId xmlns:a16="http://schemas.microsoft.com/office/drawing/2014/main" id="{B85FD46F-CAC9-0C6E-9CCF-D275A84E237F}"/>
              </a:ext>
            </a:extLst>
          </p:cNvPr>
          <p:cNvSpPr txBox="1"/>
          <p:nvPr>
            <p:custDataLst>
              <p:tags r:id="rId5"/>
            </p:custDataLst>
          </p:nvPr>
        </p:nvSpPr>
        <p:spPr>
          <a:xfrm>
            <a:off x="5227293" y="3084534"/>
            <a:ext cx="5952199" cy="491490"/>
          </a:xfrm>
          <a:prstGeom prst="rect">
            <a:avLst/>
          </a:prstGeom>
          <a:noFill/>
        </p:spPr>
        <p:txBody>
          <a:bodyPr wrap="square" rtlCol="0">
            <a:spAutoFit/>
          </a:bodyPr>
          <a:lstStyle/>
          <a:p>
            <a:pPr>
              <a:lnSpc>
                <a:spcPct val="130000"/>
              </a:lnSpc>
            </a:pPr>
            <a:r>
              <a:rPr lang="zh-CN" altLang="en-US" sz="2000" dirty="0">
                <a:solidFill>
                  <a:srgbClr val="E7E6E6"/>
                </a:solidFill>
                <a:latin typeface="微软雅黑" panose="020B0503020204020204" charset="-122"/>
                <a:ea typeface="微软雅黑" panose="020B0503020204020204" charset="-122"/>
                <a:sym typeface="+mn-ea"/>
              </a:rPr>
              <a:t>研究内容</a:t>
            </a:r>
            <a:endParaRPr lang="zh-CN" altLang="en-US" sz="2000" spc="120" dirty="0">
              <a:solidFill>
                <a:srgbClr val="E7E6E6"/>
              </a:solidFill>
              <a:latin typeface="微软雅黑" panose="020B0503020204020204" charset="-122"/>
              <a:ea typeface="微软雅黑" panose="020B0503020204020204" charset="-122"/>
              <a:sym typeface="+mn-ea"/>
            </a:endParaRPr>
          </a:p>
        </p:txBody>
      </p:sp>
      <p:sp>
        <p:nvSpPr>
          <p:cNvPr id="40" name="文本框 39">
            <a:extLst>
              <a:ext uri="{FF2B5EF4-FFF2-40B4-BE49-F238E27FC236}">
                <a16:creationId xmlns:a16="http://schemas.microsoft.com/office/drawing/2014/main" id="{34EBB885-BB42-4282-9CB5-CBD38024F48E}"/>
              </a:ext>
            </a:extLst>
          </p:cNvPr>
          <p:cNvSpPr txBox="1"/>
          <p:nvPr>
            <p:custDataLst>
              <p:tags r:id="rId6"/>
            </p:custDataLst>
          </p:nvPr>
        </p:nvSpPr>
        <p:spPr>
          <a:xfrm>
            <a:off x="4483617" y="3009572"/>
            <a:ext cx="717550" cy="650875"/>
          </a:xfrm>
          <a:prstGeom prst="rect">
            <a:avLst/>
          </a:prstGeom>
          <a:noFill/>
        </p:spPr>
        <p:txBody>
          <a:bodyPr wrap="square" rtlCol="0">
            <a:spAutoFit/>
          </a:bodyPr>
          <a:lstStyle/>
          <a:p>
            <a:pPr>
              <a:lnSpc>
                <a:spcPct val="130000"/>
              </a:lnSpc>
            </a:pPr>
            <a:r>
              <a:rPr lang="en-US" altLang="zh-CN" sz="2800" dirty="0">
                <a:solidFill>
                  <a:srgbClr val="E7E6E6"/>
                </a:solidFill>
                <a:effectLst>
                  <a:reflection blurRad="6350" stA="53000" endA="300" endPos="35500" dir="5400000" sy="-90000" algn="bl" rotWithShape="0"/>
                </a:effectLst>
                <a:latin typeface="Arial"/>
                <a:ea typeface="微软雅黑"/>
              </a:rPr>
              <a:t>03</a:t>
            </a:r>
          </a:p>
        </p:txBody>
      </p:sp>
      <p:sp>
        <p:nvSpPr>
          <p:cNvPr id="41" name="文本框 40">
            <a:extLst>
              <a:ext uri="{FF2B5EF4-FFF2-40B4-BE49-F238E27FC236}">
                <a16:creationId xmlns:a16="http://schemas.microsoft.com/office/drawing/2014/main" id="{796E193B-4C29-D23D-5F47-E7CA93C055A4}"/>
              </a:ext>
            </a:extLst>
          </p:cNvPr>
          <p:cNvSpPr txBox="1"/>
          <p:nvPr>
            <p:custDataLst>
              <p:tags r:id="rId7"/>
            </p:custDataLst>
          </p:nvPr>
        </p:nvSpPr>
        <p:spPr>
          <a:xfrm>
            <a:off x="5227293" y="3861476"/>
            <a:ext cx="5952199" cy="491490"/>
          </a:xfrm>
          <a:prstGeom prst="rect">
            <a:avLst/>
          </a:prstGeom>
          <a:noFill/>
        </p:spPr>
        <p:txBody>
          <a:bodyPr wrap="square" rtlCol="0">
            <a:spAutoFit/>
          </a:bodyPr>
          <a:lstStyle/>
          <a:p>
            <a:pPr>
              <a:lnSpc>
                <a:spcPct val="130000"/>
              </a:lnSpc>
            </a:pPr>
            <a:r>
              <a:rPr lang="zh-CN" altLang="en-US" sz="2000" dirty="0">
                <a:solidFill>
                  <a:srgbClr val="E7E6E6"/>
                </a:solidFill>
                <a:latin typeface="微软雅黑" panose="020B0503020204020204" charset="-122"/>
                <a:ea typeface="微软雅黑" panose="020B0503020204020204" charset="-122"/>
                <a:sym typeface="+mn-ea"/>
              </a:rPr>
              <a:t>研究进展</a:t>
            </a:r>
          </a:p>
        </p:txBody>
      </p:sp>
      <p:sp>
        <p:nvSpPr>
          <p:cNvPr id="42" name="文本框 41">
            <a:extLst>
              <a:ext uri="{FF2B5EF4-FFF2-40B4-BE49-F238E27FC236}">
                <a16:creationId xmlns:a16="http://schemas.microsoft.com/office/drawing/2014/main" id="{B2CC1231-5A50-BEAC-5F3C-EAED0826D066}"/>
              </a:ext>
            </a:extLst>
          </p:cNvPr>
          <p:cNvSpPr txBox="1"/>
          <p:nvPr>
            <p:custDataLst>
              <p:tags r:id="rId8"/>
            </p:custDataLst>
          </p:nvPr>
        </p:nvSpPr>
        <p:spPr>
          <a:xfrm>
            <a:off x="4483617" y="3755855"/>
            <a:ext cx="717550" cy="650875"/>
          </a:xfrm>
          <a:prstGeom prst="rect">
            <a:avLst/>
          </a:prstGeom>
          <a:noFill/>
        </p:spPr>
        <p:txBody>
          <a:bodyPr wrap="square" rtlCol="0">
            <a:spAutoFit/>
          </a:bodyPr>
          <a:lstStyle/>
          <a:p>
            <a:pPr>
              <a:lnSpc>
                <a:spcPct val="130000"/>
              </a:lnSpc>
            </a:pPr>
            <a:r>
              <a:rPr lang="en-US" altLang="zh-CN" sz="2800" dirty="0">
                <a:solidFill>
                  <a:srgbClr val="E7E6E6"/>
                </a:solidFill>
                <a:effectLst>
                  <a:reflection blurRad="6350" stA="53000" endA="300" endPos="35500" dir="5400000" sy="-90000" algn="bl" rotWithShape="0"/>
                </a:effectLst>
                <a:latin typeface="Arial"/>
                <a:ea typeface="微软雅黑"/>
              </a:rPr>
              <a:t>04</a:t>
            </a:r>
          </a:p>
        </p:txBody>
      </p:sp>
      <p:sp>
        <p:nvSpPr>
          <p:cNvPr id="43" name="文本框 42">
            <a:extLst>
              <a:ext uri="{FF2B5EF4-FFF2-40B4-BE49-F238E27FC236}">
                <a16:creationId xmlns:a16="http://schemas.microsoft.com/office/drawing/2014/main" id="{4EE2CEE3-B332-2931-6613-4FC8DAD4FC78}"/>
              </a:ext>
            </a:extLst>
          </p:cNvPr>
          <p:cNvSpPr txBox="1"/>
          <p:nvPr>
            <p:custDataLst>
              <p:tags r:id="rId9"/>
            </p:custDataLst>
          </p:nvPr>
        </p:nvSpPr>
        <p:spPr>
          <a:xfrm>
            <a:off x="5227293" y="4577102"/>
            <a:ext cx="5952199" cy="491490"/>
          </a:xfrm>
          <a:prstGeom prst="rect">
            <a:avLst/>
          </a:prstGeom>
          <a:noFill/>
        </p:spPr>
        <p:txBody>
          <a:bodyPr wrap="square" rtlCol="0">
            <a:spAutoFit/>
          </a:bodyPr>
          <a:lstStyle/>
          <a:p>
            <a:pPr>
              <a:lnSpc>
                <a:spcPct val="130000"/>
              </a:lnSpc>
            </a:pPr>
            <a:r>
              <a:rPr lang="zh-CN" altLang="en-US" sz="2000" dirty="0">
                <a:solidFill>
                  <a:srgbClr val="E7E6E6"/>
                </a:solidFill>
                <a:latin typeface="微软雅黑" panose="020B0503020204020204" charset="-122"/>
                <a:ea typeface="微软雅黑" panose="020B0503020204020204" charset="-122"/>
                <a:sym typeface="+mn-ea"/>
              </a:rPr>
              <a:t>预期目标及创新之处</a:t>
            </a:r>
          </a:p>
        </p:txBody>
      </p:sp>
      <p:sp>
        <p:nvSpPr>
          <p:cNvPr id="44" name="文本框 43">
            <a:extLst>
              <a:ext uri="{FF2B5EF4-FFF2-40B4-BE49-F238E27FC236}">
                <a16:creationId xmlns:a16="http://schemas.microsoft.com/office/drawing/2014/main" id="{E3459885-0C27-FB86-FE05-483C5C815AD7}"/>
              </a:ext>
            </a:extLst>
          </p:cNvPr>
          <p:cNvSpPr txBox="1"/>
          <p:nvPr>
            <p:custDataLst>
              <p:tags r:id="rId10"/>
            </p:custDataLst>
          </p:nvPr>
        </p:nvSpPr>
        <p:spPr>
          <a:xfrm>
            <a:off x="4483617" y="4502140"/>
            <a:ext cx="717550" cy="650875"/>
          </a:xfrm>
          <a:prstGeom prst="rect">
            <a:avLst/>
          </a:prstGeom>
          <a:noFill/>
        </p:spPr>
        <p:txBody>
          <a:bodyPr wrap="square" rtlCol="0">
            <a:spAutoFit/>
          </a:bodyPr>
          <a:lstStyle/>
          <a:p>
            <a:pPr>
              <a:lnSpc>
                <a:spcPct val="130000"/>
              </a:lnSpc>
            </a:pPr>
            <a:r>
              <a:rPr lang="en-US" altLang="zh-CN" sz="2800" dirty="0">
                <a:solidFill>
                  <a:srgbClr val="E7E6E6"/>
                </a:solidFill>
                <a:effectLst>
                  <a:reflection blurRad="6350" stA="53000" endA="300" endPos="35500" dir="5400000" sy="-90000" algn="bl" rotWithShape="0"/>
                </a:effectLst>
                <a:latin typeface="Arial"/>
                <a:ea typeface="微软雅黑"/>
              </a:rPr>
              <a:t>05</a:t>
            </a:r>
          </a:p>
        </p:txBody>
      </p:sp>
      <p:grpSp>
        <p:nvGrpSpPr>
          <p:cNvPr id="52" name="组合 51">
            <a:extLst>
              <a:ext uri="{FF2B5EF4-FFF2-40B4-BE49-F238E27FC236}">
                <a16:creationId xmlns:a16="http://schemas.microsoft.com/office/drawing/2014/main" id="{B745BACE-31D0-D8B7-44C2-96A1A29DCC52}"/>
              </a:ext>
            </a:extLst>
          </p:cNvPr>
          <p:cNvGrpSpPr/>
          <p:nvPr/>
        </p:nvGrpSpPr>
        <p:grpSpPr>
          <a:xfrm>
            <a:off x="234315" y="203200"/>
            <a:ext cx="11765280" cy="669290"/>
            <a:chOff x="234315" y="203200"/>
            <a:chExt cx="11765280" cy="669290"/>
          </a:xfrm>
        </p:grpSpPr>
        <p:grpSp>
          <p:nvGrpSpPr>
            <p:cNvPr id="45" name="组合 44">
              <a:extLst>
                <a:ext uri="{FF2B5EF4-FFF2-40B4-BE49-F238E27FC236}">
                  <a16:creationId xmlns:a16="http://schemas.microsoft.com/office/drawing/2014/main" id="{11D4FA73-D560-CD85-FFBC-051C7AA8214E}"/>
                </a:ext>
              </a:extLst>
            </p:cNvPr>
            <p:cNvGrpSpPr/>
            <p:nvPr/>
          </p:nvGrpSpPr>
          <p:grpSpPr>
            <a:xfrm>
              <a:off x="864870" y="262890"/>
              <a:ext cx="11134725" cy="609600"/>
              <a:chOff x="1347" y="414"/>
              <a:chExt cx="17535" cy="960"/>
            </a:xfrm>
          </p:grpSpPr>
          <p:cxnSp>
            <p:nvCxnSpPr>
              <p:cNvPr id="48" name="直接连接符 46">
                <a:extLst>
                  <a:ext uri="{FF2B5EF4-FFF2-40B4-BE49-F238E27FC236}">
                    <a16:creationId xmlns:a16="http://schemas.microsoft.com/office/drawing/2014/main" id="{F06CF492-A3EE-BD96-EB28-C40FE4574F94}"/>
                  </a:ext>
                </a:extLst>
              </p:cNvPr>
              <p:cNvCxnSpPr>
                <a:cxnSpLocks noChangeShapeType="1"/>
              </p:cNvCxnSpPr>
              <p:nvPr/>
            </p:nvCxnSpPr>
            <p:spPr bwMode="auto">
              <a:xfrm flipH="1">
                <a:off x="1347" y="1374"/>
                <a:ext cx="17535" cy="0"/>
              </a:xfrm>
              <a:prstGeom prst="line">
                <a:avLst/>
              </a:prstGeom>
              <a:noFill/>
              <a:ln w="9525" cmpd="sng">
                <a:solidFill>
                  <a:srgbClr val="4D4948"/>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TextBox 28">
                <a:extLst>
                  <a:ext uri="{FF2B5EF4-FFF2-40B4-BE49-F238E27FC236}">
                    <a16:creationId xmlns:a16="http://schemas.microsoft.com/office/drawing/2014/main" id="{25996D49-6DB8-350C-C769-5D0287907615}"/>
                  </a:ext>
                </a:extLst>
              </p:cNvPr>
              <p:cNvSpPr txBox="1"/>
              <p:nvPr/>
            </p:nvSpPr>
            <p:spPr>
              <a:xfrm>
                <a:off x="1347" y="414"/>
                <a:ext cx="8949" cy="844"/>
              </a:xfrm>
              <a:prstGeom prst="rect">
                <a:avLst/>
              </a:prstGeom>
              <a:noFill/>
            </p:spPr>
            <p:txBody>
              <a:bodyPr wrap="square" lIns="105509" tIns="52755" rIns="105509" bIns="52755"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600" normalizeH="0" baseline="0" noProof="0" dirty="0">
                  <a:ln>
                    <a:noFill/>
                  </a:ln>
                  <a:solidFill>
                    <a:srgbClr val="2E5696"/>
                  </a:solidFill>
                  <a:effectLst/>
                  <a:uLnTx/>
                  <a:uFillTx/>
                  <a:latin typeface="黑体" panose="02010609060101010101" charset="-122"/>
                  <a:ea typeface="黑体" panose="02010609060101010101" charset="-122"/>
                  <a:sym typeface="+mn-ea"/>
                </a:endParaRPr>
              </a:p>
            </p:txBody>
          </p:sp>
        </p:grpSp>
        <p:sp>
          <p:nvSpPr>
            <p:cNvPr id="50" name="矩形 49">
              <a:extLst>
                <a:ext uri="{FF2B5EF4-FFF2-40B4-BE49-F238E27FC236}">
                  <a16:creationId xmlns:a16="http://schemas.microsoft.com/office/drawing/2014/main" id="{BF737A43-57BC-C208-80D5-FA47CE483AD9}"/>
                </a:ext>
              </a:extLst>
            </p:cNvPr>
            <p:cNvSpPr/>
            <p:nvPr/>
          </p:nvSpPr>
          <p:spPr>
            <a:xfrm>
              <a:off x="234315" y="203200"/>
              <a:ext cx="496570" cy="496570"/>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51" name="矩形 50">
              <a:extLst>
                <a:ext uri="{FF2B5EF4-FFF2-40B4-BE49-F238E27FC236}">
                  <a16:creationId xmlns:a16="http://schemas.microsoft.com/office/drawing/2014/main" id="{E3D97B39-06AE-4B27-4307-DD69EF6891CD}"/>
                </a:ext>
              </a:extLst>
            </p:cNvPr>
            <p:cNvSpPr/>
            <p:nvPr/>
          </p:nvSpPr>
          <p:spPr>
            <a:xfrm>
              <a:off x="478790" y="469265"/>
              <a:ext cx="331470" cy="331470"/>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grpSp>
    </p:spTree>
    <p:extLst>
      <p:ext uri="{BB962C8B-B14F-4D97-AF65-F5344CB8AC3E}">
        <p14:creationId xmlns:p14="http://schemas.microsoft.com/office/powerpoint/2010/main" val="1235546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67F46AF6-7D64-40F9-7875-7B7CAEC64188}"/>
              </a:ext>
            </a:extLst>
          </p:cNvPr>
          <p:cNvGrpSpPr/>
          <p:nvPr/>
        </p:nvGrpSpPr>
        <p:grpSpPr>
          <a:xfrm>
            <a:off x="234315" y="203200"/>
            <a:ext cx="6303645" cy="597535"/>
            <a:chOff x="369" y="320"/>
            <a:chExt cx="9927" cy="941"/>
          </a:xfrm>
        </p:grpSpPr>
        <p:sp>
          <p:nvSpPr>
            <p:cNvPr id="4" name="矩形 3">
              <a:extLst>
                <a:ext uri="{FF2B5EF4-FFF2-40B4-BE49-F238E27FC236}">
                  <a16:creationId xmlns:a16="http://schemas.microsoft.com/office/drawing/2014/main" id="{46E37375-A95C-A0D7-50EF-980702EB8013}"/>
                </a:ext>
              </a:extLst>
            </p:cNvPr>
            <p:cNvSpPr/>
            <p:nvPr/>
          </p:nvSpPr>
          <p:spPr>
            <a:xfrm>
              <a:off x="369" y="320"/>
              <a:ext cx="782" cy="782"/>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ea typeface="微软雅黑" panose="020B0503020204020204" charset="-122"/>
              </a:endParaRPr>
            </a:p>
          </p:txBody>
        </p:sp>
        <p:sp>
          <p:nvSpPr>
            <p:cNvPr id="5" name="矩形 4">
              <a:extLst>
                <a:ext uri="{FF2B5EF4-FFF2-40B4-BE49-F238E27FC236}">
                  <a16:creationId xmlns:a16="http://schemas.microsoft.com/office/drawing/2014/main" id="{195D2587-D0FE-FD90-A4C2-F4C368CDF1FB}"/>
                </a:ext>
              </a:extLst>
            </p:cNvPr>
            <p:cNvSpPr/>
            <p:nvPr/>
          </p:nvSpPr>
          <p:spPr>
            <a:xfrm>
              <a:off x="754" y="739"/>
              <a:ext cx="522" cy="522"/>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ea typeface="微软雅黑" panose="020B0503020204020204" charset="-122"/>
              </a:endParaRPr>
            </a:p>
          </p:txBody>
        </p:sp>
        <p:sp>
          <p:nvSpPr>
            <p:cNvPr id="7" name="TextBox 28">
              <a:extLst>
                <a:ext uri="{FF2B5EF4-FFF2-40B4-BE49-F238E27FC236}">
                  <a16:creationId xmlns:a16="http://schemas.microsoft.com/office/drawing/2014/main" id="{9368E5E4-B8FE-C76C-AD4F-CF85C83B7FA5}"/>
                </a:ext>
              </a:extLst>
            </p:cNvPr>
            <p:cNvSpPr txBox="1"/>
            <p:nvPr/>
          </p:nvSpPr>
          <p:spPr>
            <a:xfrm>
              <a:off x="1347" y="414"/>
              <a:ext cx="8949" cy="844"/>
            </a:xfrm>
            <a:prstGeom prst="rect">
              <a:avLst/>
            </a:prstGeom>
            <a:noFill/>
          </p:spPr>
          <p:txBody>
            <a:bodyPr wrap="square" lIns="105509" tIns="52755" rIns="105509" bIns="52755" rtlCol="0">
              <a:spAutoFit/>
            </a:bodyPr>
            <a:lstStyle>
              <a:defPPr>
                <a:defRPr lang="en-US"/>
              </a:defPPr>
              <a:lvl1pPr algn="just">
                <a:defRPr sz="2800" spc="600">
                  <a:solidFill>
                    <a:srgbClr val="2E5696"/>
                  </a:solidFill>
                  <a:latin typeface="微软雅黑" panose="020B0503020204020204" pitchFamily="34" charset="-122"/>
                  <a:ea typeface="微软雅黑" panose="020B0503020204020204" pitchFamily="34" charset="-122"/>
                </a:defRPr>
              </a:lvl1pPr>
            </a:lstStyle>
            <a:p>
              <a:r>
                <a:rPr lang="zh-CN" altLang="en-US" dirty="0">
                  <a:latin typeface="+mn-lt"/>
                  <a:sym typeface="+mn-ea"/>
                </a:rPr>
                <a:t>研究背景和研究意义</a:t>
              </a:r>
            </a:p>
          </p:txBody>
        </p:sp>
      </p:grpSp>
      <p:cxnSp>
        <p:nvCxnSpPr>
          <p:cNvPr id="8" name="直接连接符 46">
            <a:extLst>
              <a:ext uri="{FF2B5EF4-FFF2-40B4-BE49-F238E27FC236}">
                <a16:creationId xmlns:a16="http://schemas.microsoft.com/office/drawing/2014/main" id="{9784FD40-A518-CD68-4D6E-72B39280407C}"/>
              </a:ext>
            </a:extLst>
          </p:cNvPr>
          <p:cNvCxnSpPr>
            <a:cxnSpLocks noChangeShapeType="1"/>
          </p:cNvCxnSpPr>
          <p:nvPr/>
        </p:nvCxnSpPr>
        <p:spPr bwMode="auto">
          <a:xfrm flipH="1">
            <a:off x="864870" y="872490"/>
            <a:ext cx="11134725" cy="0"/>
          </a:xfrm>
          <a:prstGeom prst="line">
            <a:avLst/>
          </a:prstGeom>
          <a:noFill/>
          <a:ln w="9525" cmpd="sng">
            <a:solidFill>
              <a:srgbClr val="4D4948"/>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流程图: 可选过程 8">
            <a:extLst>
              <a:ext uri="{FF2B5EF4-FFF2-40B4-BE49-F238E27FC236}">
                <a16:creationId xmlns:a16="http://schemas.microsoft.com/office/drawing/2014/main" id="{4571E9DF-74CC-2EA5-1A6A-44B1FBA47D32}"/>
              </a:ext>
            </a:extLst>
          </p:cNvPr>
          <p:cNvSpPr/>
          <p:nvPr/>
        </p:nvSpPr>
        <p:spPr>
          <a:xfrm>
            <a:off x="478790" y="6106159"/>
            <a:ext cx="11220450" cy="653767"/>
          </a:xfrm>
          <a:prstGeom prst="flowChartAlternateProcess">
            <a:avLst/>
          </a:prstGeom>
          <a:noFill/>
          <a:ln w="22225" cmpd="tri">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a:solidFill>
                <a:srgbClr val="FF0000"/>
              </a:solidFill>
              <a:sym typeface="+mn-ea"/>
            </a:endParaRPr>
          </a:p>
        </p:txBody>
      </p:sp>
      <p:sp>
        <p:nvSpPr>
          <p:cNvPr id="10" name="文本框 9">
            <a:extLst>
              <a:ext uri="{FF2B5EF4-FFF2-40B4-BE49-F238E27FC236}">
                <a16:creationId xmlns:a16="http://schemas.microsoft.com/office/drawing/2014/main" id="{8BD39EFC-97D5-F74C-7557-5D9E1BB1EEBB}"/>
              </a:ext>
            </a:extLst>
          </p:cNvPr>
          <p:cNvSpPr txBox="1"/>
          <p:nvPr/>
        </p:nvSpPr>
        <p:spPr>
          <a:xfrm>
            <a:off x="461625" y="6127158"/>
            <a:ext cx="11355070" cy="954107"/>
          </a:xfrm>
          <a:prstGeom prst="rect">
            <a:avLst/>
          </a:prstGeom>
          <a:noFill/>
        </p:spPr>
        <p:txBody>
          <a:bodyPr wrap="square" rtlCol="0" anchor="t">
            <a:spAutoFit/>
          </a:bodyPr>
          <a:lstStyle/>
          <a:p>
            <a:r>
              <a:rPr lang="zh-CN" altLang="en-US" sz="1800" dirty="0">
                <a:effectLst/>
              </a:rPr>
              <a:t>基于</a:t>
            </a:r>
            <a:r>
              <a:rPr lang="en" altLang="zh-CN" sz="1800" dirty="0">
                <a:effectLst/>
                <a:latin typeface="Times New Roman" panose="02020603050405020304" pitchFamily="18" charset="0"/>
              </a:rPr>
              <a:t>DNN </a:t>
            </a:r>
            <a:r>
              <a:rPr lang="zh-CN" altLang="en-US" sz="1800" dirty="0">
                <a:effectLst/>
              </a:rPr>
              <a:t>的端点检测方法与基于能量、谱熵、基频等传统检测方法相比具有明显优势，特别是引入带噪训练技术，该方法在高噪声环境下表现出优异的性能 </a:t>
            </a:r>
            <a:endParaRPr lang="zh-CN" altLang="en-US" sz="2000" dirty="0"/>
          </a:p>
          <a:p>
            <a:pPr algn="ctr"/>
            <a:endParaRPr lang="zh-CN" altLang="en-US" sz="2000" dirty="0">
              <a:solidFill>
                <a:srgbClr val="FF0000"/>
              </a:solidFill>
              <a:ea typeface="微软雅黑" panose="020B0503020204020204" charset="-122"/>
              <a:sym typeface="+mn-ea"/>
            </a:endParaRPr>
          </a:p>
        </p:txBody>
      </p:sp>
      <p:sp>
        <p:nvSpPr>
          <p:cNvPr id="21" name="AutoShape 2" descr="See the source image">
            <a:extLst>
              <a:ext uri="{FF2B5EF4-FFF2-40B4-BE49-F238E27FC236}">
                <a16:creationId xmlns:a16="http://schemas.microsoft.com/office/drawing/2014/main" id="{37DE5CDD-AEDD-244E-712D-F4AB18165DA4}"/>
              </a:ext>
            </a:extLst>
          </p:cNvPr>
          <p:cNvSpPr>
            <a:spLocks noChangeAspect="1" noChangeArrowheads="1"/>
          </p:cNvSpPr>
          <p:nvPr/>
        </p:nvSpPr>
        <p:spPr bwMode="auto">
          <a:xfrm>
            <a:off x="9403941" y="651448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 167">
            <a:extLst>
              <a:ext uri="{FF2B5EF4-FFF2-40B4-BE49-F238E27FC236}">
                <a16:creationId xmlns:a16="http://schemas.microsoft.com/office/drawing/2014/main" id="{35F72DED-D949-3A5C-4E63-E6654C35F43D}"/>
              </a:ext>
            </a:extLst>
          </p:cNvPr>
          <p:cNvSpPr/>
          <p:nvPr/>
        </p:nvSpPr>
        <p:spPr>
          <a:xfrm>
            <a:off x="1421899" y="1727629"/>
            <a:ext cx="9380780" cy="1344066"/>
          </a:xfrm>
          <a:prstGeom prst="roundRect">
            <a:avLst>
              <a:gd name="adj" fmla="val 10396"/>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p3d>
              <a:contourClr>
                <a:srgbClr val="FFFFFF"/>
              </a:contourClr>
            </a:sp3d>
          </a:bodyPr>
          <a:lstStyle>
            <a:lvl1pPr>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algn="ctr"/>
            <a:endParaRPr lang="zh-CN" altLang="en-US" sz="1200">
              <a:solidFill>
                <a:srgbClr val="FFFFFF"/>
              </a:solidFill>
              <a:latin typeface="+mn-lt"/>
              <a:ea typeface="微软雅黑" panose="020B0503020204020204" charset="-122"/>
            </a:endParaRPr>
          </a:p>
        </p:txBody>
      </p:sp>
      <p:sp>
        <p:nvSpPr>
          <p:cNvPr id="47" name="圆角矩形 30">
            <a:extLst>
              <a:ext uri="{FF2B5EF4-FFF2-40B4-BE49-F238E27FC236}">
                <a16:creationId xmlns:a16="http://schemas.microsoft.com/office/drawing/2014/main" id="{B38A3E6E-97DD-12A6-5F3F-1AAEBD6CC4D7}"/>
              </a:ext>
            </a:extLst>
          </p:cNvPr>
          <p:cNvSpPr/>
          <p:nvPr/>
        </p:nvSpPr>
        <p:spPr>
          <a:xfrm>
            <a:off x="730885" y="975995"/>
            <a:ext cx="10859135" cy="669925"/>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a:extLst>
              <a:ext uri="{FF2B5EF4-FFF2-40B4-BE49-F238E27FC236}">
                <a16:creationId xmlns:a16="http://schemas.microsoft.com/office/drawing/2014/main" id="{3331E167-1E88-9F57-2653-B7A98859718B}"/>
              </a:ext>
            </a:extLst>
          </p:cNvPr>
          <p:cNvSpPr txBox="1"/>
          <p:nvPr/>
        </p:nvSpPr>
        <p:spPr>
          <a:xfrm>
            <a:off x="730884" y="999589"/>
            <a:ext cx="10859135" cy="892552"/>
          </a:xfrm>
          <a:prstGeom prst="rect">
            <a:avLst/>
          </a:prstGeom>
          <a:noFill/>
        </p:spPr>
        <p:txBody>
          <a:bodyPr wrap="square">
            <a:spAutoFit/>
          </a:bodyPr>
          <a:lstStyle/>
          <a:p>
            <a:pPr algn="just"/>
            <a:r>
              <a:rPr lang="zh-CN" altLang="en-US" sz="1800" dirty="0">
                <a:effectLst/>
              </a:rPr>
              <a:t>语音端点检测 </a:t>
            </a:r>
            <a:r>
              <a:rPr lang="en-US" altLang="zh-CN" sz="1800" dirty="0">
                <a:effectLst/>
                <a:latin typeface="Times New Roman" panose="02020603050405020304" pitchFamily="18" charset="0"/>
              </a:rPr>
              <a:t>(</a:t>
            </a:r>
            <a:r>
              <a:rPr lang="en" altLang="zh-CN" sz="1800" dirty="0">
                <a:effectLst/>
                <a:latin typeface="Times New Roman" panose="02020603050405020304" pitchFamily="18" charset="0"/>
              </a:rPr>
              <a:t>voice activity detection, VAD) </a:t>
            </a:r>
            <a:r>
              <a:rPr lang="zh-CN" altLang="en-US" sz="1800" dirty="0">
                <a:effectLst/>
              </a:rPr>
              <a:t>是在连续信号中检测出语音片段的技术，在语音编码、说话人识别、语音识别等领域有广泛应用。随着移动设备的普及，差异化噪声下端点检测成为研究的热点与难点。 </a:t>
            </a:r>
            <a:endParaRPr lang="zh-CN" altLang="en-US" sz="1600" dirty="0"/>
          </a:p>
          <a:p>
            <a:pPr algn="just"/>
            <a:endParaRPr lang="zh-CN" altLang="en-US" sz="1600" dirty="0"/>
          </a:p>
        </p:txBody>
      </p:sp>
      <p:sp>
        <p:nvSpPr>
          <p:cNvPr id="41" name="矩形 40">
            <a:extLst>
              <a:ext uri="{FF2B5EF4-FFF2-40B4-BE49-F238E27FC236}">
                <a16:creationId xmlns:a16="http://schemas.microsoft.com/office/drawing/2014/main" id="{A4B3E929-D097-6DE7-3B29-AC1BF91F67E9}"/>
              </a:ext>
            </a:extLst>
          </p:cNvPr>
          <p:cNvSpPr/>
          <p:nvPr/>
        </p:nvSpPr>
        <p:spPr>
          <a:xfrm>
            <a:off x="595633" y="3164987"/>
            <a:ext cx="5385625" cy="2520196"/>
          </a:xfrm>
          <a:prstGeom prst="rect">
            <a:avLst/>
          </a:prstGeom>
          <a:noFill/>
          <a:ln w="28575" cmpd="sng">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F4D33905-1346-7F0F-6ABC-29CDC3EEECD3}"/>
              </a:ext>
            </a:extLst>
          </p:cNvPr>
          <p:cNvSpPr/>
          <p:nvPr/>
        </p:nvSpPr>
        <p:spPr>
          <a:xfrm>
            <a:off x="7138079" y="2146988"/>
            <a:ext cx="300517" cy="377692"/>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a:p>
        </p:txBody>
      </p:sp>
      <p:sp>
        <p:nvSpPr>
          <p:cNvPr id="44" name="箭头: 右 43">
            <a:extLst>
              <a:ext uri="{FF2B5EF4-FFF2-40B4-BE49-F238E27FC236}">
                <a16:creationId xmlns:a16="http://schemas.microsoft.com/office/drawing/2014/main" id="{F061AFC8-49E8-A379-D283-B6380D18F2D6}"/>
              </a:ext>
            </a:extLst>
          </p:cNvPr>
          <p:cNvSpPr/>
          <p:nvPr/>
        </p:nvSpPr>
        <p:spPr>
          <a:xfrm rot="10800000">
            <a:off x="4929508" y="2151662"/>
            <a:ext cx="300517" cy="377692"/>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a:p>
        </p:txBody>
      </p:sp>
      <p:sp>
        <p:nvSpPr>
          <p:cNvPr id="45" name="箭头: 下弧形 44">
            <a:extLst>
              <a:ext uri="{FF2B5EF4-FFF2-40B4-BE49-F238E27FC236}">
                <a16:creationId xmlns:a16="http://schemas.microsoft.com/office/drawing/2014/main" id="{3A158088-3277-D7B6-16C1-4AB2CAAE4D53}"/>
              </a:ext>
            </a:extLst>
          </p:cNvPr>
          <p:cNvSpPr/>
          <p:nvPr/>
        </p:nvSpPr>
        <p:spPr>
          <a:xfrm rot="15054102">
            <a:off x="10723323" y="2634461"/>
            <a:ext cx="793688" cy="381915"/>
          </a:xfrm>
          <a:prstGeom prst="curvedUp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solidFill>
                <a:schemeClr val="tx1"/>
              </a:solidFill>
            </a:endParaRPr>
          </a:p>
        </p:txBody>
      </p:sp>
      <p:sp>
        <p:nvSpPr>
          <p:cNvPr id="48" name="箭头: 下弧形 47">
            <a:extLst>
              <a:ext uri="{FF2B5EF4-FFF2-40B4-BE49-F238E27FC236}">
                <a16:creationId xmlns:a16="http://schemas.microsoft.com/office/drawing/2014/main" id="{156776F5-CA52-17BD-A371-3B46CC0A8E44}"/>
              </a:ext>
            </a:extLst>
          </p:cNvPr>
          <p:cNvSpPr/>
          <p:nvPr/>
        </p:nvSpPr>
        <p:spPr>
          <a:xfrm rot="6545898" flipH="1">
            <a:off x="702787" y="2649709"/>
            <a:ext cx="793688" cy="381915"/>
          </a:xfrm>
          <a:prstGeom prst="curvedUp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dirty="0">
              <a:solidFill>
                <a:schemeClr val="tx1"/>
              </a:solidFill>
            </a:endParaRPr>
          </a:p>
        </p:txBody>
      </p:sp>
      <p:sp>
        <p:nvSpPr>
          <p:cNvPr id="1026" name="箭头: 右 1025">
            <a:extLst>
              <a:ext uri="{FF2B5EF4-FFF2-40B4-BE49-F238E27FC236}">
                <a16:creationId xmlns:a16="http://schemas.microsoft.com/office/drawing/2014/main" id="{A1268D44-31EC-253D-6683-43017794DBD8}"/>
              </a:ext>
            </a:extLst>
          </p:cNvPr>
          <p:cNvSpPr/>
          <p:nvPr/>
        </p:nvSpPr>
        <p:spPr>
          <a:xfrm>
            <a:off x="5988902" y="3722792"/>
            <a:ext cx="300517" cy="377692"/>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9D219C68-0371-5E62-DE28-DEC08181295C}"/>
              </a:ext>
            </a:extLst>
          </p:cNvPr>
          <p:cNvPicPr>
            <a:picLocks noChangeAspect="1"/>
          </p:cNvPicPr>
          <p:nvPr/>
        </p:nvPicPr>
        <p:blipFill>
          <a:blip r:embed="rId3"/>
          <a:stretch>
            <a:fillRect/>
          </a:stretch>
        </p:blipFill>
        <p:spPr>
          <a:xfrm>
            <a:off x="5400046" y="1801411"/>
            <a:ext cx="1545616" cy="1161877"/>
          </a:xfrm>
          <a:prstGeom prst="rect">
            <a:avLst/>
          </a:prstGeom>
        </p:spPr>
      </p:pic>
      <p:pic>
        <p:nvPicPr>
          <p:cNvPr id="6" name="图片 5">
            <a:extLst>
              <a:ext uri="{FF2B5EF4-FFF2-40B4-BE49-F238E27FC236}">
                <a16:creationId xmlns:a16="http://schemas.microsoft.com/office/drawing/2014/main" id="{B40525FD-A702-482C-A4F1-2E8F5214E893}"/>
              </a:ext>
            </a:extLst>
          </p:cNvPr>
          <p:cNvPicPr>
            <a:picLocks noChangeAspect="1"/>
          </p:cNvPicPr>
          <p:nvPr/>
        </p:nvPicPr>
        <p:blipFill>
          <a:blip r:embed="rId4"/>
          <a:stretch>
            <a:fillRect/>
          </a:stretch>
        </p:blipFill>
        <p:spPr>
          <a:xfrm>
            <a:off x="7774132" y="1762573"/>
            <a:ext cx="2612078" cy="1261271"/>
          </a:xfrm>
          <a:prstGeom prst="rect">
            <a:avLst/>
          </a:prstGeom>
        </p:spPr>
      </p:pic>
      <p:pic>
        <p:nvPicPr>
          <p:cNvPr id="11" name="图片 10">
            <a:extLst>
              <a:ext uri="{FF2B5EF4-FFF2-40B4-BE49-F238E27FC236}">
                <a16:creationId xmlns:a16="http://schemas.microsoft.com/office/drawing/2014/main" id="{F3806FE4-73EE-B821-5A32-C6BC6D7D8B2F}"/>
              </a:ext>
            </a:extLst>
          </p:cNvPr>
          <p:cNvPicPr>
            <a:picLocks noChangeAspect="1"/>
          </p:cNvPicPr>
          <p:nvPr/>
        </p:nvPicPr>
        <p:blipFill>
          <a:blip r:embed="rId5"/>
          <a:stretch>
            <a:fillRect/>
          </a:stretch>
        </p:blipFill>
        <p:spPr>
          <a:xfrm>
            <a:off x="2039346" y="1743480"/>
            <a:ext cx="2310937" cy="1302102"/>
          </a:xfrm>
          <a:prstGeom prst="rect">
            <a:avLst/>
          </a:prstGeom>
        </p:spPr>
      </p:pic>
      <p:sp>
        <p:nvSpPr>
          <p:cNvPr id="12" name="矩形 11">
            <a:extLst>
              <a:ext uri="{FF2B5EF4-FFF2-40B4-BE49-F238E27FC236}">
                <a16:creationId xmlns:a16="http://schemas.microsoft.com/office/drawing/2014/main" id="{0BB00F14-3841-3567-2F12-7E332A99BF84}"/>
              </a:ext>
            </a:extLst>
          </p:cNvPr>
          <p:cNvSpPr/>
          <p:nvPr/>
        </p:nvSpPr>
        <p:spPr>
          <a:xfrm>
            <a:off x="6248115" y="3151097"/>
            <a:ext cx="5385625" cy="2534081"/>
          </a:xfrm>
          <a:prstGeom prst="rect">
            <a:avLst/>
          </a:prstGeom>
          <a:noFill/>
          <a:ln w="28575" cmpd="sng">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a:extLst>
              <a:ext uri="{FF2B5EF4-FFF2-40B4-BE49-F238E27FC236}">
                <a16:creationId xmlns:a16="http://schemas.microsoft.com/office/drawing/2014/main" id="{97D006B2-1E52-5809-3AD7-5C61AE2B489A}"/>
              </a:ext>
            </a:extLst>
          </p:cNvPr>
          <p:cNvPicPr>
            <a:picLocks noChangeAspect="1"/>
          </p:cNvPicPr>
          <p:nvPr/>
        </p:nvPicPr>
        <p:blipFill>
          <a:blip r:embed="rId6"/>
          <a:stretch>
            <a:fillRect/>
          </a:stretch>
        </p:blipFill>
        <p:spPr>
          <a:xfrm>
            <a:off x="810260" y="3288146"/>
            <a:ext cx="5003740" cy="2289073"/>
          </a:xfrm>
          <a:prstGeom prst="rect">
            <a:avLst/>
          </a:prstGeom>
        </p:spPr>
      </p:pic>
      <p:pic>
        <p:nvPicPr>
          <p:cNvPr id="14" name="图片 13">
            <a:extLst>
              <a:ext uri="{FF2B5EF4-FFF2-40B4-BE49-F238E27FC236}">
                <a16:creationId xmlns:a16="http://schemas.microsoft.com/office/drawing/2014/main" id="{9F20AC08-BFE5-C238-3E05-E2588D632AE8}"/>
              </a:ext>
            </a:extLst>
          </p:cNvPr>
          <p:cNvPicPr>
            <a:picLocks noChangeAspect="1"/>
          </p:cNvPicPr>
          <p:nvPr/>
        </p:nvPicPr>
        <p:blipFill>
          <a:blip r:embed="rId7"/>
          <a:stretch>
            <a:fillRect/>
          </a:stretch>
        </p:blipFill>
        <p:spPr>
          <a:xfrm>
            <a:off x="6332864" y="3312467"/>
            <a:ext cx="5216125" cy="2246677"/>
          </a:xfrm>
          <a:prstGeom prst="rect">
            <a:avLst/>
          </a:prstGeom>
        </p:spPr>
      </p:pic>
    </p:spTree>
    <p:extLst>
      <p:ext uri="{BB962C8B-B14F-4D97-AF65-F5344CB8AC3E}">
        <p14:creationId xmlns:p14="http://schemas.microsoft.com/office/powerpoint/2010/main" val="2766835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E2899F6-5FE1-2009-BDEB-05A3FBF7B053}"/>
              </a:ext>
            </a:extLst>
          </p:cNvPr>
          <p:cNvGrpSpPr/>
          <p:nvPr/>
        </p:nvGrpSpPr>
        <p:grpSpPr>
          <a:xfrm>
            <a:off x="1325301" y="1485265"/>
            <a:ext cx="1708898" cy="1209216"/>
            <a:chOff x="3026" y="2033"/>
            <a:chExt cx="2285" cy="1384"/>
          </a:xfrm>
        </p:grpSpPr>
        <p:sp>
          <p:nvSpPr>
            <p:cNvPr id="3" name="文本框 2">
              <a:extLst>
                <a:ext uri="{FF2B5EF4-FFF2-40B4-BE49-F238E27FC236}">
                  <a16:creationId xmlns:a16="http://schemas.microsoft.com/office/drawing/2014/main" id="{375095D8-478A-3895-9683-7BE230E2AD31}"/>
                </a:ext>
              </a:extLst>
            </p:cNvPr>
            <p:cNvSpPr txBox="1"/>
            <p:nvPr>
              <p:custDataLst>
                <p:tags r:id="rId11"/>
              </p:custDataLst>
            </p:nvPr>
          </p:nvSpPr>
          <p:spPr>
            <a:xfrm>
              <a:off x="3026" y="2947"/>
              <a:ext cx="2285" cy="470"/>
            </a:xfrm>
            <a:prstGeom prst="rect">
              <a:avLst/>
            </a:prstGeom>
            <a:noFill/>
          </p:spPr>
          <p:txBody>
            <a:bodyPr wrap="square" rtlCol="0">
              <a:spAutoFit/>
              <a:scene3d>
                <a:camera prst="orthographicFront"/>
                <a:lightRig rig="threePt" dir="t"/>
              </a:scene3d>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2E5696"/>
                  </a:solidFill>
                  <a:effectLst>
                    <a:outerShdw blurRad="38100" dist="25400" dir="5400000" algn="ctr" rotWithShape="0">
                      <a:srgbClr val="6E747A">
                        <a:alpha val="43000"/>
                      </a:srgbClr>
                    </a:outerShdw>
                  </a:effectLst>
                  <a:uLnTx/>
                  <a:uFillTx/>
                  <a:latin typeface="Arial"/>
                  <a:ea typeface="微软雅黑"/>
                </a:rPr>
                <a:t>CONTENTS</a:t>
              </a:r>
            </a:p>
          </p:txBody>
        </p:sp>
        <p:sp>
          <p:nvSpPr>
            <p:cNvPr id="5" name="文本框 4">
              <a:extLst>
                <a:ext uri="{FF2B5EF4-FFF2-40B4-BE49-F238E27FC236}">
                  <a16:creationId xmlns:a16="http://schemas.microsoft.com/office/drawing/2014/main" id="{15E293EC-CC86-BEE4-9B97-69CC99614F37}"/>
                </a:ext>
              </a:extLst>
            </p:cNvPr>
            <p:cNvSpPr txBox="1"/>
            <p:nvPr>
              <p:custDataLst>
                <p:tags r:id="rId12"/>
              </p:custDataLst>
            </p:nvPr>
          </p:nvSpPr>
          <p:spPr>
            <a:xfrm>
              <a:off x="3243" y="2033"/>
              <a:ext cx="1850" cy="784"/>
            </a:xfrm>
            <a:prstGeom prst="rect">
              <a:avLst/>
            </a:prstGeom>
            <a:noFill/>
          </p:spPr>
          <p:txBody>
            <a:bodyPr wrap="square" bIns="0" rtlCol="0">
              <a:spAutoFit/>
              <a:scene3d>
                <a:camera prst="orthographicFront"/>
                <a:lightRig rig="threePt" dir="t"/>
              </a:scene3d>
            </a:bodyPr>
            <a:lstStyle/>
            <a:p>
              <a:pPr marL="0" marR="0" lvl="0" indent="0" algn="dist" defTabSz="914400" eaLnBrk="1" fontAlgn="auto" latinLnBrk="0" hangingPunct="1">
                <a:lnSpc>
                  <a:spcPct val="130000"/>
                </a:lnSpc>
                <a:spcBef>
                  <a:spcPts val="0"/>
                </a:spcBef>
                <a:spcAft>
                  <a:spcPts val="0"/>
                </a:spcAft>
                <a:buClrTx/>
                <a:buSzTx/>
                <a:buFontTx/>
                <a:buNone/>
                <a:tabLst/>
                <a:defRPr/>
              </a:pPr>
              <a:r>
                <a:rPr kumimoji="0" lang="zh-CN" altLang="en-US" sz="3200" b="0" i="0" u="none" strike="noStrike" kern="0" cap="none" spc="0" normalizeH="0" baseline="0" noProof="0">
                  <a:ln>
                    <a:noFill/>
                  </a:ln>
                  <a:solidFill>
                    <a:srgbClr val="2E5696"/>
                  </a:solidFill>
                  <a:effectLst>
                    <a:reflection blurRad="6350" stA="53000" endA="300" endPos="35500" dir="5400000" sy="-90000" algn="bl" rotWithShape="0"/>
                  </a:effectLst>
                  <a:uLnTx/>
                  <a:uFillTx/>
                  <a:latin typeface="Arial"/>
                  <a:ea typeface="微软雅黑"/>
                </a:rPr>
                <a:t>目录</a:t>
              </a:r>
            </a:p>
          </p:txBody>
        </p:sp>
        <p:cxnSp>
          <p:nvCxnSpPr>
            <p:cNvPr id="6" name="直接连接符 5">
              <a:extLst>
                <a:ext uri="{FF2B5EF4-FFF2-40B4-BE49-F238E27FC236}">
                  <a16:creationId xmlns:a16="http://schemas.microsoft.com/office/drawing/2014/main" id="{F4F137CF-0473-A5E1-BF4A-C7BF1238D4AB}"/>
                </a:ext>
              </a:extLst>
            </p:cNvPr>
            <p:cNvCxnSpPr/>
            <p:nvPr>
              <p:custDataLst>
                <p:tags r:id="rId13"/>
              </p:custDataLst>
            </p:nvPr>
          </p:nvCxnSpPr>
          <p:spPr>
            <a:xfrm flipV="1">
              <a:off x="3242" y="2918"/>
              <a:ext cx="1907" cy="2"/>
            </a:xfrm>
            <a:prstGeom prst="line">
              <a:avLst/>
            </a:prstGeom>
            <a:noFill/>
            <a:ln w="19050" cap="flat" cmpd="sng" algn="ctr">
              <a:solidFill>
                <a:srgbClr val="4472C4"/>
              </a:solidFill>
              <a:prstDash val="solid"/>
              <a:miter lim="800000"/>
            </a:ln>
            <a:effectLst/>
          </p:spPr>
        </p:cxnSp>
      </p:grpSp>
      <p:sp>
        <p:nvSpPr>
          <p:cNvPr id="7" name="文本框 6">
            <a:extLst>
              <a:ext uri="{FF2B5EF4-FFF2-40B4-BE49-F238E27FC236}">
                <a16:creationId xmlns:a16="http://schemas.microsoft.com/office/drawing/2014/main" id="{E5A4A758-398A-6B61-185B-BD0A4E4D6FEE}"/>
              </a:ext>
            </a:extLst>
          </p:cNvPr>
          <p:cNvSpPr txBox="1"/>
          <p:nvPr>
            <p:custDataLst>
              <p:tags r:id="rId1"/>
            </p:custDataLst>
          </p:nvPr>
        </p:nvSpPr>
        <p:spPr>
          <a:xfrm>
            <a:off x="5227293" y="1591333"/>
            <a:ext cx="5952199" cy="491490"/>
          </a:xfrm>
          <a:prstGeom prst="rect">
            <a:avLst/>
          </a:prstGeom>
          <a:noFill/>
        </p:spPr>
        <p:txBody>
          <a:bodyPr wrap="square" rtlCol="0">
            <a:spAutoFit/>
          </a:bodyPr>
          <a:lstStyle/>
          <a:p>
            <a:pPr>
              <a:lnSpc>
                <a:spcPct val="130000"/>
              </a:lnSpc>
            </a:pPr>
            <a:r>
              <a:rPr lang="zh-CN" altLang="en-US" sz="2000" dirty="0">
                <a:solidFill>
                  <a:srgbClr val="E7E6E6"/>
                </a:solidFill>
                <a:latin typeface="微软雅黑" panose="020B0503020204020204" charset="-122"/>
                <a:ea typeface="微软雅黑" panose="020B0503020204020204" charset="-122"/>
                <a:sym typeface="+mn-ea"/>
              </a:rPr>
              <a:t>研究背景和研究意义</a:t>
            </a:r>
          </a:p>
        </p:txBody>
      </p:sp>
      <p:sp>
        <p:nvSpPr>
          <p:cNvPr id="8" name="文本框 7">
            <a:extLst>
              <a:ext uri="{FF2B5EF4-FFF2-40B4-BE49-F238E27FC236}">
                <a16:creationId xmlns:a16="http://schemas.microsoft.com/office/drawing/2014/main" id="{96189744-B4AF-059C-B62E-8046A7A18976}"/>
              </a:ext>
            </a:extLst>
          </p:cNvPr>
          <p:cNvSpPr txBox="1"/>
          <p:nvPr>
            <p:custDataLst>
              <p:tags r:id="rId2"/>
            </p:custDataLst>
          </p:nvPr>
        </p:nvSpPr>
        <p:spPr>
          <a:xfrm>
            <a:off x="4483617" y="1517006"/>
            <a:ext cx="717550" cy="650875"/>
          </a:xfrm>
          <a:prstGeom prst="rect">
            <a:avLst/>
          </a:prstGeom>
          <a:noFill/>
        </p:spPr>
        <p:txBody>
          <a:bodyPr wrap="square" rtlCol="0">
            <a:spAutoFit/>
          </a:bodyPr>
          <a:lstStyle/>
          <a:p>
            <a:pPr>
              <a:lnSpc>
                <a:spcPct val="130000"/>
              </a:lnSpc>
            </a:pPr>
            <a:r>
              <a:rPr lang="en-US" altLang="zh-CN" sz="2800" dirty="0">
                <a:solidFill>
                  <a:srgbClr val="E7E6E6"/>
                </a:solidFill>
                <a:effectLst>
                  <a:reflection blurRad="6350" stA="53000" endA="300" endPos="35500" dir="5400000" sy="-90000" algn="bl" rotWithShape="0"/>
                </a:effectLst>
                <a:latin typeface="Arial"/>
                <a:ea typeface="微软雅黑"/>
              </a:rPr>
              <a:t>01</a:t>
            </a:r>
            <a:endParaRPr lang="en-US" altLang="zh-CN" sz="2800" dirty="0">
              <a:solidFill>
                <a:srgbClr val="2E5696"/>
              </a:solidFill>
              <a:effectLst>
                <a:reflection blurRad="6350" stA="53000" endA="300" endPos="35500" dir="5400000" sy="-90000" algn="bl" rotWithShape="0"/>
              </a:effectLst>
              <a:latin typeface="Arial"/>
              <a:ea typeface="微软雅黑"/>
            </a:endParaRPr>
          </a:p>
        </p:txBody>
      </p:sp>
      <p:sp>
        <p:nvSpPr>
          <p:cNvPr id="9" name="文本框 8">
            <a:extLst>
              <a:ext uri="{FF2B5EF4-FFF2-40B4-BE49-F238E27FC236}">
                <a16:creationId xmlns:a16="http://schemas.microsoft.com/office/drawing/2014/main" id="{F61ECB37-8305-6213-8413-224BD63EDD19}"/>
              </a:ext>
            </a:extLst>
          </p:cNvPr>
          <p:cNvSpPr txBox="1"/>
          <p:nvPr>
            <p:custDataLst>
              <p:tags r:id="rId3"/>
            </p:custDataLst>
          </p:nvPr>
        </p:nvSpPr>
        <p:spPr>
          <a:xfrm>
            <a:off x="5227293" y="2338251"/>
            <a:ext cx="5952199" cy="491490"/>
          </a:xfrm>
          <a:prstGeom prst="rect">
            <a:avLst/>
          </a:prstGeom>
          <a:noFill/>
        </p:spPr>
        <p:txBody>
          <a:bodyPr wrap="square" rtlCol="0">
            <a:spAutoFit/>
          </a:bodyPr>
          <a:lstStyle/>
          <a:p>
            <a:pPr>
              <a:lnSpc>
                <a:spcPct val="130000"/>
              </a:lnSpc>
            </a:pPr>
            <a:r>
              <a:rPr lang="zh-CN" altLang="en-US" sz="2000" dirty="0">
                <a:solidFill>
                  <a:prstClr val="black"/>
                </a:solidFill>
                <a:latin typeface="微软雅黑" panose="020B0503020204020204" charset="-122"/>
                <a:ea typeface="微软雅黑" panose="020B0503020204020204" charset="-122"/>
                <a:sym typeface="+mn-ea"/>
              </a:rPr>
              <a:t>国内外研究现状</a:t>
            </a:r>
          </a:p>
        </p:txBody>
      </p:sp>
      <p:sp>
        <p:nvSpPr>
          <p:cNvPr id="10" name="文本框 9">
            <a:extLst>
              <a:ext uri="{FF2B5EF4-FFF2-40B4-BE49-F238E27FC236}">
                <a16:creationId xmlns:a16="http://schemas.microsoft.com/office/drawing/2014/main" id="{25AB630A-47E4-B472-52B0-B8244BAAB9CA}"/>
              </a:ext>
            </a:extLst>
          </p:cNvPr>
          <p:cNvSpPr txBox="1"/>
          <p:nvPr>
            <p:custDataLst>
              <p:tags r:id="rId4"/>
            </p:custDataLst>
          </p:nvPr>
        </p:nvSpPr>
        <p:spPr>
          <a:xfrm>
            <a:off x="4483617" y="2263289"/>
            <a:ext cx="717550" cy="650875"/>
          </a:xfrm>
          <a:prstGeom prst="rect">
            <a:avLst/>
          </a:prstGeom>
          <a:noFill/>
        </p:spPr>
        <p:txBody>
          <a:bodyPr wrap="square" rtlCol="0">
            <a:spAutoFit/>
          </a:bodyPr>
          <a:lstStyle/>
          <a:p>
            <a:pPr>
              <a:lnSpc>
                <a:spcPct val="130000"/>
              </a:lnSpc>
            </a:pPr>
            <a:r>
              <a:rPr lang="en-US" altLang="zh-CN" sz="2800" dirty="0">
                <a:solidFill>
                  <a:srgbClr val="2E5696"/>
                </a:solidFill>
                <a:effectLst>
                  <a:reflection blurRad="6350" stA="53000" endA="300" endPos="35500" dir="5400000" sy="-90000" algn="bl" rotWithShape="0"/>
                </a:effectLst>
                <a:latin typeface="Arial"/>
                <a:ea typeface="微软雅黑"/>
              </a:rPr>
              <a:t>02</a:t>
            </a:r>
          </a:p>
        </p:txBody>
      </p:sp>
      <p:sp>
        <p:nvSpPr>
          <p:cNvPr id="11" name="文本框 10">
            <a:extLst>
              <a:ext uri="{FF2B5EF4-FFF2-40B4-BE49-F238E27FC236}">
                <a16:creationId xmlns:a16="http://schemas.microsoft.com/office/drawing/2014/main" id="{D5A84F6F-8C49-23C6-EF60-2863EF9FF336}"/>
              </a:ext>
            </a:extLst>
          </p:cNvPr>
          <p:cNvSpPr txBox="1"/>
          <p:nvPr>
            <p:custDataLst>
              <p:tags r:id="rId5"/>
            </p:custDataLst>
          </p:nvPr>
        </p:nvSpPr>
        <p:spPr>
          <a:xfrm>
            <a:off x="5227293" y="3084534"/>
            <a:ext cx="5952199" cy="491490"/>
          </a:xfrm>
          <a:prstGeom prst="rect">
            <a:avLst/>
          </a:prstGeom>
          <a:noFill/>
        </p:spPr>
        <p:txBody>
          <a:bodyPr wrap="square" rtlCol="0">
            <a:spAutoFit/>
          </a:bodyPr>
          <a:lstStyle/>
          <a:p>
            <a:pPr>
              <a:lnSpc>
                <a:spcPct val="130000"/>
              </a:lnSpc>
            </a:pPr>
            <a:r>
              <a:rPr lang="zh-CN" altLang="en-US" sz="2000" dirty="0">
                <a:solidFill>
                  <a:srgbClr val="E7E6E6"/>
                </a:solidFill>
                <a:latin typeface="微软雅黑" panose="020B0503020204020204" charset="-122"/>
                <a:ea typeface="微软雅黑" panose="020B0503020204020204" charset="-122"/>
                <a:sym typeface="+mn-ea"/>
              </a:rPr>
              <a:t>研究内容</a:t>
            </a:r>
            <a:endParaRPr lang="zh-CN" altLang="en-US" sz="2000" spc="120" dirty="0">
              <a:solidFill>
                <a:srgbClr val="E7E6E6"/>
              </a:solidFill>
              <a:latin typeface="微软雅黑" panose="020B0503020204020204" charset="-122"/>
              <a:ea typeface="微软雅黑" panose="020B0503020204020204" charset="-122"/>
              <a:sym typeface="+mn-ea"/>
            </a:endParaRPr>
          </a:p>
        </p:txBody>
      </p:sp>
      <p:sp>
        <p:nvSpPr>
          <p:cNvPr id="12" name="文本框 11">
            <a:extLst>
              <a:ext uri="{FF2B5EF4-FFF2-40B4-BE49-F238E27FC236}">
                <a16:creationId xmlns:a16="http://schemas.microsoft.com/office/drawing/2014/main" id="{4D975E3C-D5C6-5378-064C-ACE5452E80CA}"/>
              </a:ext>
            </a:extLst>
          </p:cNvPr>
          <p:cNvSpPr txBox="1"/>
          <p:nvPr>
            <p:custDataLst>
              <p:tags r:id="rId6"/>
            </p:custDataLst>
          </p:nvPr>
        </p:nvSpPr>
        <p:spPr>
          <a:xfrm>
            <a:off x="4483617" y="3009572"/>
            <a:ext cx="717550" cy="650875"/>
          </a:xfrm>
          <a:prstGeom prst="rect">
            <a:avLst/>
          </a:prstGeom>
          <a:noFill/>
        </p:spPr>
        <p:txBody>
          <a:bodyPr wrap="square" rtlCol="0">
            <a:spAutoFit/>
          </a:bodyPr>
          <a:lstStyle/>
          <a:p>
            <a:pPr>
              <a:lnSpc>
                <a:spcPct val="130000"/>
              </a:lnSpc>
            </a:pPr>
            <a:r>
              <a:rPr lang="en-US" altLang="zh-CN" sz="2800" dirty="0">
                <a:solidFill>
                  <a:srgbClr val="E7E6E6"/>
                </a:solidFill>
                <a:effectLst>
                  <a:reflection blurRad="6350" stA="53000" endA="300" endPos="35500" dir="5400000" sy="-90000" algn="bl" rotWithShape="0"/>
                </a:effectLst>
                <a:latin typeface="Arial"/>
                <a:ea typeface="微软雅黑"/>
              </a:rPr>
              <a:t>03</a:t>
            </a:r>
          </a:p>
        </p:txBody>
      </p:sp>
      <p:sp>
        <p:nvSpPr>
          <p:cNvPr id="13" name="文本框 12">
            <a:extLst>
              <a:ext uri="{FF2B5EF4-FFF2-40B4-BE49-F238E27FC236}">
                <a16:creationId xmlns:a16="http://schemas.microsoft.com/office/drawing/2014/main" id="{81B22CAB-5249-8008-2509-4962CA1F0B6D}"/>
              </a:ext>
            </a:extLst>
          </p:cNvPr>
          <p:cNvSpPr txBox="1"/>
          <p:nvPr>
            <p:custDataLst>
              <p:tags r:id="rId7"/>
            </p:custDataLst>
          </p:nvPr>
        </p:nvSpPr>
        <p:spPr>
          <a:xfrm>
            <a:off x="5227293" y="3861476"/>
            <a:ext cx="5952199" cy="491490"/>
          </a:xfrm>
          <a:prstGeom prst="rect">
            <a:avLst/>
          </a:prstGeom>
          <a:noFill/>
        </p:spPr>
        <p:txBody>
          <a:bodyPr wrap="square" rtlCol="0">
            <a:spAutoFit/>
          </a:bodyPr>
          <a:lstStyle/>
          <a:p>
            <a:pPr>
              <a:lnSpc>
                <a:spcPct val="130000"/>
              </a:lnSpc>
            </a:pPr>
            <a:r>
              <a:rPr lang="zh-CN" altLang="en-US" sz="2000" dirty="0">
                <a:solidFill>
                  <a:srgbClr val="E7E6E6"/>
                </a:solidFill>
                <a:latin typeface="微软雅黑" panose="020B0503020204020204" charset="-122"/>
                <a:ea typeface="微软雅黑" panose="020B0503020204020204" charset="-122"/>
                <a:sym typeface="+mn-ea"/>
              </a:rPr>
              <a:t>研究进展</a:t>
            </a:r>
          </a:p>
        </p:txBody>
      </p:sp>
      <p:sp>
        <p:nvSpPr>
          <p:cNvPr id="14" name="文本框 13">
            <a:extLst>
              <a:ext uri="{FF2B5EF4-FFF2-40B4-BE49-F238E27FC236}">
                <a16:creationId xmlns:a16="http://schemas.microsoft.com/office/drawing/2014/main" id="{3679051E-E499-2FC9-751F-748BE57BD855}"/>
              </a:ext>
            </a:extLst>
          </p:cNvPr>
          <p:cNvSpPr txBox="1"/>
          <p:nvPr>
            <p:custDataLst>
              <p:tags r:id="rId8"/>
            </p:custDataLst>
          </p:nvPr>
        </p:nvSpPr>
        <p:spPr>
          <a:xfrm>
            <a:off x="4483617" y="3755855"/>
            <a:ext cx="717550" cy="650875"/>
          </a:xfrm>
          <a:prstGeom prst="rect">
            <a:avLst/>
          </a:prstGeom>
          <a:noFill/>
        </p:spPr>
        <p:txBody>
          <a:bodyPr wrap="square" rtlCol="0">
            <a:spAutoFit/>
          </a:bodyPr>
          <a:lstStyle/>
          <a:p>
            <a:pPr>
              <a:lnSpc>
                <a:spcPct val="130000"/>
              </a:lnSpc>
            </a:pPr>
            <a:r>
              <a:rPr lang="en-US" altLang="zh-CN" sz="2800" dirty="0">
                <a:solidFill>
                  <a:srgbClr val="E7E6E6"/>
                </a:solidFill>
                <a:effectLst>
                  <a:reflection blurRad="6350" stA="53000" endA="300" endPos="35500" dir="5400000" sy="-90000" algn="bl" rotWithShape="0"/>
                </a:effectLst>
                <a:latin typeface="Arial"/>
                <a:ea typeface="微软雅黑"/>
              </a:rPr>
              <a:t>04</a:t>
            </a:r>
          </a:p>
        </p:txBody>
      </p:sp>
      <p:sp>
        <p:nvSpPr>
          <p:cNvPr id="15" name="文本框 14">
            <a:extLst>
              <a:ext uri="{FF2B5EF4-FFF2-40B4-BE49-F238E27FC236}">
                <a16:creationId xmlns:a16="http://schemas.microsoft.com/office/drawing/2014/main" id="{28C3CE78-F74A-DB83-3773-9E5B927B6160}"/>
              </a:ext>
            </a:extLst>
          </p:cNvPr>
          <p:cNvSpPr txBox="1"/>
          <p:nvPr>
            <p:custDataLst>
              <p:tags r:id="rId9"/>
            </p:custDataLst>
          </p:nvPr>
        </p:nvSpPr>
        <p:spPr>
          <a:xfrm>
            <a:off x="5227293" y="4577102"/>
            <a:ext cx="5952199" cy="491490"/>
          </a:xfrm>
          <a:prstGeom prst="rect">
            <a:avLst/>
          </a:prstGeom>
          <a:noFill/>
        </p:spPr>
        <p:txBody>
          <a:bodyPr wrap="square" rtlCol="0">
            <a:spAutoFit/>
          </a:bodyPr>
          <a:lstStyle/>
          <a:p>
            <a:pPr>
              <a:lnSpc>
                <a:spcPct val="130000"/>
              </a:lnSpc>
            </a:pPr>
            <a:r>
              <a:rPr lang="zh-CN" altLang="en-US" sz="2000" dirty="0">
                <a:solidFill>
                  <a:srgbClr val="E7E6E6"/>
                </a:solidFill>
                <a:latin typeface="微软雅黑" panose="020B0503020204020204" charset="-122"/>
                <a:ea typeface="微软雅黑" panose="020B0503020204020204" charset="-122"/>
                <a:sym typeface="+mn-ea"/>
              </a:rPr>
              <a:t>预期目标及创新之处</a:t>
            </a:r>
          </a:p>
        </p:txBody>
      </p:sp>
      <p:sp>
        <p:nvSpPr>
          <p:cNvPr id="16" name="文本框 15">
            <a:extLst>
              <a:ext uri="{FF2B5EF4-FFF2-40B4-BE49-F238E27FC236}">
                <a16:creationId xmlns:a16="http://schemas.microsoft.com/office/drawing/2014/main" id="{82350926-CCBE-C896-5EB7-08B8F8DD0C35}"/>
              </a:ext>
            </a:extLst>
          </p:cNvPr>
          <p:cNvSpPr txBox="1"/>
          <p:nvPr>
            <p:custDataLst>
              <p:tags r:id="rId10"/>
            </p:custDataLst>
          </p:nvPr>
        </p:nvSpPr>
        <p:spPr>
          <a:xfrm>
            <a:off x="4483617" y="4502140"/>
            <a:ext cx="717550" cy="650875"/>
          </a:xfrm>
          <a:prstGeom prst="rect">
            <a:avLst/>
          </a:prstGeom>
          <a:noFill/>
        </p:spPr>
        <p:txBody>
          <a:bodyPr wrap="square" rtlCol="0">
            <a:spAutoFit/>
          </a:bodyPr>
          <a:lstStyle/>
          <a:p>
            <a:pPr>
              <a:lnSpc>
                <a:spcPct val="130000"/>
              </a:lnSpc>
            </a:pPr>
            <a:r>
              <a:rPr lang="en-US" altLang="zh-CN" sz="2800" dirty="0">
                <a:solidFill>
                  <a:srgbClr val="E7E6E6"/>
                </a:solidFill>
                <a:effectLst>
                  <a:reflection blurRad="6350" stA="53000" endA="300" endPos="35500" dir="5400000" sy="-90000" algn="bl" rotWithShape="0"/>
                </a:effectLst>
                <a:latin typeface="Arial"/>
                <a:ea typeface="微软雅黑"/>
              </a:rPr>
              <a:t>05</a:t>
            </a:r>
          </a:p>
        </p:txBody>
      </p:sp>
      <p:grpSp>
        <p:nvGrpSpPr>
          <p:cNvPr id="22" name="组合 21">
            <a:extLst>
              <a:ext uri="{FF2B5EF4-FFF2-40B4-BE49-F238E27FC236}">
                <a16:creationId xmlns:a16="http://schemas.microsoft.com/office/drawing/2014/main" id="{E95E554E-EEBD-DB71-7FE2-D78C4B778478}"/>
              </a:ext>
            </a:extLst>
          </p:cNvPr>
          <p:cNvGrpSpPr/>
          <p:nvPr/>
        </p:nvGrpSpPr>
        <p:grpSpPr>
          <a:xfrm>
            <a:off x="234315" y="203200"/>
            <a:ext cx="6313170" cy="597535"/>
            <a:chOff x="234315" y="203200"/>
            <a:chExt cx="6313170" cy="597535"/>
          </a:xfrm>
        </p:grpSpPr>
        <p:sp>
          <p:nvSpPr>
            <p:cNvPr id="27" name="TextBox 28">
              <a:extLst>
                <a:ext uri="{FF2B5EF4-FFF2-40B4-BE49-F238E27FC236}">
                  <a16:creationId xmlns:a16="http://schemas.microsoft.com/office/drawing/2014/main" id="{95F66AA5-7BD6-EBF9-EF32-64DEF2E6471D}"/>
                </a:ext>
              </a:extLst>
            </p:cNvPr>
            <p:cNvSpPr txBox="1"/>
            <p:nvPr/>
          </p:nvSpPr>
          <p:spPr>
            <a:xfrm>
              <a:off x="864870" y="262890"/>
              <a:ext cx="5682615" cy="535940"/>
            </a:xfrm>
            <a:prstGeom prst="rect">
              <a:avLst/>
            </a:prstGeom>
            <a:noFill/>
          </p:spPr>
          <p:txBody>
            <a:bodyPr wrap="square" lIns="105509" tIns="52755" rIns="105509" bIns="52755"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600" normalizeH="0" baseline="0" noProof="0" dirty="0">
                <a:ln>
                  <a:noFill/>
                </a:ln>
                <a:solidFill>
                  <a:srgbClr val="2E5696"/>
                </a:solidFill>
                <a:effectLst/>
                <a:uLnTx/>
                <a:uFillTx/>
                <a:latin typeface="黑体" panose="02010609060101010101" charset="-122"/>
                <a:ea typeface="黑体" panose="02010609060101010101" charset="-122"/>
                <a:sym typeface="+mn-ea"/>
              </a:endParaRPr>
            </a:p>
          </p:txBody>
        </p:sp>
        <p:sp>
          <p:nvSpPr>
            <p:cNvPr id="24" name="矩形 23">
              <a:extLst>
                <a:ext uri="{FF2B5EF4-FFF2-40B4-BE49-F238E27FC236}">
                  <a16:creationId xmlns:a16="http://schemas.microsoft.com/office/drawing/2014/main" id="{5FD4BCB8-6A5C-BC74-8A59-015C2ADF220A}"/>
                </a:ext>
              </a:extLst>
            </p:cNvPr>
            <p:cNvSpPr/>
            <p:nvPr/>
          </p:nvSpPr>
          <p:spPr>
            <a:xfrm>
              <a:off x="234315" y="203200"/>
              <a:ext cx="496570" cy="496570"/>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25" name="矩形 24">
              <a:extLst>
                <a:ext uri="{FF2B5EF4-FFF2-40B4-BE49-F238E27FC236}">
                  <a16:creationId xmlns:a16="http://schemas.microsoft.com/office/drawing/2014/main" id="{EC1C6731-3FAE-40F5-BA0F-415F3D466424}"/>
                </a:ext>
              </a:extLst>
            </p:cNvPr>
            <p:cNvSpPr/>
            <p:nvPr/>
          </p:nvSpPr>
          <p:spPr>
            <a:xfrm>
              <a:off x="478790" y="469265"/>
              <a:ext cx="331470" cy="331470"/>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grpSp>
      <p:cxnSp>
        <p:nvCxnSpPr>
          <p:cNvPr id="28" name="直接连接符 46">
            <a:extLst>
              <a:ext uri="{FF2B5EF4-FFF2-40B4-BE49-F238E27FC236}">
                <a16:creationId xmlns:a16="http://schemas.microsoft.com/office/drawing/2014/main" id="{7FC9B3C7-A6FF-5F1C-4A5F-11E6A4E553FB}"/>
              </a:ext>
            </a:extLst>
          </p:cNvPr>
          <p:cNvCxnSpPr>
            <a:cxnSpLocks noChangeShapeType="1"/>
          </p:cNvCxnSpPr>
          <p:nvPr/>
        </p:nvCxnSpPr>
        <p:spPr bwMode="auto">
          <a:xfrm flipH="1">
            <a:off x="864870" y="872490"/>
            <a:ext cx="11134725" cy="0"/>
          </a:xfrm>
          <a:prstGeom prst="line">
            <a:avLst/>
          </a:prstGeom>
          <a:noFill/>
          <a:ln w="9525" cmpd="sng">
            <a:solidFill>
              <a:srgbClr val="4D4948"/>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623455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a:extLst>
              <a:ext uri="{FF2B5EF4-FFF2-40B4-BE49-F238E27FC236}">
                <a16:creationId xmlns:a16="http://schemas.microsoft.com/office/drawing/2014/main" id="{25A8663E-1190-3BD9-C439-3C5867AEE4E7}"/>
              </a:ext>
            </a:extLst>
          </p:cNvPr>
          <p:cNvSpPr/>
          <p:nvPr/>
        </p:nvSpPr>
        <p:spPr>
          <a:xfrm>
            <a:off x="4196594" y="3868016"/>
            <a:ext cx="6989899" cy="242321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zh-CN" altLang="en-US" sz="1800" dirty="0">
                <a:solidFill>
                  <a:srgbClr val="FF0000"/>
                </a:solidFill>
                <a:effectLst/>
              </a:rPr>
              <a:t>基于模型的端点检测算法</a:t>
            </a:r>
            <a:r>
              <a:rPr lang="zh-CN" altLang="en-US" sz="1800" dirty="0">
                <a:effectLst/>
              </a:rPr>
              <a:t>是将语音信号端点检测问题转化成语音帧分类问题，通过建立语音</a:t>
            </a:r>
            <a:r>
              <a:rPr lang="en-US" altLang="zh-CN" sz="1800" dirty="0">
                <a:effectLst/>
                <a:latin typeface="Times New Roman" panose="02020603050405020304" pitchFamily="18" charset="0"/>
              </a:rPr>
              <a:t>/</a:t>
            </a:r>
            <a:r>
              <a:rPr lang="zh-CN" altLang="en-US" sz="1800" dirty="0">
                <a:effectLst/>
              </a:rPr>
              <a:t>非语音帧的二分类模型实现语音段起止点检测。</a:t>
            </a:r>
            <a:endParaRPr lang="en-US" altLang="zh-CN" sz="1800" dirty="0">
              <a:effectLst/>
            </a:endParaRPr>
          </a:p>
          <a:p>
            <a:endParaRPr lang="en-US" altLang="zh-CN" dirty="0"/>
          </a:p>
          <a:p>
            <a:r>
              <a:rPr lang="zh-CN" altLang="en-US" sz="1800" dirty="0">
                <a:effectLst/>
              </a:rPr>
              <a:t>这一 方法考虑了相邻语音帧之间的相关性以及误差的先验概率，因此能够比较正确的找到语音</a:t>
            </a:r>
            <a:r>
              <a:rPr lang="en-US" altLang="zh-CN" sz="1800" dirty="0">
                <a:effectLst/>
                <a:latin typeface="Times New Roman" panose="02020603050405020304" pitchFamily="18" charset="0"/>
              </a:rPr>
              <a:t>/</a:t>
            </a:r>
            <a:r>
              <a:rPr lang="zh-CN" altLang="en-US" sz="1800" dirty="0">
                <a:effectLst/>
              </a:rPr>
              <a:t>非语音段的分界面。然而，当前绝大数模型方法很难同时学习多种噪声特性，不同噪声往往互相干 扰，且很难扩展到集外噪声。 </a:t>
            </a:r>
            <a:endParaRPr lang="zh-CN" altLang="en-US" dirty="0"/>
          </a:p>
          <a:p>
            <a:pPr algn="ctr"/>
            <a:endParaRPr lang="zh-CN" altLang="en-US" dirty="0">
              <a:latin typeface="Times New Roman" panose="02020603050405020304" pitchFamily="18" charset="0"/>
              <a:cs typeface="Times New Roman" panose="02020603050405020304" pitchFamily="18" charset="0"/>
            </a:endParaRPr>
          </a:p>
        </p:txBody>
      </p:sp>
      <p:grpSp>
        <p:nvGrpSpPr>
          <p:cNvPr id="5" name="组合 4">
            <a:extLst>
              <a:ext uri="{FF2B5EF4-FFF2-40B4-BE49-F238E27FC236}">
                <a16:creationId xmlns:a16="http://schemas.microsoft.com/office/drawing/2014/main" id="{702D3434-52F2-23F6-F1D0-433A4B533FD7}"/>
              </a:ext>
            </a:extLst>
          </p:cNvPr>
          <p:cNvGrpSpPr/>
          <p:nvPr/>
        </p:nvGrpSpPr>
        <p:grpSpPr>
          <a:xfrm>
            <a:off x="234315" y="203200"/>
            <a:ext cx="6303645" cy="597535"/>
            <a:chOff x="369" y="320"/>
            <a:chExt cx="9927" cy="941"/>
          </a:xfrm>
        </p:grpSpPr>
        <p:sp>
          <p:nvSpPr>
            <p:cNvPr id="6" name="矩形 5">
              <a:extLst>
                <a:ext uri="{FF2B5EF4-FFF2-40B4-BE49-F238E27FC236}">
                  <a16:creationId xmlns:a16="http://schemas.microsoft.com/office/drawing/2014/main" id="{2EA265AC-BB4D-EA86-66D9-2DA2468EBFBE}"/>
                </a:ext>
              </a:extLst>
            </p:cNvPr>
            <p:cNvSpPr/>
            <p:nvPr/>
          </p:nvSpPr>
          <p:spPr>
            <a:xfrm>
              <a:off x="369" y="320"/>
              <a:ext cx="782" cy="782"/>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7" name="矩形 6">
              <a:extLst>
                <a:ext uri="{FF2B5EF4-FFF2-40B4-BE49-F238E27FC236}">
                  <a16:creationId xmlns:a16="http://schemas.microsoft.com/office/drawing/2014/main" id="{ED1B4643-3D6C-243D-942E-0BC58EC97521}"/>
                </a:ext>
              </a:extLst>
            </p:cNvPr>
            <p:cNvSpPr/>
            <p:nvPr/>
          </p:nvSpPr>
          <p:spPr>
            <a:xfrm>
              <a:off x="754" y="739"/>
              <a:ext cx="522" cy="522"/>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9" name="TextBox 28">
              <a:extLst>
                <a:ext uri="{FF2B5EF4-FFF2-40B4-BE49-F238E27FC236}">
                  <a16:creationId xmlns:a16="http://schemas.microsoft.com/office/drawing/2014/main" id="{BFB39BC4-DACE-286E-7BF0-93C4E916DB35}"/>
                </a:ext>
              </a:extLst>
            </p:cNvPr>
            <p:cNvSpPr txBox="1"/>
            <p:nvPr/>
          </p:nvSpPr>
          <p:spPr>
            <a:xfrm>
              <a:off x="1347" y="414"/>
              <a:ext cx="8949" cy="844"/>
            </a:xfrm>
            <a:prstGeom prst="rect">
              <a:avLst/>
            </a:prstGeom>
            <a:noFill/>
          </p:spPr>
          <p:txBody>
            <a:bodyPr wrap="square" lIns="105509" tIns="52755" rIns="105509" bIns="52755" rtlCol="0">
              <a:spAutoFit/>
            </a:bodyPr>
            <a:lstStyle>
              <a:defPPr>
                <a:defRPr lang="en-US"/>
              </a:defPPr>
              <a:lvl1pPr algn="just">
                <a:defRPr sz="2800" spc="600">
                  <a:solidFill>
                    <a:srgbClr val="2E5696"/>
                  </a:solidFill>
                  <a:latin typeface="微软雅黑" panose="020B0503020204020204" pitchFamily="34" charset="-122"/>
                  <a:ea typeface="微软雅黑" panose="020B0503020204020204" pitchFamily="34" charset="-122"/>
                </a:defRPr>
              </a:lvl1pPr>
            </a:lstStyle>
            <a:p>
              <a:r>
                <a:rPr lang="zh-CN" altLang="en-US" dirty="0">
                  <a:sym typeface="+mn-ea"/>
                </a:rPr>
                <a:t>国内外研究现状</a:t>
              </a:r>
            </a:p>
          </p:txBody>
        </p:sp>
      </p:grpSp>
      <p:cxnSp>
        <p:nvCxnSpPr>
          <p:cNvPr id="10" name="直接连接符 46">
            <a:extLst>
              <a:ext uri="{FF2B5EF4-FFF2-40B4-BE49-F238E27FC236}">
                <a16:creationId xmlns:a16="http://schemas.microsoft.com/office/drawing/2014/main" id="{6A0BC5FB-E089-18A0-6822-4D797EE8E5D1}"/>
              </a:ext>
            </a:extLst>
          </p:cNvPr>
          <p:cNvCxnSpPr>
            <a:cxnSpLocks noChangeShapeType="1"/>
          </p:cNvCxnSpPr>
          <p:nvPr/>
        </p:nvCxnSpPr>
        <p:spPr bwMode="auto">
          <a:xfrm flipH="1">
            <a:off x="864870" y="872490"/>
            <a:ext cx="11134725" cy="0"/>
          </a:xfrm>
          <a:prstGeom prst="line">
            <a:avLst/>
          </a:prstGeom>
          <a:noFill/>
          <a:ln w="9525" cmpd="sng">
            <a:solidFill>
              <a:srgbClr val="4D4948"/>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矩形 40">
            <a:extLst>
              <a:ext uri="{FF2B5EF4-FFF2-40B4-BE49-F238E27FC236}">
                <a16:creationId xmlns:a16="http://schemas.microsoft.com/office/drawing/2014/main" id="{9B5F65BF-F015-778F-6D53-C52E958E67D2}"/>
              </a:ext>
            </a:extLst>
          </p:cNvPr>
          <p:cNvSpPr/>
          <p:nvPr/>
        </p:nvSpPr>
        <p:spPr>
          <a:xfrm>
            <a:off x="208585" y="1672831"/>
            <a:ext cx="6976133" cy="215176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zh-CN" altLang="en-US" sz="1800" dirty="0">
                <a:solidFill>
                  <a:srgbClr val="FF0000"/>
                </a:solidFill>
                <a:effectLst/>
              </a:rPr>
              <a:t>基于特征提取的端点检测算法</a:t>
            </a:r>
            <a:r>
              <a:rPr lang="zh-CN" altLang="en-US" sz="1800" dirty="0">
                <a:effectLst/>
              </a:rPr>
              <a:t>从语音信号中提取时域或频域上的特征参数，根据语音</a:t>
            </a:r>
            <a:r>
              <a:rPr lang="en-US" altLang="zh-CN" sz="1800" dirty="0">
                <a:effectLst/>
                <a:latin typeface="Times New Roman" panose="02020603050405020304" pitchFamily="18" charset="0"/>
              </a:rPr>
              <a:t>/</a:t>
            </a:r>
            <a:r>
              <a:rPr lang="zh-CN" altLang="en-US" sz="1800" dirty="0">
                <a:effectLst/>
              </a:rPr>
              <a:t>非语音在这些特征参数上的不同分布规律，设定某一阈值或建立区分性模型来区分语音</a:t>
            </a:r>
            <a:r>
              <a:rPr lang="en-US" altLang="zh-CN" sz="1800" dirty="0">
                <a:effectLst/>
                <a:latin typeface="Times New Roman" panose="02020603050405020304" pitchFamily="18" charset="0"/>
              </a:rPr>
              <a:t>/</a:t>
            </a:r>
            <a:r>
              <a:rPr lang="zh-CN" altLang="en-US" sz="1800" dirty="0">
                <a:effectLst/>
              </a:rPr>
              <a:t>非语音段。</a:t>
            </a:r>
            <a:endParaRPr lang="en-US" altLang="zh-CN" sz="1800" dirty="0">
              <a:effectLst/>
            </a:endParaRPr>
          </a:p>
          <a:p>
            <a:endParaRPr lang="en-US" altLang="zh-CN" sz="1800" dirty="0">
              <a:effectLst/>
            </a:endParaRPr>
          </a:p>
          <a:p>
            <a:r>
              <a:rPr lang="zh-CN" altLang="en-US" sz="1800" dirty="0">
                <a:solidFill>
                  <a:schemeClr val="tx1"/>
                </a:solidFill>
                <a:effectLst/>
              </a:rPr>
              <a:t>比较有效的时域特征参数包括</a:t>
            </a:r>
            <a:r>
              <a:rPr lang="en-US" altLang="zh-CN" sz="1800" dirty="0">
                <a:solidFill>
                  <a:schemeClr val="tx1"/>
                </a:solidFill>
                <a:effectLst/>
              </a:rPr>
              <a:t>:</a:t>
            </a:r>
            <a:r>
              <a:rPr lang="zh-CN" altLang="en-US" sz="1800" dirty="0">
                <a:solidFill>
                  <a:schemeClr val="tx1"/>
                </a:solidFill>
                <a:effectLst/>
              </a:rPr>
              <a:t>短时能量、过零率、自相关函数、基频等。主要的频域特征参数有包括</a:t>
            </a:r>
            <a:r>
              <a:rPr lang="en-US" altLang="zh-CN" sz="1800" dirty="0">
                <a:solidFill>
                  <a:schemeClr val="tx1"/>
                </a:solidFill>
                <a:effectLst/>
              </a:rPr>
              <a:t>:</a:t>
            </a:r>
            <a:r>
              <a:rPr lang="en" altLang="zh-CN" sz="1800" dirty="0">
                <a:solidFill>
                  <a:schemeClr val="tx1"/>
                </a:solidFill>
                <a:effectLst/>
                <a:latin typeface="Times New Roman" panose="02020603050405020304" pitchFamily="18" charset="0"/>
              </a:rPr>
              <a:t>LPC </a:t>
            </a:r>
            <a:r>
              <a:rPr lang="zh-CN" altLang="en-US" sz="1800" dirty="0">
                <a:solidFill>
                  <a:schemeClr val="tx1"/>
                </a:solidFill>
                <a:effectLst/>
              </a:rPr>
              <a:t>倒谱距离、频率方差、谱熵等。</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53" name="圆角矩形 15">
            <a:extLst>
              <a:ext uri="{FF2B5EF4-FFF2-40B4-BE49-F238E27FC236}">
                <a16:creationId xmlns:a16="http://schemas.microsoft.com/office/drawing/2014/main" id="{582036CF-660C-1821-5EA2-8B71B2B337BF}"/>
              </a:ext>
            </a:extLst>
          </p:cNvPr>
          <p:cNvSpPr/>
          <p:nvPr/>
        </p:nvSpPr>
        <p:spPr>
          <a:xfrm>
            <a:off x="730885" y="975995"/>
            <a:ext cx="10859135" cy="653415"/>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a:extLst>
              <a:ext uri="{FF2B5EF4-FFF2-40B4-BE49-F238E27FC236}">
                <a16:creationId xmlns:a16="http://schemas.microsoft.com/office/drawing/2014/main" id="{A2621610-2957-E6F0-8001-89653130EDFE}"/>
              </a:ext>
            </a:extLst>
          </p:cNvPr>
          <p:cNvSpPr txBox="1"/>
          <p:nvPr/>
        </p:nvSpPr>
        <p:spPr>
          <a:xfrm>
            <a:off x="810261" y="975995"/>
            <a:ext cx="10650854" cy="646331"/>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传统方法</a:t>
            </a:r>
            <a:r>
              <a:rPr lang="zh-CN" altLang="en-US" sz="1600" dirty="0">
                <a:latin typeface="微软雅黑" panose="020B0503020204020204" pitchFamily="34" charset="-122"/>
                <a:ea typeface="微软雅黑" panose="020B0503020204020204" pitchFamily="34" charset="-122"/>
              </a:rPr>
              <a:t>：</a:t>
            </a:r>
            <a:r>
              <a:rPr lang="zh-CN" altLang="en-US" sz="1800" dirty="0">
                <a:effectLst/>
              </a:rPr>
              <a:t>传统的端点检测算法主要包括两大类，一类是</a:t>
            </a:r>
            <a:r>
              <a:rPr lang="zh-CN" altLang="en-US" sz="1800" dirty="0">
                <a:solidFill>
                  <a:srgbClr val="FF0000"/>
                </a:solidFill>
                <a:effectLst/>
              </a:rPr>
              <a:t>基于特征提取的端点检测算法</a:t>
            </a:r>
            <a:r>
              <a:rPr lang="zh-CN" altLang="en-US" sz="1800" dirty="0">
                <a:effectLst/>
              </a:rPr>
              <a:t>，一类是</a:t>
            </a:r>
            <a:r>
              <a:rPr lang="zh-CN" altLang="en-US" sz="1800" dirty="0">
                <a:solidFill>
                  <a:srgbClr val="FF0000"/>
                </a:solidFill>
                <a:effectLst/>
              </a:rPr>
              <a:t>基于模型匹配的端点检测算法 </a:t>
            </a:r>
            <a:endParaRPr lang="zh-CN" altLang="en-US" sz="1600" dirty="0">
              <a:solidFill>
                <a:srgbClr val="FF0000"/>
              </a:solidFill>
            </a:endParaRPr>
          </a:p>
        </p:txBody>
      </p:sp>
      <p:pic>
        <p:nvPicPr>
          <p:cNvPr id="3" name="图形 2" descr="算盘 轮廓">
            <a:extLst>
              <a:ext uri="{FF2B5EF4-FFF2-40B4-BE49-F238E27FC236}">
                <a16:creationId xmlns:a16="http://schemas.microsoft.com/office/drawing/2014/main" id="{F9EADEC0-ACE7-AED9-3F3B-4865959A64C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V="1">
            <a:off x="6933706" y="1589645"/>
            <a:ext cx="1251071" cy="1251071"/>
          </a:xfrm>
          <a:prstGeom prst="rect">
            <a:avLst/>
          </a:prstGeom>
        </p:spPr>
      </p:pic>
      <p:pic>
        <p:nvPicPr>
          <p:cNvPr id="8" name="图形 7" descr="算盘 纯色填充">
            <a:extLst>
              <a:ext uri="{FF2B5EF4-FFF2-40B4-BE49-F238E27FC236}">
                <a16:creationId xmlns:a16="http://schemas.microsoft.com/office/drawing/2014/main" id="{C2983E43-C90E-E181-6D1A-653C8F7BF89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flipV="1">
            <a:off x="3071115" y="3797725"/>
            <a:ext cx="1251071" cy="1251071"/>
          </a:xfrm>
          <a:prstGeom prst="rect">
            <a:avLst/>
          </a:prstGeom>
        </p:spPr>
      </p:pic>
    </p:spTree>
    <p:extLst>
      <p:ext uri="{BB962C8B-B14F-4D97-AF65-F5344CB8AC3E}">
        <p14:creationId xmlns:p14="http://schemas.microsoft.com/office/powerpoint/2010/main" val="2794855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C23EBA10-6FBB-3496-5022-DCE52352F1A3}"/>
              </a:ext>
            </a:extLst>
          </p:cNvPr>
          <p:cNvGrpSpPr/>
          <p:nvPr/>
        </p:nvGrpSpPr>
        <p:grpSpPr>
          <a:xfrm>
            <a:off x="234315" y="203200"/>
            <a:ext cx="6303645" cy="597535"/>
            <a:chOff x="369" y="320"/>
            <a:chExt cx="9927" cy="941"/>
          </a:xfrm>
        </p:grpSpPr>
        <p:sp>
          <p:nvSpPr>
            <p:cNvPr id="6" name="矩形 5">
              <a:extLst>
                <a:ext uri="{FF2B5EF4-FFF2-40B4-BE49-F238E27FC236}">
                  <a16:creationId xmlns:a16="http://schemas.microsoft.com/office/drawing/2014/main" id="{61ED38A1-231E-44AC-9519-C63D4CBBD7B4}"/>
                </a:ext>
              </a:extLst>
            </p:cNvPr>
            <p:cNvSpPr/>
            <p:nvPr/>
          </p:nvSpPr>
          <p:spPr>
            <a:xfrm>
              <a:off x="369" y="320"/>
              <a:ext cx="782" cy="782"/>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7" name="矩形 6">
              <a:extLst>
                <a:ext uri="{FF2B5EF4-FFF2-40B4-BE49-F238E27FC236}">
                  <a16:creationId xmlns:a16="http://schemas.microsoft.com/office/drawing/2014/main" id="{B1A19D29-3CFB-F5A9-337E-5F986974BE22}"/>
                </a:ext>
              </a:extLst>
            </p:cNvPr>
            <p:cNvSpPr/>
            <p:nvPr/>
          </p:nvSpPr>
          <p:spPr>
            <a:xfrm>
              <a:off x="754" y="739"/>
              <a:ext cx="522" cy="522"/>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9" name="TextBox 28">
              <a:extLst>
                <a:ext uri="{FF2B5EF4-FFF2-40B4-BE49-F238E27FC236}">
                  <a16:creationId xmlns:a16="http://schemas.microsoft.com/office/drawing/2014/main" id="{E10C0AD8-FC6A-18B4-AFC3-FE0A946FF0D3}"/>
                </a:ext>
              </a:extLst>
            </p:cNvPr>
            <p:cNvSpPr txBox="1"/>
            <p:nvPr/>
          </p:nvSpPr>
          <p:spPr>
            <a:xfrm>
              <a:off x="1347" y="414"/>
              <a:ext cx="8949" cy="844"/>
            </a:xfrm>
            <a:prstGeom prst="rect">
              <a:avLst/>
            </a:prstGeom>
            <a:noFill/>
          </p:spPr>
          <p:txBody>
            <a:bodyPr wrap="square" lIns="105509" tIns="52755" rIns="105509" bIns="52755" rtlCol="0">
              <a:spAutoFit/>
            </a:bodyPr>
            <a:lstStyle>
              <a:defPPr>
                <a:defRPr lang="en-US"/>
              </a:defPPr>
              <a:lvl1pPr algn="just">
                <a:defRPr sz="2800" spc="600">
                  <a:solidFill>
                    <a:srgbClr val="2E5696"/>
                  </a:solidFill>
                  <a:latin typeface="微软雅黑" panose="020B0503020204020204" pitchFamily="34" charset="-122"/>
                  <a:ea typeface="微软雅黑" panose="020B0503020204020204" pitchFamily="34" charset="-122"/>
                </a:defRPr>
              </a:lvl1pPr>
            </a:lstStyle>
            <a:p>
              <a:r>
                <a:rPr lang="zh-CN" altLang="en-US" dirty="0">
                  <a:sym typeface="+mn-ea"/>
                </a:rPr>
                <a:t>国内外研究现状</a:t>
              </a:r>
            </a:p>
          </p:txBody>
        </p:sp>
      </p:grpSp>
      <p:cxnSp>
        <p:nvCxnSpPr>
          <p:cNvPr id="10" name="直接连接符 46">
            <a:extLst>
              <a:ext uri="{FF2B5EF4-FFF2-40B4-BE49-F238E27FC236}">
                <a16:creationId xmlns:a16="http://schemas.microsoft.com/office/drawing/2014/main" id="{F7352707-F663-9D9D-D7FF-79D0F52DBF87}"/>
              </a:ext>
            </a:extLst>
          </p:cNvPr>
          <p:cNvCxnSpPr>
            <a:cxnSpLocks noChangeShapeType="1"/>
          </p:cNvCxnSpPr>
          <p:nvPr/>
        </p:nvCxnSpPr>
        <p:spPr bwMode="auto">
          <a:xfrm flipH="1">
            <a:off x="864870" y="872490"/>
            <a:ext cx="11134725" cy="0"/>
          </a:xfrm>
          <a:prstGeom prst="line">
            <a:avLst/>
          </a:prstGeom>
          <a:noFill/>
          <a:ln w="9525" cmpd="sng">
            <a:solidFill>
              <a:srgbClr val="4D4948"/>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圆角矩形 15">
            <a:extLst>
              <a:ext uri="{FF2B5EF4-FFF2-40B4-BE49-F238E27FC236}">
                <a16:creationId xmlns:a16="http://schemas.microsoft.com/office/drawing/2014/main" id="{AE201574-76B5-A988-6D1B-3E821F3DB0B1}"/>
              </a:ext>
            </a:extLst>
          </p:cNvPr>
          <p:cNvSpPr/>
          <p:nvPr/>
        </p:nvSpPr>
        <p:spPr>
          <a:xfrm>
            <a:off x="730885" y="975995"/>
            <a:ext cx="10859135" cy="653415"/>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1CD17633-2DA3-B50E-4D54-1E9CAA0EE2E1}"/>
              </a:ext>
            </a:extLst>
          </p:cNvPr>
          <p:cNvSpPr txBox="1"/>
          <p:nvPr/>
        </p:nvSpPr>
        <p:spPr>
          <a:xfrm>
            <a:off x="810261" y="975995"/>
            <a:ext cx="10650854" cy="646331"/>
          </a:xfrm>
          <a:prstGeom prst="rect">
            <a:avLst/>
          </a:prstGeom>
          <a:noFill/>
        </p:spPr>
        <p:txBody>
          <a:bodyPr wrap="square" rtlCol="0">
            <a:spAutoFit/>
          </a:bodyPr>
          <a:lstStyle/>
          <a:p>
            <a:pPr algn="just"/>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基于模式匹配的方法中特征的提取不再是端点检测的重点</a:t>
            </a:r>
            <a:r>
              <a:rPr lang="en-US" altLang="zh-CN" sz="1800" kern="100" dirty="0">
                <a:solidFill>
                  <a:srgbClr val="000000"/>
                </a:solidFill>
                <a:effectLst/>
                <a:latin typeface="Times New Roman" panose="02020603050405020304" pitchFamily="18" charset="0"/>
                <a:ea typeface="宋体" panose="02010600030101010101" pitchFamily="2" charset="-122"/>
              </a:rPr>
              <a:t>,</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通过传统机器学习算法或深度学习算法实现语音端点的识别开始兴起</a:t>
            </a:r>
            <a:r>
              <a:rPr lang="zh-CN" altLang="zh-CN" sz="1600" dirty="0">
                <a:effectLst/>
              </a:rPr>
              <a:t> </a:t>
            </a:r>
            <a:endParaRPr lang="zh-CN" altLang="en-US" sz="1600"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89DA62BB-7316-B9BD-3359-CBCEBC183A29}"/>
              </a:ext>
            </a:extLst>
          </p:cNvPr>
          <p:cNvSpPr/>
          <p:nvPr/>
        </p:nvSpPr>
        <p:spPr>
          <a:xfrm>
            <a:off x="149518" y="1732913"/>
            <a:ext cx="3519233" cy="4768247"/>
          </a:xfrm>
          <a:prstGeom prst="rect">
            <a:avLst/>
          </a:prstGeom>
          <a:solidFill>
            <a:schemeClr val="accent1">
              <a:lumMod val="20000"/>
              <a:lumOff val="8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zh-CN" sz="1800" kern="100" dirty="0">
                <a:solidFill>
                  <a:srgbClr val="000000"/>
                </a:solidFill>
                <a:effectLst/>
                <a:latin typeface="Times New Roman" panose="02020603050405020304" pitchFamily="18" charset="0"/>
                <a:ea typeface="宋体" panose="02010600030101010101" pitchFamily="2" charset="-122"/>
              </a:rPr>
              <a:t>2003</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年董恩清等将</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支持向量机</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宋体" panose="02010600030101010101" pitchFamily="2" charset="-122"/>
              </a:rPr>
              <a:t>Support Vector Machine, SVM</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）运用到端点检测领域</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虽然提高了有效性，但是也增加了检测所需的时间。之后韩飞云等提取语音的</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梅尔频率倒谱系数</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宋体" panose="02010600030101010101" pitchFamily="2" charset="-122"/>
              </a:rPr>
              <a:t>Mel Frequency </a:t>
            </a:r>
            <a:r>
              <a:rPr lang="en-US" altLang="zh-CN" sz="1800" kern="100" dirty="0" err="1">
                <a:solidFill>
                  <a:srgbClr val="000000"/>
                </a:solidFill>
                <a:effectLst/>
                <a:latin typeface="Times New Roman" panose="02020603050405020304" pitchFamily="18" charset="0"/>
                <a:ea typeface="宋体" panose="02010600030101010101" pitchFamily="2" charset="-122"/>
              </a:rPr>
              <a:t>Cepstrum</a:t>
            </a:r>
            <a:r>
              <a:rPr lang="en-US" altLang="zh-CN" sz="1800" kern="100" dirty="0">
                <a:solidFill>
                  <a:srgbClr val="000000"/>
                </a:solidFill>
                <a:effectLst/>
                <a:latin typeface="Times New Roman" panose="02020603050405020304" pitchFamily="18" charset="0"/>
                <a:ea typeface="宋体" panose="02010600030101010101" pitchFamily="2" charset="-122"/>
              </a:rPr>
              <a:t> </a:t>
            </a:r>
            <a:r>
              <a:rPr lang="en-US" altLang="zh-CN" sz="1800" kern="100" dirty="0" err="1">
                <a:solidFill>
                  <a:srgbClr val="000000"/>
                </a:solidFill>
                <a:effectLst/>
                <a:latin typeface="Times New Roman" panose="02020603050405020304" pitchFamily="18" charset="0"/>
                <a:ea typeface="宋体" panose="02010600030101010101" pitchFamily="2" charset="-122"/>
              </a:rPr>
              <a:t>Coefficient,MFCC</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K</a:t>
            </a:r>
            <a:r>
              <a:rPr lang="zh-CN" altLang="en-US"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近邻</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算法</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宋体" panose="02010600030101010101" pitchFamily="2" charset="-122"/>
              </a:rPr>
              <a:t>KNN</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宋体" panose="02010600030101010101" pitchFamily="2" charset="-122"/>
              </a:rPr>
              <a:t>K-</a:t>
            </a:r>
            <a:r>
              <a:rPr lang="en-US" altLang="zh-CN" sz="1800" kern="100" dirty="0" err="1">
                <a:solidFill>
                  <a:srgbClr val="000000"/>
                </a:solidFill>
                <a:effectLst/>
                <a:latin typeface="Times New Roman" panose="02020603050405020304" pitchFamily="18" charset="0"/>
                <a:ea typeface="宋体" panose="02010600030101010101" pitchFamily="2" charset="-122"/>
              </a:rPr>
              <a:t>NearestNeighbor</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）算法实现端点检测，通过实验证明了使用相同阶数的梅尔频率倒谱系数时，</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K</a:t>
            </a:r>
            <a:r>
              <a:rPr lang="zh-CN" altLang="en-US"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近邻</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算法比支持向量机具备更高的准确率</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en-US" dirty="0"/>
          </a:p>
        </p:txBody>
      </p:sp>
      <p:sp>
        <p:nvSpPr>
          <p:cNvPr id="4" name="圆角矩形 3">
            <a:extLst>
              <a:ext uri="{FF2B5EF4-FFF2-40B4-BE49-F238E27FC236}">
                <a16:creationId xmlns:a16="http://schemas.microsoft.com/office/drawing/2014/main" id="{E060E37A-CFBD-41F4-08C1-C8032FAC2689}"/>
              </a:ext>
            </a:extLst>
          </p:cNvPr>
          <p:cNvSpPr/>
          <p:nvPr/>
        </p:nvSpPr>
        <p:spPr>
          <a:xfrm>
            <a:off x="3962400" y="1797586"/>
            <a:ext cx="7627620" cy="4565243"/>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得益于近几年来硬件系统计算能力的提升，各种深度学习算法也被逐渐应用到端点检测领域</a:t>
            </a:r>
            <a:endPar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kern="100" dirty="0">
                <a:solidFill>
                  <a:srgbClr val="000000"/>
                </a:solidFill>
                <a:effectLst/>
                <a:latin typeface="Times New Roman" panose="02020603050405020304" pitchFamily="18" charset="0"/>
                <a:ea typeface="宋体" panose="02010600030101010101" pitchFamily="2" charset="-122"/>
              </a:rPr>
              <a:t>2013 </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年</a:t>
            </a:r>
            <a:r>
              <a:rPr lang="en-US" altLang="zh-CN" sz="1800" kern="100" dirty="0">
                <a:solidFill>
                  <a:srgbClr val="000000"/>
                </a:solidFill>
                <a:effectLst/>
                <a:latin typeface="Times New Roman" panose="02020603050405020304" pitchFamily="18" charset="0"/>
                <a:ea typeface="宋体" panose="02010600030101010101" pitchFamily="2" charset="-122"/>
              </a:rPr>
              <a:t>Zhang</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等将</a:t>
            </a:r>
            <a:r>
              <a:rPr lang="en-US" altLang="zh-CN" sz="1800" kern="100" dirty="0">
                <a:solidFill>
                  <a:srgbClr val="000000"/>
                </a:solidFill>
                <a:effectLst/>
                <a:latin typeface="Times New Roman" panose="02020603050405020304" pitchFamily="18" charset="0"/>
                <a:ea typeface="宋体" panose="02010600030101010101" pitchFamily="2" charset="-122"/>
              </a:rPr>
              <a:t>10</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种常见的语音特征运用到深度信念网络（</a:t>
            </a:r>
            <a:r>
              <a:rPr lang="en-US" altLang="zh-CN" sz="1800" kern="100" dirty="0">
                <a:solidFill>
                  <a:srgbClr val="000000"/>
                </a:solidFill>
                <a:effectLst/>
                <a:latin typeface="Times New Roman" panose="02020603050405020304" pitchFamily="18" charset="0"/>
                <a:ea typeface="宋体" panose="02010600030101010101" pitchFamily="2" charset="-122"/>
              </a:rPr>
              <a:t>Deep Belief Network</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宋体" panose="02010600030101010101" pitchFamily="2" charset="-122"/>
              </a:rPr>
              <a:t>DBN</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）中实现了语音的端点检测。同年，</a:t>
            </a:r>
            <a:r>
              <a:rPr lang="en-US" altLang="zh-CN" sz="1800" kern="100" dirty="0" err="1">
                <a:solidFill>
                  <a:srgbClr val="000000"/>
                </a:solidFill>
                <a:effectLst/>
                <a:latin typeface="Times New Roman" panose="02020603050405020304" pitchFamily="18" charset="0"/>
                <a:ea typeface="宋体" panose="02010600030101010101" pitchFamily="2" charset="-122"/>
              </a:rPr>
              <a:t>Eyben</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等将长短时记忆网络运用到真实噪声环境下的端点检测，取得了不错的效果。</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kern="100" dirty="0">
                <a:solidFill>
                  <a:srgbClr val="FF0000"/>
                </a:solidFill>
                <a:effectLst/>
                <a:latin typeface="Times New Roman" panose="02020603050405020304" pitchFamily="18" charset="0"/>
                <a:ea typeface="宋体" panose="02010600030101010101" pitchFamily="2" charset="-122"/>
              </a:rPr>
              <a:t>2014</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年</a:t>
            </a:r>
            <a:r>
              <a:rPr lang="en-US" altLang="zh-CN" sz="1800" kern="100" dirty="0">
                <a:solidFill>
                  <a:srgbClr val="FF0000"/>
                </a:solidFill>
                <a:effectLst/>
                <a:latin typeface="Times New Roman" panose="02020603050405020304" pitchFamily="18" charset="0"/>
                <a:ea typeface="宋体" panose="02010600030101010101" pitchFamily="2" charset="-122"/>
              </a:rPr>
              <a:t>Thomas</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等将卷积神经网络也运用到了端点检测领域</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宋体" panose="02010600030101010101" pitchFamily="2" charset="-122"/>
              </a:rPr>
              <a:t>2015</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年</a:t>
            </a:r>
            <a:r>
              <a:rPr lang="en-US" altLang="zh-CN" sz="1800" kern="100" dirty="0" err="1">
                <a:solidFill>
                  <a:srgbClr val="000000"/>
                </a:solidFill>
                <a:effectLst/>
                <a:latin typeface="Times New Roman" panose="02020603050405020304" pitchFamily="18" charset="0"/>
                <a:ea typeface="宋体" panose="02010600030101010101" pitchFamily="2" charset="-122"/>
              </a:rPr>
              <a:t>Ferroni</a:t>
            </a:r>
            <a:r>
              <a:rPr lang="en-US" altLang="zh-CN" sz="1800" kern="100" dirty="0">
                <a:solidFill>
                  <a:srgbClr val="000000"/>
                </a:solidFill>
                <a:effectLst/>
                <a:latin typeface="Times New Roman" panose="02020603050405020304" pitchFamily="18" charset="0"/>
                <a:ea typeface="宋体" panose="02010600030101010101" pitchFamily="2" charset="-122"/>
              </a:rPr>
              <a:t> </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等提出适用于房间环境下端点检测的</a:t>
            </a:r>
            <a:r>
              <a:rPr lang="en-US" altLang="zh-CN" sz="1800" kern="100" dirty="0">
                <a:solidFill>
                  <a:srgbClr val="000000"/>
                </a:solidFill>
                <a:effectLst/>
                <a:latin typeface="Times New Roman" panose="02020603050405020304" pitchFamily="18" charset="0"/>
                <a:ea typeface="宋体" panose="02010600030101010101" pitchFamily="2" charset="-122"/>
              </a:rPr>
              <a:t>DBN-DNN</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模型。</a:t>
            </a:r>
            <a:r>
              <a:rPr lang="en-US" altLang="zh-CN" sz="1800" kern="100" dirty="0">
                <a:solidFill>
                  <a:srgbClr val="000000"/>
                </a:solidFill>
                <a:effectLst/>
                <a:latin typeface="Times New Roman" panose="02020603050405020304" pitchFamily="18" charset="0"/>
                <a:ea typeface="宋体" panose="02010600030101010101" pitchFamily="2" charset="-122"/>
              </a:rPr>
              <a:t>2018</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年涂志强等利用图像处理方法，</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提取语音信号的梅尔特征序列图并结合门控循环神经网络实现了车载噪声环境下的端点检测</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kern="100" dirty="0">
                <a:solidFill>
                  <a:srgbClr val="FF0000"/>
                </a:solidFill>
                <a:effectLst/>
                <a:latin typeface="Times New Roman" panose="02020603050405020304" pitchFamily="18" charset="0"/>
                <a:ea typeface="宋体" panose="02010600030101010101" pitchFamily="2" charset="-122"/>
              </a:rPr>
              <a:t>2020</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年许天骄将深度神经网络、卷积神经网络和长短时记忆网络的组合网络用于语音端点检测</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，提升了在九种噪声环境下的检测性能，但需要利用大量数据对网络模型进行训练</a:t>
            </a:r>
            <a:endParaRPr kumimoji="1" lang="zh-CN" altLang="en-US" dirty="0"/>
          </a:p>
          <a:p>
            <a:endParaRPr kumimoji="1" lang="zh-CN" altLang="en-US" dirty="0"/>
          </a:p>
          <a:p>
            <a:endParaRPr kumimoji="1" lang="zh-CN" altLang="en-US" dirty="0"/>
          </a:p>
        </p:txBody>
      </p:sp>
      <p:sp>
        <p:nvSpPr>
          <p:cNvPr id="8" name="矩形 7">
            <a:extLst>
              <a:ext uri="{FF2B5EF4-FFF2-40B4-BE49-F238E27FC236}">
                <a16:creationId xmlns:a16="http://schemas.microsoft.com/office/drawing/2014/main" id="{42DEDD44-D2A4-7274-4072-692B6E4949A3}"/>
              </a:ext>
            </a:extLst>
          </p:cNvPr>
          <p:cNvSpPr/>
          <p:nvPr/>
        </p:nvSpPr>
        <p:spPr>
          <a:xfrm>
            <a:off x="810260" y="1787507"/>
            <a:ext cx="2358887" cy="534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传统机器学习方法</a:t>
            </a:r>
          </a:p>
        </p:txBody>
      </p:sp>
      <p:sp>
        <p:nvSpPr>
          <p:cNvPr id="13" name="矩形 12">
            <a:extLst>
              <a:ext uri="{FF2B5EF4-FFF2-40B4-BE49-F238E27FC236}">
                <a16:creationId xmlns:a16="http://schemas.microsoft.com/office/drawing/2014/main" id="{96F2C80A-C105-A7F4-ED5D-D4DD2761F4A7}"/>
              </a:ext>
            </a:extLst>
          </p:cNvPr>
          <p:cNvSpPr/>
          <p:nvPr/>
        </p:nvSpPr>
        <p:spPr>
          <a:xfrm>
            <a:off x="6096000" y="1804670"/>
            <a:ext cx="2822714" cy="4139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深度学习</a:t>
            </a:r>
          </a:p>
        </p:txBody>
      </p:sp>
    </p:spTree>
    <p:extLst>
      <p:ext uri="{BB962C8B-B14F-4D97-AF65-F5344CB8AC3E}">
        <p14:creationId xmlns:p14="http://schemas.microsoft.com/office/powerpoint/2010/main" val="4091736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325301" y="1485265"/>
            <a:ext cx="1708898" cy="1209216"/>
            <a:chOff x="3026" y="2033"/>
            <a:chExt cx="2285" cy="1384"/>
          </a:xfrm>
        </p:grpSpPr>
        <p:sp>
          <p:nvSpPr>
            <p:cNvPr id="4" name="文本框 3"/>
            <p:cNvSpPr txBox="1"/>
            <p:nvPr>
              <p:custDataLst>
                <p:tags r:id="rId12"/>
              </p:custDataLst>
            </p:nvPr>
          </p:nvSpPr>
          <p:spPr>
            <a:xfrm>
              <a:off x="3026" y="2947"/>
              <a:ext cx="2285" cy="470"/>
            </a:xfrm>
            <a:prstGeom prst="rect">
              <a:avLst/>
            </a:prstGeom>
            <a:noFill/>
          </p:spPr>
          <p:txBody>
            <a:bodyPr wrap="square" rtlCol="0">
              <a:spAutoFit/>
              <a:scene3d>
                <a:camera prst="orthographicFront"/>
                <a:lightRig rig="threePt" dir="t"/>
              </a:scene3d>
            </a:bodyPr>
            <a:lstStyle/>
            <a:p>
              <a:pPr algn="ctr">
                <a:lnSpc>
                  <a:spcPct val="130000"/>
                </a:lnSpc>
              </a:pPr>
              <a:r>
                <a:rPr lang="en-US" altLang="zh-CN" sz="1600" b="1">
                  <a:solidFill>
                    <a:srgbClr val="2E5696"/>
                  </a:solidFill>
                  <a:effectLst>
                    <a:outerShdw blurRad="38100" dist="25400" dir="5400000" algn="ctr" rotWithShape="0">
                      <a:srgbClr val="6E747A">
                        <a:alpha val="43000"/>
                      </a:srgbClr>
                    </a:outerShdw>
                  </a:effectLst>
                </a:rPr>
                <a:t>CONTENTS</a:t>
              </a:r>
            </a:p>
          </p:txBody>
        </p:sp>
        <p:sp>
          <p:nvSpPr>
            <p:cNvPr id="5" name="文本框 4"/>
            <p:cNvSpPr txBox="1"/>
            <p:nvPr>
              <p:custDataLst>
                <p:tags r:id="rId13"/>
              </p:custDataLst>
            </p:nvPr>
          </p:nvSpPr>
          <p:spPr>
            <a:xfrm>
              <a:off x="3243" y="2033"/>
              <a:ext cx="1850" cy="784"/>
            </a:xfrm>
            <a:prstGeom prst="rect">
              <a:avLst/>
            </a:prstGeom>
            <a:noFill/>
          </p:spPr>
          <p:txBody>
            <a:bodyPr wrap="square" bIns="0" rtlCol="0">
              <a:spAutoFit/>
              <a:scene3d>
                <a:camera prst="orthographicFront"/>
                <a:lightRig rig="threePt" dir="t"/>
              </a:scene3d>
            </a:bodyPr>
            <a:lstStyle/>
            <a:p>
              <a:pPr algn="dist">
                <a:lnSpc>
                  <a:spcPct val="130000"/>
                </a:lnSpc>
              </a:pPr>
              <a:r>
                <a:rPr lang="zh-CN" altLang="en-US" sz="3200">
                  <a:solidFill>
                    <a:srgbClr val="2E5696"/>
                  </a:solidFill>
                  <a:effectLst>
                    <a:reflection blurRad="6350" stA="53000" endA="300" endPos="35500" dir="5400000" sy="-90000" algn="bl" rotWithShape="0"/>
                  </a:effectLst>
                  <a:uFillTx/>
                  <a:latin typeface="+mj-lt"/>
                  <a:ea typeface="+mj-ea"/>
                  <a:cs typeface="+mj-cs"/>
                </a:rPr>
                <a:t>目录</a:t>
              </a:r>
            </a:p>
          </p:txBody>
        </p:sp>
        <p:cxnSp>
          <p:nvCxnSpPr>
            <p:cNvPr id="8" name="直接连接符 7"/>
            <p:cNvCxnSpPr/>
            <p:nvPr>
              <p:custDataLst>
                <p:tags r:id="rId14"/>
              </p:custDataLst>
            </p:nvPr>
          </p:nvCxnSpPr>
          <p:spPr>
            <a:xfrm flipV="1">
              <a:off x="3242" y="2918"/>
              <a:ext cx="1907" cy="2"/>
            </a:xfrm>
            <a:prstGeom prst="line">
              <a:avLst/>
            </a:prstGeom>
          </p:spPr>
          <p:style>
            <a:lnRef idx="3">
              <a:schemeClr val="accent5"/>
            </a:lnRef>
            <a:fillRef idx="0">
              <a:schemeClr val="accent5"/>
            </a:fillRef>
            <a:effectRef idx="2">
              <a:schemeClr val="accent5"/>
            </a:effectRef>
            <a:fontRef idx="minor">
              <a:schemeClr val="tx1"/>
            </a:fontRef>
          </p:style>
        </p:cxnSp>
      </p:grpSp>
      <p:sp>
        <p:nvSpPr>
          <p:cNvPr id="6" name="文本框 5"/>
          <p:cNvSpPr txBox="1"/>
          <p:nvPr>
            <p:custDataLst>
              <p:tags r:id="rId2"/>
            </p:custDataLst>
          </p:nvPr>
        </p:nvSpPr>
        <p:spPr>
          <a:xfrm>
            <a:off x="5227293" y="1591333"/>
            <a:ext cx="5952199" cy="491490"/>
          </a:xfrm>
          <a:prstGeom prst="rect">
            <a:avLst/>
          </a:prstGeom>
          <a:noFill/>
        </p:spPr>
        <p:txBody>
          <a:bodyPr wrap="square" rtlCol="0">
            <a:spAutoFit/>
          </a:bodyPr>
          <a:lstStyle/>
          <a:p>
            <a:pPr algn="l">
              <a:lnSpc>
                <a:spcPct val="130000"/>
              </a:lnSpc>
              <a:buClrTx/>
              <a:buSzTx/>
              <a:buFontTx/>
            </a:pPr>
            <a:r>
              <a:rPr lang="zh-CN" altLang="en-US" sz="2000" dirty="0">
                <a:solidFill>
                  <a:schemeClr val="bg2"/>
                </a:solidFill>
                <a:latin typeface="微软雅黑" panose="020B0503020204020204" charset="-122"/>
                <a:ea typeface="微软雅黑" panose="020B0503020204020204" charset="-122"/>
                <a:sym typeface="+mn-ea"/>
              </a:rPr>
              <a:t>研究背景和研究意义</a:t>
            </a:r>
          </a:p>
        </p:txBody>
      </p:sp>
      <p:sp>
        <p:nvSpPr>
          <p:cNvPr id="7" name="文本框 6"/>
          <p:cNvSpPr txBox="1"/>
          <p:nvPr>
            <p:custDataLst>
              <p:tags r:id="rId3"/>
            </p:custDataLst>
          </p:nvPr>
        </p:nvSpPr>
        <p:spPr>
          <a:xfrm>
            <a:off x="4483617" y="1517006"/>
            <a:ext cx="717550" cy="650875"/>
          </a:xfrm>
          <a:prstGeom prst="rect">
            <a:avLst/>
          </a:prstGeom>
          <a:noFill/>
        </p:spPr>
        <p:txBody>
          <a:bodyPr wrap="square" rtlCol="0">
            <a:spAutoFit/>
          </a:bodyPr>
          <a:lstStyle/>
          <a:p>
            <a:pPr algn="l">
              <a:lnSpc>
                <a:spcPct val="130000"/>
              </a:lnSpc>
              <a:buClrTx/>
              <a:buSzTx/>
              <a:buFontTx/>
            </a:pPr>
            <a:r>
              <a:rPr lang="en-US" altLang="zh-CN" sz="2800" dirty="0">
                <a:solidFill>
                  <a:schemeClr val="bg2"/>
                </a:solidFill>
                <a:effectLst>
                  <a:reflection blurRad="6350" stA="53000" endA="300" endPos="35500" dir="5400000" sy="-90000" algn="bl" rotWithShape="0"/>
                </a:effectLst>
              </a:rPr>
              <a:t>01</a:t>
            </a:r>
            <a:endParaRPr lang="en-US" altLang="zh-CN" sz="2800" dirty="0">
              <a:solidFill>
                <a:srgbClr val="2E5696"/>
              </a:solidFill>
              <a:effectLst>
                <a:reflection blurRad="6350" stA="53000" endA="300" endPos="35500" dir="5400000" sy="-90000" algn="bl" rotWithShape="0"/>
              </a:effectLst>
            </a:endParaRPr>
          </a:p>
        </p:txBody>
      </p:sp>
      <p:sp>
        <p:nvSpPr>
          <p:cNvPr id="9" name="文本框 8"/>
          <p:cNvSpPr txBox="1"/>
          <p:nvPr>
            <p:custDataLst>
              <p:tags r:id="rId4"/>
            </p:custDataLst>
          </p:nvPr>
        </p:nvSpPr>
        <p:spPr>
          <a:xfrm>
            <a:off x="5227293" y="2338251"/>
            <a:ext cx="5952199" cy="491490"/>
          </a:xfrm>
          <a:prstGeom prst="rect">
            <a:avLst/>
          </a:prstGeom>
          <a:noFill/>
        </p:spPr>
        <p:txBody>
          <a:bodyPr wrap="square" rtlCol="0">
            <a:spAutoFit/>
          </a:bodyPr>
          <a:lstStyle/>
          <a:p>
            <a:pPr algn="l">
              <a:lnSpc>
                <a:spcPct val="130000"/>
              </a:lnSpc>
              <a:buClrTx/>
              <a:buSzTx/>
              <a:buFontTx/>
            </a:pPr>
            <a:r>
              <a:rPr lang="zh-CN" altLang="en-US" sz="2000" dirty="0">
                <a:solidFill>
                  <a:schemeClr val="bg2"/>
                </a:solidFill>
                <a:latin typeface="微软雅黑" panose="020B0503020204020204" charset="-122"/>
                <a:ea typeface="微软雅黑" panose="020B0503020204020204" charset="-122"/>
                <a:sym typeface="+mn-ea"/>
              </a:rPr>
              <a:t>国内外研究现状</a:t>
            </a:r>
          </a:p>
        </p:txBody>
      </p:sp>
      <p:sp>
        <p:nvSpPr>
          <p:cNvPr id="10" name="文本框 9"/>
          <p:cNvSpPr txBox="1"/>
          <p:nvPr>
            <p:custDataLst>
              <p:tags r:id="rId5"/>
            </p:custDataLst>
          </p:nvPr>
        </p:nvSpPr>
        <p:spPr>
          <a:xfrm>
            <a:off x="4483617" y="2263289"/>
            <a:ext cx="717550" cy="650875"/>
          </a:xfrm>
          <a:prstGeom prst="rect">
            <a:avLst/>
          </a:prstGeom>
          <a:noFill/>
        </p:spPr>
        <p:txBody>
          <a:bodyPr wrap="square" rtlCol="0">
            <a:spAutoFit/>
          </a:bodyPr>
          <a:lstStyle/>
          <a:p>
            <a:pPr algn="l">
              <a:lnSpc>
                <a:spcPct val="130000"/>
              </a:lnSpc>
              <a:buClrTx/>
              <a:buSzTx/>
              <a:buFontTx/>
            </a:pPr>
            <a:r>
              <a:rPr lang="en-US" altLang="zh-CN" sz="2800" dirty="0">
                <a:solidFill>
                  <a:schemeClr val="bg2"/>
                </a:solidFill>
                <a:effectLst>
                  <a:reflection blurRad="6350" stA="53000" endA="300" endPos="35500" dir="5400000" sy="-90000" algn="bl" rotWithShape="0"/>
                </a:effectLst>
              </a:rPr>
              <a:t>02</a:t>
            </a:r>
          </a:p>
        </p:txBody>
      </p:sp>
      <p:sp>
        <p:nvSpPr>
          <p:cNvPr id="11" name="文本框 10"/>
          <p:cNvSpPr txBox="1"/>
          <p:nvPr>
            <p:custDataLst>
              <p:tags r:id="rId6"/>
            </p:custDataLst>
          </p:nvPr>
        </p:nvSpPr>
        <p:spPr>
          <a:xfrm>
            <a:off x="5227293" y="3084534"/>
            <a:ext cx="5952199" cy="453457"/>
          </a:xfrm>
          <a:prstGeom prst="rect">
            <a:avLst/>
          </a:prstGeom>
          <a:noFill/>
        </p:spPr>
        <p:txBody>
          <a:bodyPr wrap="square" rtlCol="0">
            <a:spAutoFit/>
          </a:bodyPr>
          <a:lstStyle/>
          <a:p>
            <a:pPr algn="l">
              <a:lnSpc>
                <a:spcPct val="130000"/>
              </a:lnSpc>
              <a:buClrTx/>
              <a:buSzTx/>
              <a:buFontTx/>
            </a:pPr>
            <a:r>
              <a:rPr lang="zh-CN" altLang="en-US" sz="2000" dirty="0">
                <a:solidFill>
                  <a:prstClr val="black"/>
                </a:solidFill>
                <a:latin typeface="微软雅黑" panose="020B0503020204020204" charset="-122"/>
                <a:ea typeface="微软雅黑" panose="020B0503020204020204" charset="-122"/>
                <a:sym typeface="+mn-ea"/>
              </a:rPr>
              <a:t>研究内容</a:t>
            </a:r>
          </a:p>
        </p:txBody>
      </p:sp>
      <p:sp>
        <p:nvSpPr>
          <p:cNvPr id="12" name="文本框 11"/>
          <p:cNvSpPr txBox="1"/>
          <p:nvPr>
            <p:custDataLst>
              <p:tags r:id="rId7"/>
            </p:custDataLst>
          </p:nvPr>
        </p:nvSpPr>
        <p:spPr>
          <a:xfrm>
            <a:off x="4483617" y="3009572"/>
            <a:ext cx="717550" cy="650875"/>
          </a:xfrm>
          <a:prstGeom prst="rect">
            <a:avLst/>
          </a:prstGeom>
          <a:noFill/>
        </p:spPr>
        <p:txBody>
          <a:bodyPr wrap="square" rtlCol="0">
            <a:spAutoFit/>
          </a:bodyPr>
          <a:lstStyle/>
          <a:p>
            <a:pPr algn="l">
              <a:lnSpc>
                <a:spcPct val="130000"/>
              </a:lnSpc>
              <a:buClrTx/>
              <a:buSzTx/>
              <a:buFontTx/>
            </a:pPr>
            <a:r>
              <a:rPr lang="en-US" altLang="zh-CN" sz="2800" dirty="0">
                <a:solidFill>
                  <a:srgbClr val="2E5696"/>
                </a:solidFill>
                <a:effectLst>
                  <a:reflection blurRad="6350" stA="53000" endA="300" endPos="35500" dir="5400000" sy="-90000" algn="bl" rotWithShape="0"/>
                </a:effectLst>
              </a:rPr>
              <a:t>03</a:t>
            </a:r>
          </a:p>
        </p:txBody>
      </p:sp>
      <p:sp>
        <p:nvSpPr>
          <p:cNvPr id="13" name="文本框 12"/>
          <p:cNvSpPr txBox="1"/>
          <p:nvPr>
            <p:custDataLst>
              <p:tags r:id="rId8"/>
            </p:custDataLst>
          </p:nvPr>
        </p:nvSpPr>
        <p:spPr>
          <a:xfrm>
            <a:off x="5227293" y="3861476"/>
            <a:ext cx="5952199" cy="491490"/>
          </a:xfrm>
          <a:prstGeom prst="rect">
            <a:avLst/>
          </a:prstGeom>
          <a:noFill/>
        </p:spPr>
        <p:txBody>
          <a:bodyPr wrap="square" rtlCol="0">
            <a:spAutoFit/>
          </a:bodyPr>
          <a:lstStyle/>
          <a:p>
            <a:pPr algn="l">
              <a:lnSpc>
                <a:spcPct val="130000"/>
              </a:lnSpc>
              <a:buClrTx/>
              <a:buSzTx/>
              <a:buFontTx/>
            </a:pPr>
            <a:r>
              <a:rPr lang="zh-CN" altLang="en-US" sz="2000" dirty="0">
                <a:solidFill>
                  <a:schemeClr val="bg2"/>
                </a:solidFill>
                <a:latin typeface="微软雅黑" panose="020B0503020204020204" charset="-122"/>
                <a:ea typeface="微软雅黑" panose="020B0503020204020204" charset="-122"/>
                <a:sym typeface="+mn-ea"/>
              </a:rPr>
              <a:t>研究进展</a:t>
            </a:r>
          </a:p>
        </p:txBody>
      </p:sp>
      <p:sp>
        <p:nvSpPr>
          <p:cNvPr id="14" name="文本框 13"/>
          <p:cNvSpPr txBox="1"/>
          <p:nvPr>
            <p:custDataLst>
              <p:tags r:id="rId9"/>
            </p:custDataLst>
          </p:nvPr>
        </p:nvSpPr>
        <p:spPr>
          <a:xfrm>
            <a:off x="4483617" y="3755855"/>
            <a:ext cx="717550" cy="650875"/>
          </a:xfrm>
          <a:prstGeom prst="rect">
            <a:avLst/>
          </a:prstGeom>
          <a:noFill/>
        </p:spPr>
        <p:txBody>
          <a:bodyPr wrap="square" rtlCol="0">
            <a:spAutoFit/>
          </a:bodyPr>
          <a:lstStyle/>
          <a:p>
            <a:pPr algn="l">
              <a:lnSpc>
                <a:spcPct val="130000"/>
              </a:lnSpc>
              <a:buClrTx/>
              <a:buSzTx/>
              <a:buFontTx/>
            </a:pPr>
            <a:r>
              <a:rPr lang="en-US" altLang="zh-CN" sz="2800" dirty="0">
                <a:solidFill>
                  <a:schemeClr val="bg2"/>
                </a:solidFill>
                <a:effectLst>
                  <a:reflection blurRad="6350" stA="53000" endA="300" endPos="35500" dir="5400000" sy="-90000" algn="bl" rotWithShape="0"/>
                </a:effectLst>
              </a:rPr>
              <a:t>04</a:t>
            </a:r>
          </a:p>
        </p:txBody>
      </p:sp>
      <p:sp>
        <p:nvSpPr>
          <p:cNvPr id="15" name="文本框 14"/>
          <p:cNvSpPr txBox="1"/>
          <p:nvPr>
            <p:custDataLst>
              <p:tags r:id="rId10"/>
            </p:custDataLst>
          </p:nvPr>
        </p:nvSpPr>
        <p:spPr>
          <a:xfrm>
            <a:off x="5227293" y="4577102"/>
            <a:ext cx="5952199" cy="491490"/>
          </a:xfrm>
          <a:prstGeom prst="rect">
            <a:avLst/>
          </a:prstGeom>
          <a:noFill/>
        </p:spPr>
        <p:txBody>
          <a:bodyPr wrap="square" rtlCol="0">
            <a:spAutoFit/>
          </a:bodyPr>
          <a:lstStyle/>
          <a:p>
            <a:pPr algn="l">
              <a:lnSpc>
                <a:spcPct val="130000"/>
              </a:lnSpc>
              <a:buClrTx/>
              <a:buSzTx/>
              <a:buFontTx/>
            </a:pPr>
            <a:r>
              <a:rPr lang="zh-CN" altLang="en-US" sz="2000" dirty="0">
                <a:solidFill>
                  <a:schemeClr val="bg2"/>
                </a:solidFill>
                <a:latin typeface="微软雅黑" panose="020B0503020204020204" charset="-122"/>
                <a:ea typeface="微软雅黑" panose="020B0503020204020204" charset="-122"/>
                <a:sym typeface="+mn-ea"/>
              </a:rPr>
              <a:t>预期目标及创新之处</a:t>
            </a:r>
          </a:p>
        </p:txBody>
      </p:sp>
      <p:sp>
        <p:nvSpPr>
          <p:cNvPr id="16" name="文本框 15"/>
          <p:cNvSpPr txBox="1"/>
          <p:nvPr>
            <p:custDataLst>
              <p:tags r:id="rId11"/>
            </p:custDataLst>
          </p:nvPr>
        </p:nvSpPr>
        <p:spPr>
          <a:xfrm>
            <a:off x="4483617" y="4502140"/>
            <a:ext cx="717550" cy="650875"/>
          </a:xfrm>
          <a:prstGeom prst="rect">
            <a:avLst/>
          </a:prstGeom>
          <a:noFill/>
        </p:spPr>
        <p:txBody>
          <a:bodyPr wrap="square" rtlCol="0">
            <a:spAutoFit/>
          </a:bodyPr>
          <a:lstStyle/>
          <a:p>
            <a:pPr algn="l">
              <a:lnSpc>
                <a:spcPct val="130000"/>
              </a:lnSpc>
              <a:buClrTx/>
              <a:buSzTx/>
              <a:buFontTx/>
            </a:pPr>
            <a:r>
              <a:rPr lang="en-US" altLang="zh-CN" sz="2800" dirty="0">
                <a:solidFill>
                  <a:schemeClr val="bg2"/>
                </a:solidFill>
                <a:effectLst>
                  <a:reflection blurRad="6350" stA="53000" endA="300" endPos="35500" dir="5400000" sy="-90000" algn="bl" rotWithShape="0"/>
                </a:effectLst>
              </a:rPr>
              <a:t>05</a:t>
            </a:r>
          </a:p>
        </p:txBody>
      </p:sp>
      <p:grpSp>
        <p:nvGrpSpPr>
          <p:cNvPr id="2" name="组合 1">
            <a:extLst>
              <a:ext uri="{FF2B5EF4-FFF2-40B4-BE49-F238E27FC236}">
                <a16:creationId xmlns:a16="http://schemas.microsoft.com/office/drawing/2014/main" id="{44F01BDC-FC31-7F5F-CEE9-80F51B9F0D20}"/>
              </a:ext>
            </a:extLst>
          </p:cNvPr>
          <p:cNvGrpSpPr/>
          <p:nvPr/>
        </p:nvGrpSpPr>
        <p:grpSpPr>
          <a:xfrm>
            <a:off x="234315" y="203200"/>
            <a:ext cx="6313170" cy="597535"/>
            <a:chOff x="234315" y="203200"/>
            <a:chExt cx="6313170" cy="597535"/>
          </a:xfrm>
        </p:grpSpPr>
        <p:sp>
          <p:nvSpPr>
            <p:cNvPr id="25" name="TextBox 28">
              <a:extLst>
                <a:ext uri="{FF2B5EF4-FFF2-40B4-BE49-F238E27FC236}">
                  <a16:creationId xmlns:a16="http://schemas.microsoft.com/office/drawing/2014/main" id="{F56EE9DA-40B2-603E-9E6C-01DC5E710620}"/>
                </a:ext>
              </a:extLst>
            </p:cNvPr>
            <p:cNvSpPr txBox="1"/>
            <p:nvPr/>
          </p:nvSpPr>
          <p:spPr>
            <a:xfrm>
              <a:off x="864870" y="262890"/>
              <a:ext cx="5682615" cy="535940"/>
            </a:xfrm>
            <a:prstGeom prst="rect">
              <a:avLst/>
            </a:prstGeom>
            <a:noFill/>
          </p:spPr>
          <p:txBody>
            <a:bodyPr wrap="square" lIns="105509" tIns="52755" rIns="105509" bIns="52755"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600" normalizeH="0" baseline="0" noProof="0" dirty="0">
                <a:ln>
                  <a:noFill/>
                </a:ln>
                <a:solidFill>
                  <a:srgbClr val="2E5696"/>
                </a:solidFill>
                <a:effectLst/>
                <a:uLnTx/>
                <a:uFillTx/>
                <a:latin typeface="黑体" panose="02010609060101010101" charset="-122"/>
                <a:ea typeface="黑体" panose="02010609060101010101" charset="-122"/>
                <a:sym typeface="+mn-ea"/>
              </a:endParaRPr>
            </a:p>
          </p:txBody>
        </p:sp>
        <p:sp>
          <p:nvSpPr>
            <p:cNvPr id="19" name="矩形 18">
              <a:extLst>
                <a:ext uri="{FF2B5EF4-FFF2-40B4-BE49-F238E27FC236}">
                  <a16:creationId xmlns:a16="http://schemas.microsoft.com/office/drawing/2014/main" id="{961E4F6C-9744-C605-D6FC-D5BC37CC2ED8}"/>
                </a:ext>
              </a:extLst>
            </p:cNvPr>
            <p:cNvSpPr/>
            <p:nvPr/>
          </p:nvSpPr>
          <p:spPr>
            <a:xfrm>
              <a:off x="234315" y="203200"/>
              <a:ext cx="496570" cy="496570"/>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23" name="矩形 22">
              <a:extLst>
                <a:ext uri="{FF2B5EF4-FFF2-40B4-BE49-F238E27FC236}">
                  <a16:creationId xmlns:a16="http://schemas.microsoft.com/office/drawing/2014/main" id="{87A8EA65-5292-D1D4-26D7-29868CFF3FB0}"/>
                </a:ext>
              </a:extLst>
            </p:cNvPr>
            <p:cNvSpPr/>
            <p:nvPr/>
          </p:nvSpPr>
          <p:spPr>
            <a:xfrm>
              <a:off x="478790" y="469265"/>
              <a:ext cx="331470" cy="331470"/>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grpSp>
      <p:cxnSp>
        <p:nvCxnSpPr>
          <p:cNvPr id="26" name="直接连接符 46">
            <a:extLst>
              <a:ext uri="{FF2B5EF4-FFF2-40B4-BE49-F238E27FC236}">
                <a16:creationId xmlns:a16="http://schemas.microsoft.com/office/drawing/2014/main" id="{B328698E-232A-C50A-A90A-211F27246A45}"/>
              </a:ext>
            </a:extLst>
          </p:cNvPr>
          <p:cNvCxnSpPr>
            <a:cxnSpLocks noChangeShapeType="1"/>
          </p:cNvCxnSpPr>
          <p:nvPr/>
        </p:nvCxnSpPr>
        <p:spPr bwMode="auto">
          <a:xfrm flipH="1">
            <a:off x="864870" y="872490"/>
            <a:ext cx="11134725" cy="0"/>
          </a:xfrm>
          <a:prstGeom prst="line">
            <a:avLst/>
          </a:prstGeom>
          <a:noFill/>
          <a:ln w="9525" cmpd="sng">
            <a:solidFill>
              <a:srgbClr val="4D4948"/>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advTm="700">
        <p:fade/>
      </p:transition>
    </mc:Choice>
    <mc:Fallback xmlns="">
      <p:transition spd="med" advTm="7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矩形 89">
            <a:extLst>
              <a:ext uri="{FF2B5EF4-FFF2-40B4-BE49-F238E27FC236}">
                <a16:creationId xmlns:a16="http://schemas.microsoft.com/office/drawing/2014/main" id="{DDAC1B27-1DF6-CC8A-A054-462B624F3110}"/>
              </a:ext>
            </a:extLst>
          </p:cNvPr>
          <p:cNvSpPr/>
          <p:nvPr/>
        </p:nvSpPr>
        <p:spPr>
          <a:xfrm>
            <a:off x="810260" y="1064895"/>
            <a:ext cx="10740453" cy="5411058"/>
          </a:xfrm>
          <a:prstGeom prst="rect">
            <a:avLst/>
          </a:prstGeom>
          <a:noFill/>
          <a:ln w="15875" cap="flat" cmpd="sng" algn="ctr">
            <a:solidFill>
              <a:srgbClr val="5B9BD5"/>
            </a:solidFill>
            <a:prstDash val="dash"/>
            <a:miter lim="800000"/>
          </a:ln>
          <a:effectLst/>
          <a:extLst>
            <a:ext uri="{909E8E84-426E-40DD-AFC4-6F175D3DCCD1}">
              <a14:hiddenFill xmlns:a14="http://schemas.microsoft.com/office/drawing/2010/main">
                <a:solidFill>
                  <a:schemeClr val="accent1"/>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grpSp>
        <p:nvGrpSpPr>
          <p:cNvPr id="2" name="组合 1">
            <a:extLst>
              <a:ext uri="{FF2B5EF4-FFF2-40B4-BE49-F238E27FC236}">
                <a16:creationId xmlns:a16="http://schemas.microsoft.com/office/drawing/2014/main" id="{BF51503C-6FFF-5C05-59BC-548C80C35913}"/>
              </a:ext>
            </a:extLst>
          </p:cNvPr>
          <p:cNvGrpSpPr/>
          <p:nvPr/>
        </p:nvGrpSpPr>
        <p:grpSpPr>
          <a:xfrm>
            <a:off x="234315" y="203200"/>
            <a:ext cx="6303645" cy="597535"/>
            <a:chOff x="369" y="320"/>
            <a:chExt cx="9927" cy="941"/>
          </a:xfrm>
        </p:grpSpPr>
        <p:sp>
          <p:nvSpPr>
            <p:cNvPr id="4" name="矩形 3">
              <a:extLst>
                <a:ext uri="{FF2B5EF4-FFF2-40B4-BE49-F238E27FC236}">
                  <a16:creationId xmlns:a16="http://schemas.microsoft.com/office/drawing/2014/main" id="{F01FDA2C-7DD6-B763-7D68-1BEBC2ACBE92}"/>
                </a:ext>
              </a:extLst>
            </p:cNvPr>
            <p:cNvSpPr/>
            <p:nvPr/>
          </p:nvSpPr>
          <p:spPr>
            <a:xfrm>
              <a:off x="369" y="320"/>
              <a:ext cx="782" cy="782"/>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5" name="矩形 4">
              <a:extLst>
                <a:ext uri="{FF2B5EF4-FFF2-40B4-BE49-F238E27FC236}">
                  <a16:creationId xmlns:a16="http://schemas.microsoft.com/office/drawing/2014/main" id="{53841656-60F9-199B-3267-0963553C7CF1}"/>
                </a:ext>
              </a:extLst>
            </p:cNvPr>
            <p:cNvSpPr/>
            <p:nvPr/>
          </p:nvSpPr>
          <p:spPr>
            <a:xfrm>
              <a:off x="754" y="739"/>
              <a:ext cx="522" cy="522"/>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7" name="TextBox 28">
              <a:extLst>
                <a:ext uri="{FF2B5EF4-FFF2-40B4-BE49-F238E27FC236}">
                  <a16:creationId xmlns:a16="http://schemas.microsoft.com/office/drawing/2014/main" id="{9946B885-E353-574F-A5C6-5AA1B5621328}"/>
                </a:ext>
              </a:extLst>
            </p:cNvPr>
            <p:cNvSpPr txBox="1"/>
            <p:nvPr/>
          </p:nvSpPr>
          <p:spPr>
            <a:xfrm>
              <a:off x="1347" y="414"/>
              <a:ext cx="8949" cy="844"/>
            </a:xfrm>
            <a:prstGeom prst="rect">
              <a:avLst/>
            </a:prstGeom>
            <a:noFill/>
          </p:spPr>
          <p:txBody>
            <a:bodyPr wrap="square" lIns="105509" tIns="52755" rIns="105509" bIns="52755" rtlCol="0">
              <a:spAutoFit/>
            </a:bodyPr>
            <a:lstStyle>
              <a:defPPr>
                <a:defRPr lang="en-US"/>
              </a:defPPr>
              <a:lvl1pPr algn="just">
                <a:defRPr sz="2800" spc="600">
                  <a:solidFill>
                    <a:srgbClr val="2E5696"/>
                  </a:solidFill>
                  <a:latin typeface="微软雅黑" panose="020B0503020204020204" pitchFamily="34" charset="-122"/>
                  <a:ea typeface="微软雅黑" panose="020B0503020204020204" pitchFamily="34" charset="-122"/>
                </a:defRPr>
              </a:lvl1pPr>
            </a:lstStyle>
            <a:p>
              <a:r>
                <a:rPr lang="zh-CN" altLang="en-US" dirty="0">
                  <a:sym typeface="+mn-ea"/>
                </a:rPr>
                <a:t>研究内容</a:t>
              </a:r>
            </a:p>
          </p:txBody>
        </p:sp>
      </p:grpSp>
      <p:cxnSp>
        <p:nvCxnSpPr>
          <p:cNvPr id="8" name="直接连接符 46">
            <a:extLst>
              <a:ext uri="{FF2B5EF4-FFF2-40B4-BE49-F238E27FC236}">
                <a16:creationId xmlns:a16="http://schemas.microsoft.com/office/drawing/2014/main" id="{0EE366E8-9777-4B4D-F793-B8EDD2BB038C}"/>
              </a:ext>
            </a:extLst>
          </p:cNvPr>
          <p:cNvCxnSpPr>
            <a:cxnSpLocks noChangeShapeType="1"/>
          </p:cNvCxnSpPr>
          <p:nvPr/>
        </p:nvCxnSpPr>
        <p:spPr bwMode="auto">
          <a:xfrm flipH="1">
            <a:off x="864870" y="872490"/>
            <a:ext cx="11134725" cy="0"/>
          </a:xfrm>
          <a:prstGeom prst="line">
            <a:avLst/>
          </a:prstGeom>
          <a:noFill/>
          <a:ln w="9525" cmpd="sng">
            <a:solidFill>
              <a:srgbClr val="4D4948"/>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 name="文本框 88">
            <a:extLst>
              <a:ext uri="{FF2B5EF4-FFF2-40B4-BE49-F238E27FC236}">
                <a16:creationId xmlns:a16="http://schemas.microsoft.com/office/drawing/2014/main" id="{0CA14BF5-F02E-8961-05A2-661AF3494D48}"/>
              </a:ext>
            </a:extLst>
          </p:cNvPr>
          <p:cNvSpPr txBox="1"/>
          <p:nvPr/>
        </p:nvSpPr>
        <p:spPr>
          <a:xfrm>
            <a:off x="554615" y="2288671"/>
            <a:ext cx="490000" cy="2677656"/>
          </a:xfrm>
          <a:prstGeom prst="rect">
            <a:avLst/>
          </a:prstGeom>
          <a:solidFill>
            <a:schemeClr val="bg1"/>
          </a:solidFill>
        </p:spPr>
        <p:txBody>
          <a:bodyPr wrap="square" rtlCol="0">
            <a:spAutoFit/>
          </a:bodyPr>
          <a:lstStyle/>
          <a:p>
            <a:pPr algn="ctr"/>
            <a:r>
              <a:rPr lang="zh-CN" altLang="en-US" sz="2800" b="1" spc="300" dirty="0">
                <a:solidFill>
                  <a:srgbClr val="2E5696"/>
                </a:solidFill>
                <a:effectLst>
                  <a:outerShdw blurRad="38100" dist="38100" dir="2700000" algn="tl">
                    <a:srgbClr val="000000">
                      <a:alpha val="43137"/>
                    </a:srgbClr>
                  </a:outerShdw>
                </a:effectLst>
              </a:rPr>
              <a:t>语音端点检测</a:t>
            </a:r>
          </a:p>
        </p:txBody>
      </p:sp>
      <p:cxnSp>
        <p:nvCxnSpPr>
          <p:cNvPr id="23" name="肘形连接符 22">
            <a:extLst>
              <a:ext uri="{FF2B5EF4-FFF2-40B4-BE49-F238E27FC236}">
                <a16:creationId xmlns:a16="http://schemas.microsoft.com/office/drawing/2014/main" id="{EAFEB128-07A6-A82A-14B5-67D6AE39CAD8}"/>
              </a:ext>
            </a:extLst>
          </p:cNvPr>
          <p:cNvCxnSpPr>
            <a:cxnSpLocks/>
          </p:cNvCxnSpPr>
          <p:nvPr/>
        </p:nvCxnSpPr>
        <p:spPr>
          <a:xfrm rot="16200000" flipV="1">
            <a:off x="1406809" y="3345167"/>
            <a:ext cx="1524836" cy="75415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94651122-00D7-DAA1-8D4E-6191E5B1D0F5}"/>
              </a:ext>
            </a:extLst>
          </p:cNvPr>
          <p:cNvSpPr/>
          <p:nvPr/>
        </p:nvSpPr>
        <p:spPr>
          <a:xfrm>
            <a:off x="1275557" y="2358085"/>
            <a:ext cx="914400" cy="562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Input</a:t>
            </a:r>
            <a:endParaRPr kumimoji="1" lang="zh-CN" altLang="en-US" dirty="0"/>
          </a:p>
        </p:txBody>
      </p:sp>
      <p:cxnSp>
        <p:nvCxnSpPr>
          <p:cNvPr id="32" name="直线箭头连接符 31">
            <a:extLst>
              <a:ext uri="{FF2B5EF4-FFF2-40B4-BE49-F238E27FC236}">
                <a16:creationId xmlns:a16="http://schemas.microsoft.com/office/drawing/2014/main" id="{98CB7438-6BFA-9330-5FA4-F93390639817}"/>
              </a:ext>
            </a:extLst>
          </p:cNvPr>
          <p:cNvCxnSpPr>
            <a:cxnSpLocks/>
            <a:stCxn id="29" idx="3"/>
          </p:cNvCxnSpPr>
          <p:nvPr/>
        </p:nvCxnSpPr>
        <p:spPr>
          <a:xfrm flipV="1">
            <a:off x="2189957" y="2639570"/>
            <a:ext cx="129683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5" name="图片 34">
            <a:extLst>
              <a:ext uri="{FF2B5EF4-FFF2-40B4-BE49-F238E27FC236}">
                <a16:creationId xmlns:a16="http://schemas.microsoft.com/office/drawing/2014/main" id="{E3E60BA3-7760-9308-2E18-24C7CF97A6D2}"/>
              </a:ext>
            </a:extLst>
          </p:cNvPr>
          <p:cNvPicPr>
            <a:picLocks noChangeAspect="1"/>
          </p:cNvPicPr>
          <p:nvPr/>
        </p:nvPicPr>
        <p:blipFill>
          <a:blip r:embed="rId2"/>
          <a:stretch>
            <a:fillRect/>
          </a:stretch>
        </p:blipFill>
        <p:spPr>
          <a:xfrm>
            <a:off x="3742440" y="1215616"/>
            <a:ext cx="3376872" cy="1452974"/>
          </a:xfrm>
          <a:prstGeom prst="rect">
            <a:avLst/>
          </a:prstGeom>
        </p:spPr>
      </p:pic>
      <p:pic>
        <p:nvPicPr>
          <p:cNvPr id="36" name="图片 35">
            <a:extLst>
              <a:ext uri="{FF2B5EF4-FFF2-40B4-BE49-F238E27FC236}">
                <a16:creationId xmlns:a16="http://schemas.microsoft.com/office/drawing/2014/main" id="{B6595363-BC6F-1A31-12DC-88BAE3E2F617}"/>
              </a:ext>
            </a:extLst>
          </p:cNvPr>
          <p:cNvPicPr>
            <a:picLocks noChangeAspect="1"/>
          </p:cNvPicPr>
          <p:nvPr/>
        </p:nvPicPr>
        <p:blipFill>
          <a:blip r:embed="rId3"/>
          <a:stretch>
            <a:fillRect/>
          </a:stretch>
        </p:blipFill>
        <p:spPr>
          <a:xfrm>
            <a:off x="3754315" y="3014447"/>
            <a:ext cx="2738846" cy="1693105"/>
          </a:xfrm>
          <a:prstGeom prst="rect">
            <a:avLst/>
          </a:prstGeom>
        </p:spPr>
      </p:pic>
      <p:sp>
        <p:nvSpPr>
          <p:cNvPr id="38" name="左大括号 37">
            <a:extLst>
              <a:ext uri="{FF2B5EF4-FFF2-40B4-BE49-F238E27FC236}">
                <a16:creationId xmlns:a16="http://schemas.microsoft.com/office/drawing/2014/main" id="{3AE03C49-D628-06BE-C572-FD4B496652D1}"/>
              </a:ext>
            </a:extLst>
          </p:cNvPr>
          <p:cNvSpPr/>
          <p:nvPr/>
        </p:nvSpPr>
        <p:spPr>
          <a:xfrm>
            <a:off x="3434275" y="1648625"/>
            <a:ext cx="255439" cy="255581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dirty="0"/>
          </a:p>
        </p:txBody>
      </p:sp>
      <p:sp>
        <p:nvSpPr>
          <p:cNvPr id="39" name="文本框 38">
            <a:extLst>
              <a:ext uri="{FF2B5EF4-FFF2-40B4-BE49-F238E27FC236}">
                <a16:creationId xmlns:a16="http://schemas.microsoft.com/office/drawing/2014/main" id="{577FB382-97A3-20BD-DEC2-6B5ED204ED98}"/>
              </a:ext>
            </a:extLst>
          </p:cNvPr>
          <p:cNvSpPr txBox="1"/>
          <p:nvPr/>
        </p:nvSpPr>
        <p:spPr>
          <a:xfrm>
            <a:off x="3581532" y="2548367"/>
            <a:ext cx="4227038" cy="369332"/>
          </a:xfrm>
          <a:prstGeom prst="rect">
            <a:avLst/>
          </a:prstGeom>
          <a:noFill/>
        </p:spPr>
        <p:txBody>
          <a:bodyPr wrap="square" rtlCol="0">
            <a:spAutoFit/>
          </a:bodyPr>
          <a:lstStyle/>
          <a:p>
            <a:r>
              <a:rPr lang="zh-CN" altLang="en-US" sz="1800" dirty="0">
                <a:effectLst/>
                <a:latin typeface="SimHei" panose="02010609060101010101" pitchFamily="49" charset="-122"/>
                <a:ea typeface="SimHei" panose="02010609060101010101" pitchFamily="49" charset="-122"/>
              </a:rPr>
              <a:t>基于卷积循环网络的语音端点检测算法</a:t>
            </a:r>
            <a:endParaRPr kumimoji="1" lang="zh-CN" altLang="en-US" dirty="0"/>
          </a:p>
        </p:txBody>
      </p:sp>
      <p:sp>
        <p:nvSpPr>
          <p:cNvPr id="40" name="文本框 39">
            <a:extLst>
              <a:ext uri="{FF2B5EF4-FFF2-40B4-BE49-F238E27FC236}">
                <a16:creationId xmlns:a16="http://schemas.microsoft.com/office/drawing/2014/main" id="{40AF0D27-99C4-3C8C-411D-6FE3C0CD11E3}"/>
              </a:ext>
            </a:extLst>
          </p:cNvPr>
          <p:cNvSpPr txBox="1"/>
          <p:nvPr/>
        </p:nvSpPr>
        <p:spPr>
          <a:xfrm>
            <a:off x="3532910" y="4437918"/>
            <a:ext cx="5375564" cy="646331"/>
          </a:xfrm>
          <a:prstGeom prst="rect">
            <a:avLst/>
          </a:prstGeom>
          <a:noFill/>
        </p:spPr>
        <p:txBody>
          <a:bodyPr wrap="square" rtlCol="0">
            <a:spAutoFit/>
          </a:bodyPr>
          <a:lstStyle/>
          <a:p>
            <a:r>
              <a:rPr lang="zh-CN" altLang="en-US" sz="1800" dirty="0">
                <a:effectLst/>
                <a:latin typeface="SimHei" panose="02010609060101010101" pitchFamily="49" charset="-122"/>
                <a:ea typeface="SimHei" panose="02010609060101010101" pitchFamily="49" charset="-122"/>
              </a:rPr>
              <a:t>改进深度卷积长短时记忆网络的语音端点检测算法 </a:t>
            </a:r>
            <a:endParaRPr lang="zh-CN" altLang="en-US" sz="2000" dirty="0">
              <a:effectLst/>
            </a:endParaRPr>
          </a:p>
          <a:p>
            <a:endParaRPr kumimoji="1" lang="zh-CN" altLang="en-US" dirty="0"/>
          </a:p>
        </p:txBody>
      </p:sp>
      <p:pic>
        <p:nvPicPr>
          <p:cNvPr id="41" name="图片 40">
            <a:extLst>
              <a:ext uri="{FF2B5EF4-FFF2-40B4-BE49-F238E27FC236}">
                <a16:creationId xmlns:a16="http://schemas.microsoft.com/office/drawing/2014/main" id="{7CD1311C-3B9B-D270-62EE-3845ACC0683D}"/>
              </a:ext>
            </a:extLst>
          </p:cNvPr>
          <p:cNvPicPr>
            <a:picLocks noChangeAspect="1"/>
          </p:cNvPicPr>
          <p:nvPr/>
        </p:nvPicPr>
        <p:blipFill>
          <a:blip r:embed="rId4"/>
          <a:stretch>
            <a:fillRect/>
          </a:stretch>
        </p:blipFill>
        <p:spPr>
          <a:xfrm>
            <a:off x="921244" y="5002365"/>
            <a:ext cx="4134835" cy="315126"/>
          </a:xfrm>
          <a:prstGeom prst="rect">
            <a:avLst/>
          </a:prstGeom>
        </p:spPr>
      </p:pic>
      <p:sp>
        <p:nvSpPr>
          <p:cNvPr id="42" name="文本框 41">
            <a:extLst>
              <a:ext uri="{FF2B5EF4-FFF2-40B4-BE49-F238E27FC236}">
                <a16:creationId xmlns:a16="http://schemas.microsoft.com/office/drawing/2014/main" id="{06DD60C1-EB08-D339-6396-5443434095FC}"/>
              </a:ext>
            </a:extLst>
          </p:cNvPr>
          <p:cNvSpPr txBox="1"/>
          <p:nvPr/>
        </p:nvSpPr>
        <p:spPr>
          <a:xfrm>
            <a:off x="1593273" y="4625402"/>
            <a:ext cx="1454727" cy="369332"/>
          </a:xfrm>
          <a:prstGeom prst="rect">
            <a:avLst/>
          </a:prstGeom>
          <a:noFill/>
        </p:spPr>
        <p:txBody>
          <a:bodyPr wrap="square" rtlCol="0">
            <a:spAutoFit/>
          </a:bodyPr>
          <a:lstStyle/>
          <a:p>
            <a:r>
              <a:rPr kumimoji="1" lang="zh-CN" altLang="en-US" dirty="0"/>
              <a:t>纯净语音</a:t>
            </a:r>
          </a:p>
        </p:txBody>
      </p:sp>
      <p:pic>
        <p:nvPicPr>
          <p:cNvPr id="43" name="图片 42">
            <a:extLst>
              <a:ext uri="{FF2B5EF4-FFF2-40B4-BE49-F238E27FC236}">
                <a16:creationId xmlns:a16="http://schemas.microsoft.com/office/drawing/2014/main" id="{C3B71DD8-CA46-90A6-2CE6-A44A309B9636}"/>
              </a:ext>
            </a:extLst>
          </p:cNvPr>
          <p:cNvPicPr>
            <a:picLocks noChangeAspect="1"/>
          </p:cNvPicPr>
          <p:nvPr/>
        </p:nvPicPr>
        <p:blipFill>
          <a:blip r:embed="rId5"/>
          <a:stretch>
            <a:fillRect/>
          </a:stretch>
        </p:blipFill>
        <p:spPr>
          <a:xfrm>
            <a:off x="934268" y="5623305"/>
            <a:ext cx="4121811" cy="586039"/>
          </a:xfrm>
          <a:prstGeom prst="rect">
            <a:avLst/>
          </a:prstGeom>
        </p:spPr>
      </p:pic>
      <p:sp>
        <p:nvSpPr>
          <p:cNvPr id="44" name="文本框 43">
            <a:extLst>
              <a:ext uri="{FF2B5EF4-FFF2-40B4-BE49-F238E27FC236}">
                <a16:creationId xmlns:a16="http://schemas.microsoft.com/office/drawing/2014/main" id="{FE35F6C1-3299-8324-28E6-B0E73E86D120}"/>
              </a:ext>
            </a:extLst>
          </p:cNvPr>
          <p:cNvSpPr txBox="1"/>
          <p:nvPr/>
        </p:nvSpPr>
        <p:spPr>
          <a:xfrm>
            <a:off x="1593273" y="5300548"/>
            <a:ext cx="2054195" cy="369332"/>
          </a:xfrm>
          <a:prstGeom prst="rect">
            <a:avLst/>
          </a:prstGeom>
          <a:noFill/>
        </p:spPr>
        <p:txBody>
          <a:bodyPr wrap="square" rtlCol="0">
            <a:spAutoFit/>
          </a:bodyPr>
          <a:lstStyle/>
          <a:p>
            <a:r>
              <a:rPr kumimoji="1" lang="zh-CN" altLang="en-US" dirty="0"/>
              <a:t>带噪语音</a:t>
            </a:r>
          </a:p>
        </p:txBody>
      </p:sp>
      <p:sp>
        <p:nvSpPr>
          <p:cNvPr id="45" name="右大括号 44">
            <a:extLst>
              <a:ext uri="{FF2B5EF4-FFF2-40B4-BE49-F238E27FC236}">
                <a16:creationId xmlns:a16="http://schemas.microsoft.com/office/drawing/2014/main" id="{90887F97-76D3-B9D0-6958-C7514F009A2A}"/>
              </a:ext>
            </a:extLst>
          </p:cNvPr>
          <p:cNvSpPr/>
          <p:nvPr/>
        </p:nvSpPr>
        <p:spPr>
          <a:xfrm>
            <a:off x="7387565" y="1423491"/>
            <a:ext cx="972866" cy="278808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46" name="圆角矩形 45">
            <a:extLst>
              <a:ext uri="{FF2B5EF4-FFF2-40B4-BE49-F238E27FC236}">
                <a16:creationId xmlns:a16="http://schemas.microsoft.com/office/drawing/2014/main" id="{F4492DE8-7C61-92B2-B9B7-9265CAA34E09}"/>
              </a:ext>
            </a:extLst>
          </p:cNvPr>
          <p:cNvSpPr/>
          <p:nvPr/>
        </p:nvSpPr>
        <p:spPr>
          <a:xfrm>
            <a:off x="7993364" y="2548367"/>
            <a:ext cx="1270640" cy="56606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Output</a:t>
            </a:r>
            <a:endParaRPr kumimoji="1" lang="zh-CN" altLang="en-US" dirty="0"/>
          </a:p>
        </p:txBody>
      </p:sp>
      <p:pic>
        <p:nvPicPr>
          <p:cNvPr id="47" name="图片 46">
            <a:extLst>
              <a:ext uri="{FF2B5EF4-FFF2-40B4-BE49-F238E27FC236}">
                <a16:creationId xmlns:a16="http://schemas.microsoft.com/office/drawing/2014/main" id="{14FED192-DA44-7FF1-1DD9-CF3ED820322A}"/>
              </a:ext>
            </a:extLst>
          </p:cNvPr>
          <p:cNvPicPr>
            <a:picLocks noChangeAspect="1"/>
          </p:cNvPicPr>
          <p:nvPr/>
        </p:nvPicPr>
        <p:blipFill>
          <a:blip r:embed="rId6"/>
          <a:stretch>
            <a:fillRect/>
          </a:stretch>
        </p:blipFill>
        <p:spPr>
          <a:xfrm>
            <a:off x="8074026" y="3291790"/>
            <a:ext cx="3043426" cy="857295"/>
          </a:xfrm>
          <a:prstGeom prst="rect">
            <a:avLst/>
          </a:prstGeom>
        </p:spPr>
      </p:pic>
      <p:sp>
        <p:nvSpPr>
          <p:cNvPr id="48" name="文本框 47">
            <a:extLst>
              <a:ext uri="{FF2B5EF4-FFF2-40B4-BE49-F238E27FC236}">
                <a16:creationId xmlns:a16="http://schemas.microsoft.com/office/drawing/2014/main" id="{32812B37-7FE3-B503-8B9D-1BC062B279F8}"/>
              </a:ext>
            </a:extLst>
          </p:cNvPr>
          <p:cNvSpPr txBox="1"/>
          <p:nvPr/>
        </p:nvSpPr>
        <p:spPr>
          <a:xfrm>
            <a:off x="9510777" y="2914720"/>
            <a:ext cx="1270640" cy="369332"/>
          </a:xfrm>
          <a:prstGeom prst="rect">
            <a:avLst/>
          </a:prstGeom>
          <a:noFill/>
        </p:spPr>
        <p:txBody>
          <a:bodyPr wrap="square" rtlCol="0">
            <a:spAutoFit/>
          </a:bodyPr>
          <a:lstStyle/>
          <a:p>
            <a:r>
              <a:rPr kumimoji="1" lang="zh-CN" altLang="en-US" dirty="0"/>
              <a:t>真实标签</a:t>
            </a:r>
          </a:p>
        </p:txBody>
      </p:sp>
      <p:cxnSp>
        <p:nvCxnSpPr>
          <p:cNvPr id="50" name="直线箭头连接符 49">
            <a:extLst>
              <a:ext uri="{FF2B5EF4-FFF2-40B4-BE49-F238E27FC236}">
                <a16:creationId xmlns:a16="http://schemas.microsoft.com/office/drawing/2014/main" id="{3478D0A8-C039-1C23-F1F6-E3280D14E30F}"/>
              </a:ext>
            </a:extLst>
          </p:cNvPr>
          <p:cNvCxnSpPr>
            <a:cxnSpLocks/>
          </p:cNvCxnSpPr>
          <p:nvPr/>
        </p:nvCxnSpPr>
        <p:spPr>
          <a:xfrm>
            <a:off x="9753600" y="4102193"/>
            <a:ext cx="0" cy="376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圆角矩形 51">
            <a:extLst>
              <a:ext uri="{FF2B5EF4-FFF2-40B4-BE49-F238E27FC236}">
                <a16:creationId xmlns:a16="http://schemas.microsoft.com/office/drawing/2014/main" id="{6FDC12B9-E8E6-B12E-A6BF-014BF112A640}"/>
              </a:ext>
            </a:extLst>
          </p:cNvPr>
          <p:cNvSpPr/>
          <p:nvPr/>
        </p:nvSpPr>
        <p:spPr>
          <a:xfrm>
            <a:off x="8957194" y="4468422"/>
            <a:ext cx="1641533" cy="53394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应用</a:t>
            </a:r>
          </a:p>
        </p:txBody>
      </p:sp>
      <p:sp>
        <p:nvSpPr>
          <p:cNvPr id="53" name="椭圆 52">
            <a:extLst>
              <a:ext uri="{FF2B5EF4-FFF2-40B4-BE49-F238E27FC236}">
                <a16:creationId xmlns:a16="http://schemas.microsoft.com/office/drawing/2014/main" id="{0FEAE9B6-B81D-0822-AF10-E388FF8C9045}"/>
              </a:ext>
            </a:extLst>
          </p:cNvPr>
          <p:cNvSpPr/>
          <p:nvPr/>
        </p:nvSpPr>
        <p:spPr>
          <a:xfrm>
            <a:off x="8228482" y="5274591"/>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语音增强</a:t>
            </a:r>
          </a:p>
        </p:txBody>
      </p:sp>
      <p:sp>
        <p:nvSpPr>
          <p:cNvPr id="54" name="椭圆 53">
            <a:extLst>
              <a:ext uri="{FF2B5EF4-FFF2-40B4-BE49-F238E27FC236}">
                <a16:creationId xmlns:a16="http://schemas.microsoft.com/office/drawing/2014/main" id="{D1431C13-5482-573A-20EF-EF31070D27FB}"/>
              </a:ext>
            </a:extLst>
          </p:cNvPr>
          <p:cNvSpPr/>
          <p:nvPr/>
        </p:nvSpPr>
        <p:spPr>
          <a:xfrm>
            <a:off x="9215767" y="524877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语音识别</a:t>
            </a:r>
          </a:p>
        </p:txBody>
      </p:sp>
      <p:sp>
        <p:nvSpPr>
          <p:cNvPr id="55" name="椭圆 54">
            <a:extLst>
              <a:ext uri="{FF2B5EF4-FFF2-40B4-BE49-F238E27FC236}">
                <a16:creationId xmlns:a16="http://schemas.microsoft.com/office/drawing/2014/main" id="{34561157-8C92-FEC9-D39D-9D20838005AC}"/>
              </a:ext>
            </a:extLst>
          </p:cNvPr>
          <p:cNvSpPr/>
          <p:nvPr/>
        </p:nvSpPr>
        <p:spPr>
          <a:xfrm>
            <a:off x="10203052" y="524877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语音编码</a:t>
            </a:r>
          </a:p>
        </p:txBody>
      </p:sp>
    </p:spTree>
    <p:extLst>
      <p:ext uri="{BB962C8B-B14F-4D97-AF65-F5344CB8AC3E}">
        <p14:creationId xmlns:p14="http://schemas.microsoft.com/office/powerpoint/2010/main" val="20869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F4E853D8-1CCE-C1EB-30EA-129162D0AE80}"/>
              </a:ext>
            </a:extLst>
          </p:cNvPr>
          <p:cNvGrpSpPr/>
          <p:nvPr/>
        </p:nvGrpSpPr>
        <p:grpSpPr>
          <a:xfrm>
            <a:off x="234315" y="203200"/>
            <a:ext cx="6303645" cy="597535"/>
            <a:chOff x="369" y="320"/>
            <a:chExt cx="9927" cy="941"/>
          </a:xfrm>
        </p:grpSpPr>
        <p:sp>
          <p:nvSpPr>
            <p:cNvPr id="13" name="矩形 12">
              <a:extLst>
                <a:ext uri="{FF2B5EF4-FFF2-40B4-BE49-F238E27FC236}">
                  <a16:creationId xmlns:a16="http://schemas.microsoft.com/office/drawing/2014/main" id="{CAC0417A-4CCC-B139-8779-8D92C75ACE87}"/>
                </a:ext>
              </a:extLst>
            </p:cNvPr>
            <p:cNvSpPr/>
            <p:nvPr/>
          </p:nvSpPr>
          <p:spPr>
            <a:xfrm>
              <a:off x="369" y="320"/>
              <a:ext cx="782" cy="782"/>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14" name="矩形 13">
              <a:extLst>
                <a:ext uri="{FF2B5EF4-FFF2-40B4-BE49-F238E27FC236}">
                  <a16:creationId xmlns:a16="http://schemas.microsoft.com/office/drawing/2014/main" id="{36A35C79-F75F-4276-1A10-6399A15DDD9A}"/>
                </a:ext>
              </a:extLst>
            </p:cNvPr>
            <p:cNvSpPr/>
            <p:nvPr/>
          </p:nvSpPr>
          <p:spPr>
            <a:xfrm>
              <a:off x="754" y="739"/>
              <a:ext cx="522" cy="522"/>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16" name="TextBox 28">
              <a:extLst>
                <a:ext uri="{FF2B5EF4-FFF2-40B4-BE49-F238E27FC236}">
                  <a16:creationId xmlns:a16="http://schemas.microsoft.com/office/drawing/2014/main" id="{979AB28E-0614-690A-1D38-44871A3C1D67}"/>
                </a:ext>
              </a:extLst>
            </p:cNvPr>
            <p:cNvSpPr txBox="1"/>
            <p:nvPr/>
          </p:nvSpPr>
          <p:spPr>
            <a:xfrm>
              <a:off x="1347" y="414"/>
              <a:ext cx="8949" cy="844"/>
            </a:xfrm>
            <a:prstGeom prst="rect">
              <a:avLst/>
            </a:prstGeom>
            <a:noFill/>
          </p:spPr>
          <p:txBody>
            <a:bodyPr wrap="square" lIns="105509" tIns="52755" rIns="105509" bIns="52755" rtlCol="0">
              <a:spAutoFit/>
            </a:bodyPr>
            <a:lstStyle>
              <a:defPPr>
                <a:defRPr lang="en-US"/>
              </a:defPPr>
              <a:lvl1pPr algn="just">
                <a:defRPr sz="2800" spc="600">
                  <a:solidFill>
                    <a:srgbClr val="2E5696"/>
                  </a:solidFill>
                  <a:latin typeface="微软雅黑" panose="020B0503020204020204" pitchFamily="34" charset="-122"/>
                  <a:ea typeface="微软雅黑" panose="020B0503020204020204" pitchFamily="34" charset="-122"/>
                </a:defRPr>
              </a:lvl1pPr>
            </a:lstStyle>
            <a:p>
              <a:r>
                <a:rPr lang="zh-CN" altLang="en-US" dirty="0">
                  <a:sym typeface="+mn-ea"/>
                </a:rPr>
                <a:t>研究内容</a:t>
              </a:r>
            </a:p>
          </p:txBody>
        </p:sp>
      </p:grpSp>
      <p:cxnSp>
        <p:nvCxnSpPr>
          <p:cNvPr id="17" name="直接连接符 46">
            <a:extLst>
              <a:ext uri="{FF2B5EF4-FFF2-40B4-BE49-F238E27FC236}">
                <a16:creationId xmlns:a16="http://schemas.microsoft.com/office/drawing/2014/main" id="{9E9F4CF9-07A8-49DD-4DD1-DFECCA3685DE}"/>
              </a:ext>
            </a:extLst>
          </p:cNvPr>
          <p:cNvCxnSpPr>
            <a:cxnSpLocks noChangeShapeType="1"/>
          </p:cNvCxnSpPr>
          <p:nvPr/>
        </p:nvCxnSpPr>
        <p:spPr bwMode="auto">
          <a:xfrm flipH="1">
            <a:off x="864870" y="872490"/>
            <a:ext cx="11134725" cy="0"/>
          </a:xfrm>
          <a:prstGeom prst="line">
            <a:avLst/>
          </a:prstGeom>
          <a:noFill/>
          <a:ln w="9525" cmpd="sng">
            <a:solidFill>
              <a:srgbClr val="4D4948"/>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矩形 7">
            <a:extLst>
              <a:ext uri="{FF2B5EF4-FFF2-40B4-BE49-F238E27FC236}">
                <a16:creationId xmlns:a16="http://schemas.microsoft.com/office/drawing/2014/main" id="{A9A8BB20-294F-C7E3-24EF-2C62BF638A03}"/>
              </a:ext>
            </a:extLst>
          </p:cNvPr>
          <p:cNvSpPr/>
          <p:nvPr/>
        </p:nvSpPr>
        <p:spPr>
          <a:xfrm>
            <a:off x="364490" y="1044575"/>
            <a:ext cx="11463019" cy="640620"/>
          </a:xfrm>
          <a:prstGeom prst="rect">
            <a:avLst/>
          </a:prstGeom>
          <a:solidFill>
            <a:srgbClr val="2E5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r>
              <a:rPr lang="zh-CN" altLang="en-US" sz="1800" dirty="0">
                <a:effectLst/>
                <a:latin typeface="SimHei" panose="02010609060101010101" pitchFamily="49" charset="-122"/>
                <a:ea typeface="SimHei" panose="02010609060101010101" pitchFamily="49" charset="-122"/>
              </a:rPr>
              <a:t>改进深度卷积长短时记忆网络的语音端点检测算法 </a:t>
            </a:r>
            <a:endParaRPr lang="zh-CN" altLang="en-US" sz="2000" dirty="0">
              <a:effectLs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 name="矩形 9">
            <a:extLst>
              <a:ext uri="{FF2B5EF4-FFF2-40B4-BE49-F238E27FC236}">
                <a16:creationId xmlns:a16="http://schemas.microsoft.com/office/drawing/2014/main" id="{32103CC9-3C24-4C21-6AD2-504F11837FB5}"/>
              </a:ext>
            </a:extLst>
          </p:cNvPr>
          <p:cNvSpPr/>
          <p:nvPr/>
        </p:nvSpPr>
        <p:spPr>
          <a:xfrm>
            <a:off x="255905" y="945515"/>
            <a:ext cx="11697335" cy="5784850"/>
          </a:xfrm>
          <a:prstGeom prst="rect">
            <a:avLst/>
          </a:prstGeom>
          <a:noFill/>
          <a:ln w="28575" cap="flat" cmpd="sng" algn="ctr">
            <a:solidFill>
              <a:srgbClr val="012E57">
                <a:lumMod val="25000"/>
                <a:lumOff val="75000"/>
              </a:srgbClr>
            </a:solidFill>
            <a:prstDash val="sysDash"/>
          </a:ln>
          <a:effectLst/>
        </p:spPr>
        <p:txBody>
          <a:bodyPr rtlCol="0" anchor="ctr"/>
          <a:lstStyle>
            <a:defPPr>
              <a:defRPr lang="zh-CN">
                <a:solidFill>
                  <a:schemeClr val="lt1"/>
                </a:solidFill>
              </a:defRPr>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3200" algn="l" defTabSz="913765" rtl="0" eaLnBrk="1" latinLnBrk="0" hangingPunct="1">
              <a:defRPr sz="1800" kern="1200">
                <a:solidFill>
                  <a:schemeClr val="lt1"/>
                </a:solidFill>
                <a:latin typeface="+mn-lt"/>
                <a:ea typeface="+mn-ea"/>
                <a:cs typeface="+mn-cs"/>
              </a:defRPr>
            </a:lvl7pPr>
            <a:lvl8pPr marL="3200400" algn="l" defTabSz="913765" rtl="0" eaLnBrk="1" latinLnBrk="0" hangingPunct="1">
              <a:defRPr sz="1800" kern="1200">
                <a:solidFill>
                  <a:schemeClr val="lt1"/>
                </a:solidFill>
                <a:latin typeface="+mn-lt"/>
                <a:ea typeface="+mn-ea"/>
                <a:cs typeface="+mn-cs"/>
              </a:defRPr>
            </a:lvl8pPr>
            <a:lvl9pPr marL="3657600" algn="l" defTabSz="913765" rtl="0" eaLnBrk="1" latinLnBrk="0" hangingPunct="1">
              <a:defRPr sz="1800" kern="1200">
                <a:solidFill>
                  <a:schemeClr val="lt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87A2D8F8-7EAF-5F21-AA87-7F35B18667AD}"/>
              </a:ext>
            </a:extLst>
          </p:cNvPr>
          <p:cNvSpPr txBox="1"/>
          <p:nvPr/>
        </p:nvSpPr>
        <p:spPr>
          <a:xfrm>
            <a:off x="478790" y="1766796"/>
            <a:ext cx="10808620" cy="2495620"/>
          </a:xfrm>
          <a:prstGeom prst="rect">
            <a:avLst/>
          </a:prstGeom>
          <a:ln/>
        </p:spPr>
        <p:style>
          <a:lnRef idx="2">
            <a:schemeClr val="dk1"/>
          </a:lnRef>
          <a:fillRef idx="1">
            <a:schemeClr val="lt1"/>
          </a:fillRef>
          <a:effectRef idx="0">
            <a:schemeClr val="dk1"/>
          </a:effectRef>
          <a:fontRef idx="minor">
            <a:schemeClr val="dk1"/>
          </a:fontRef>
        </p:style>
        <p:txBody>
          <a:bodyPr wrap="square">
            <a:spAutoFit/>
          </a:bodyPr>
          <a:lstStyle/>
          <a:p>
            <a:pPr algn="just">
              <a:lnSpc>
                <a:spcPct val="150000"/>
              </a:lnSpc>
            </a:pPr>
            <a:r>
              <a:rPr lang="zh-CN" altLang="en-US" sz="1800" dirty="0">
                <a:effectLst/>
                <a:latin typeface="SimSun" panose="02010600030101010101" pitchFamily="2" charset="-122"/>
                <a:ea typeface="SimSun" panose="02010600030101010101" pitchFamily="2" charset="-122"/>
              </a:rPr>
              <a:t>深度神经网络具有高度的非线性表达能力，但是随着深度的增加，网络的训练也因为梯度消失等原因变得更有难度，针对这个问题，采用一种初始化方法来替代随机初始化，该方法使用逐层训练策略，通过无监督的方法在局部最小值附近的区域进行权重的初始化，同时隐含地起到正则化的作用。通过这种逐层初始化的方式，促使网络内部的每一层都 是输入的高级抽象表示。两阶段训练策略与之类似，但是不同之处在于，利用乱序的帧级训练数据训练</a:t>
            </a:r>
            <a:r>
              <a:rPr lang="en" altLang="zh-CN" sz="1800" dirty="0">
                <a:effectLst/>
                <a:latin typeface="TimesNewRomanPSMT"/>
              </a:rPr>
              <a:t>CNN</a:t>
            </a:r>
            <a:r>
              <a:rPr lang="zh-CN" altLang="e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使之获得更鲁棒的特征表达，进而改善了后续</a:t>
            </a:r>
            <a:r>
              <a:rPr lang="en" altLang="zh-CN" sz="1800" dirty="0">
                <a:effectLst/>
                <a:latin typeface="TimesNewRomanPSMT"/>
              </a:rPr>
              <a:t>LSTM</a:t>
            </a:r>
            <a:r>
              <a:rPr lang="zh-CN" altLang="en-US" sz="1800" dirty="0">
                <a:effectLst/>
                <a:latin typeface="SimSun" panose="02010600030101010101" pitchFamily="2" charset="-122"/>
                <a:ea typeface="SimSun" panose="02010600030101010101" pitchFamily="2" charset="-122"/>
              </a:rPr>
              <a:t>层的性能 </a:t>
            </a:r>
            <a:endParaRPr lang="zh-CN" altLang="en-US" sz="1600" dirty="0">
              <a:effectLst/>
            </a:endParaRPr>
          </a:p>
          <a:p>
            <a:pPr algn="just">
              <a:lnSpc>
                <a:spcPct val="150000"/>
              </a:lnSpc>
            </a:pPr>
            <a:endParaRPr lang="zh-CN" altLang="en-US" sz="1600" dirty="0"/>
          </a:p>
        </p:txBody>
      </p:sp>
      <p:pic>
        <p:nvPicPr>
          <p:cNvPr id="3" name="图片 2">
            <a:extLst>
              <a:ext uri="{FF2B5EF4-FFF2-40B4-BE49-F238E27FC236}">
                <a16:creationId xmlns:a16="http://schemas.microsoft.com/office/drawing/2014/main" id="{86F0C5B2-02F5-4BEC-998F-BB6C67795C32}"/>
              </a:ext>
            </a:extLst>
          </p:cNvPr>
          <p:cNvPicPr>
            <a:picLocks noChangeAspect="1"/>
          </p:cNvPicPr>
          <p:nvPr/>
        </p:nvPicPr>
        <p:blipFill>
          <a:blip r:embed="rId3"/>
          <a:stretch>
            <a:fillRect/>
          </a:stretch>
        </p:blipFill>
        <p:spPr>
          <a:xfrm>
            <a:off x="3357154" y="3858055"/>
            <a:ext cx="4427589" cy="2737055"/>
          </a:xfrm>
          <a:prstGeom prst="rect">
            <a:avLst/>
          </a:prstGeom>
        </p:spPr>
      </p:pic>
      <p:sp>
        <p:nvSpPr>
          <p:cNvPr id="4" name="圆角矩形 3">
            <a:extLst>
              <a:ext uri="{FF2B5EF4-FFF2-40B4-BE49-F238E27FC236}">
                <a16:creationId xmlns:a16="http://schemas.microsoft.com/office/drawing/2014/main" id="{2BD7A746-562F-5A54-15AB-09FB75AF8F91}"/>
              </a:ext>
            </a:extLst>
          </p:cNvPr>
          <p:cNvSpPr/>
          <p:nvPr/>
        </p:nvSpPr>
        <p:spPr>
          <a:xfrm>
            <a:off x="7759528" y="3978772"/>
            <a:ext cx="3553097" cy="2495619"/>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effectLst/>
                <a:latin typeface="SimSun" panose="02010600030101010101" pitchFamily="2" charset="-122"/>
                <a:ea typeface="SimSun" panose="02010600030101010101" pitchFamily="2" charset="-122"/>
              </a:rPr>
              <a:t>在第二阶段， 网络接收序列数据并通过上一阶段训练好的</a:t>
            </a:r>
            <a:r>
              <a:rPr lang="en" altLang="zh-CN" sz="1800" dirty="0">
                <a:effectLst/>
                <a:latin typeface="TimesNewRomanPSMT"/>
              </a:rPr>
              <a:t>CNN</a:t>
            </a:r>
            <a:r>
              <a:rPr lang="zh-CN" altLang="en-US" sz="1800" dirty="0">
                <a:effectLst/>
                <a:latin typeface="SimSun" panose="02010600030101010101" pitchFamily="2" charset="-122"/>
                <a:ea typeface="SimSun" panose="02010600030101010101" pitchFamily="2" charset="-122"/>
              </a:rPr>
              <a:t>获得高级特征，然后利用</a:t>
            </a:r>
            <a:r>
              <a:rPr lang="en" altLang="zh-CN" sz="1800" dirty="0">
                <a:effectLst/>
                <a:latin typeface="TimesNewRomanPSMT"/>
              </a:rPr>
              <a:t>LSTM</a:t>
            </a:r>
            <a:r>
              <a:rPr lang="zh-CN" altLang="en-US" sz="1800" dirty="0">
                <a:effectLst/>
                <a:latin typeface="SimSun" panose="02010600030101010101" pitchFamily="2" charset="-122"/>
                <a:ea typeface="SimSun" panose="02010600030101010101" pitchFamily="2" charset="-122"/>
              </a:rPr>
              <a:t>进行时序建 模。 </a:t>
            </a:r>
            <a:endParaRPr lang="zh-CN" altLang="en-US" dirty="0">
              <a:effectLst/>
            </a:endParaRPr>
          </a:p>
          <a:p>
            <a:pPr algn="ctr"/>
            <a:endParaRPr kumimoji="1" lang="zh-CN" altLang="en-US" dirty="0"/>
          </a:p>
        </p:txBody>
      </p:sp>
      <p:sp>
        <p:nvSpPr>
          <p:cNvPr id="5" name="圆角矩形 4">
            <a:extLst>
              <a:ext uri="{FF2B5EF4-FFF2-40B4-BE49-F238E27FC236}">
                <a16:creationId xmlns:a16="http://schemas.microsoft.com/office/drawing/2014/main" id="{D5A34506-4F69-AA3E-218A-F28A08C186FC}"/>
              </a:ext>
            </a:extLst>
          </p:cNvPr>
          <p:cNvSpPr/>
          <p:nvPr/>
        </p:nvSpPr>
        <p:spPr>
          <a:xfrm>
            <a:off x="478790" y="3984171"/>
            <a:ext cx="3008993" cy="2369504"/>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effectLst/>
                <a:latin typeface="SimSun" panose="02010600030101010101" pitchFamily="2" charset="-122"/>
                <a:ea typeface="SimSun" panose="02010600030101010101" pitchFamily="2" charset="-122"/>
              </a:rPr>
              <a:t>在第一阶段，对</a:t>
            </a:r>
            <a:r>
              <a:rPr lang="en" altLang="zh-CN" sz="1800" dirty="0">
                <a:effectLst/>
                <a:latin typeface="TimesNewRomanPSMT"/>
              </a:rPr>
              <a:t>CNN</a:t>
            </a:r>
            <a:r>
              <a:rPr lang="zh-CN" altLang="en-US" sz="1800" dirty="0">
                <a:effectLst/>
                <a:latin typeface="SimSun" panose="02010600030101010101" pitchFamily="2" charset="-122"/>
                <a:ea typeface="SimSun" panose="02010600030101010101" pitchFamily="2" charset="-122"/>
              </a:rPr>
              <a:t>进行 帧级数据的训练以获得高级特征表达，在这个阶段，网络接收的数据是乱序的</a:t>
            </a:r>
            <a:r>
              <a:rPr lang="en-US" altLang="zh-CN" sz="1800" dirty="0">
                <a:effectLst/>
                <a:latin typeface="SimSun" panose="02010600030101010101" pitchFamily="2" charset="-122"/>
                <a:ea typeface="SimSun" panose="02010600030101010101" pitchFamily="2" charset="-122"/>
              </a:rPr>
              <a:t>;</a:t>
            </a:r>
            <a:endParaRPr kumimoji="1" lang="zh-CN" altLang="en-US" dirty="0"/>
          </a:p>
        </p:txBody>
      </p:sp>
    </p:spTree>
    <p:extLst>
      <p:ext uri="{BB962C8B-B14F-4D97-AF65-F5344CB8AC3E}">
        <p14:creationId xmlns:p14="http://schemas.microsoft.com/office/powerpoint/2010/main" val="4016601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D408F3A3-8B06-F82D-DB57-2E7B8CB9CAE3}"/>
              </a:ext>
            </a:extLst>
          </p:cNvPr>
          <p:cNvGrpSpPr/>
          <p:nvPr/>
        </p:nvGrpSpPr>
        <p:grpSpPr>
          <a:xfrm>
            <a:off x="234315" y="203200"/>
            <a:ext cx="6303645" cy="597535"/>
            <a:chOff x="369" y="320"/>
            <a:chExt cx="9927" cy="941"/>
          </a:xfrm>
        </p:grpSpPr>
        <p:sp>
          <p:nvSpPr>
            <p:cNvPr id="5" name="矩形 4">
              <a:extLst>
                <a:ext uri="{FF2B5EF4-FFF2-40B4-BE49-F238E27FC236}">
                  <a16:creationId xmlns:a16="http://schemas.microsoft.com/office/drawing/2014/main" id="{CBF2A9FE-5E9D-F57B-AB29-327E5A8E4EAA}"/>
                </a:ext>
              </a:extLst>
            </p:cNvPr>
            <p:cNvSpPr/>
            <p:nvPr/>
          </p:nvSpPr>
          <p:spPr>
            <a:xfrm>
              <a:off x="369" y="320"/>
              <a:ext cx="782" cy="782"/>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6" name="矩形 5">
              <a:extLst>
                <a:ext uri="{FF2B5EF4-FFF2-40B4-BE49-F238E27FC236}">
                  <a16:creationId xmlns:a16="http://schemas.microsoft.com/office/drawing/2014/main" id="{A46669F2-3207-0717-B0E2-3E63432BBE13}"/>
                </a:ext>
              </a:extLst>
            </p:cNvPr>
            <p:cNvSpPr/>
            <p:nvPr/>
          </p:nvSpPr>
          <p:spPr>
            <a:xfrm>
              <a:off x="754" y="739"/>
              <a:ext cx="522" cy="522"/>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7" name="TextBox 28">
              <a:extLst>
                <a:ext uri="{FF2B5EF4-FFF2-40B4-BE49-F238E27FC236}">
                  <a16:creationId xmlns:a16="http://schemas.microsoft.com/office/drawing/2014/main" id="{524E14E5-AE72-BDE6-3499-ACDD6AD350DD}"/>
                </a:ext>
              </a:extLst>
            </p:cNvPr>
            <p:cNvSpPr txBox="1"/>
            <p:nvPr/>
          </p:nvSpPr>
          <p:spPr>
            <a:xfrm>
              <a:off x="1347" y="414"/>
              <a:ext cx="8949" cy="844"/>
            </a:xfrm>
            <a:prstGeom prst="rect">
              <a:avLst/>
            </a:prstGeom>
            <a:noFill/>
          </p:spPr>
          <p:txBody>
            <a:bodyPr wrap="square" lIns="105509" tIns="52755" rIns="105509" bIns="52755" rtlCol="0">
              <a:spAutoFit/>
            </a:bodyPr>
            <a:lstStyle>
              <a:defPPr>
                <a:defRPr lang="en-US"/>
              </a:defPPr>
              <a:lvl1pPr algn="just">
                <a:defRPr sz="2800" spc="600">
                  <a:solidFill>
                    <a:srgbClr val="2E5696"/>
                  </a:solidFill>
                  <a:latin typeface="微软雅黑" panose="020B0503020204020204" pitchFamily="34" charset="-122"/>
                  <a:ea typeface="微软雅黑" panose="020B0503020204020204" pitchFamily="34" charset="-122"/>
                </a:defRPr>
              </a:lvl1pPr>
            </a:lstStyle>
            <a:p>
              <a:r>
                <a:rPr lang="zh-CN" altLang="en-US" dirty="0">
                  <a:sym typeface="+mn-ea"/>
                </a:rPr>
                <a:t>研究内容</a:t>
              </a:r>
            </a:p>
          </p:txBody>
        </p:sp>
      </p:grpSp>
      <p:sp>
        <p:nvSpPr>
          <p:cNvPr id="9" name="矩形 8">
            <a:extLst>
              <a:ext uri="{FF2B5EF4-FFF2-40B4-BE49-F238E27FC236}">
                <a16:creationId xmlns:a16="http://schemas.microsoft.com/office/drawing/2014/main" id="{0AB78B7B-B058-2ED7-A454-4729394BE502}"/>
              </a:ext>
            </a:extLst>
          </p:cNvPr>
          <p:cNvSpPr/>
          <p:nvPr/>
        </p:nvSpPr>
        <p:spPr>
          <a:xfrm>
            <a:off x="255905" y="945515"/>
            <a:ext cx="11697335" cy="5784850"/>
          </a:xfrm>
          <a:prstGeom prst="rect">
            <a:avLst/>
          </a:prstGeom>
          <a:noFill/>
          <a:ln w="28575" cap="flat" cmpd="sng" algn="ctr">
            <a:solidFill>
              <a:srgbClr val="012E57">
                <a:lumMod val="25000"/>
                <a:lumOff val="75000"/>
              </a:srgbClr>
            </a:solidFill>
            <a:prstDash val="sysDash"/>
          </a:ln>
          <a:effectLst/>
        </p:spPr>
        <p:txBody>
          <a:bodyPr rtlCol="0" anchor="ctr"/>
          <a:lstStyle>
            <a:defPPr>
              <a:defRPr lang="zh-CN">
                <a:solidFill>
                  <a:schemeClr val="lt1"/>
                </a:solidFill>
              </a:defRPr>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3200" algn="l" defTabSz="913765" rtl="0" eaLnBrk="1" latinLnBrk="0" hangingPunct="1">
              <a:defRPr sz="1800" kern="1200">
                <a:solidFill>
                  <a:schemeClr val="lt1"/>
                </a:solidFill>
                <a:latin typeface="+mn-lt"/>
                <a:ea typeface="+mn-ea"/>
                <a:cs typeface="+mn-cs"/>
              </a:defRPr>
            </a:lvl7pPr>
            <a:lvl8pPr marL="3200400" algn="l" defTabSz="913765" rtl="0" eaLnBrk="1" latinLnBrk="0" hangingPunct="1">
              <a:defRPr sz="1800" kern="1200">
                <a:solidFill>
                  <a:schemeClr val="lt1"/>
                </a:solidFill>
                <a:latin typeface="+mn-lt"/>
                <a:ea typeface="+mn-ea"/>
                <a:cs typeface="+mn-cs"/>
              </a:defRPr>
            </a:lvl8pPr>
            <a:lvl9pPr marL="3657600" algn="l" defTabSz="913765" rtl="0" eaLnBrk="1" latinLnBrk="0" hangingPunct="1">
              <a:defRPr sz="1800" kern="1200">
                <a:solidFill>
                  <a:schemeClr val="lt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8058346F-B435-E5C2-320B-9CD6024ACAB6}"/>
              </a:ext>
            </a:extLst>
          </p:cNvPr>
          <p:cNvSpPr/>
          <p:nvPr/>
        </p:nvSpPr>
        <p:spPr>
          <a:xfrm>
            <a:off x="373062" y="1044575"/>
            <a:ext cx="11463019" cy="502920"/>
          </a:xfrm>
          <a:prstGeom prst="rect">
            <a:avLst/>
          </a:prstGeom>
          <a:solidFill>
            <a:srgbClr val="2E5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00" dirty="0">
                <a:effectLst/>
                <a:latin typeface="SimHei" panose="02010609060101010101" pitchFamily="49" charset="-122"/>
                <a:ea typeface="SimHei" panose="02010609060101010101" pitchFamily="49" charset="-122"/>
              </a:rPr>
              <a:t> </a:t>
            </a:r>
            <a:r>
              <a:rPr lang="en-US" altLang="zh-CN" sz="1800" dirty="0">
                <a:effectLst/>
                <a:latin typeface="SimHei" panose="02010609060101010101" pitchFamily="49" charset="-122"/>
                <a:ea typeface="SimHei" panose="02010609060101010101" pitchFamily="49" charset="-122"/>
              </a:rPr>
              <a:t>									</a:t>
            </a:r>
            <a:r>
              <a:rPr lang="zh-CN" altLang="en-US" sz="1800" dirty="0">
                <a:effectLst/>
                <a:latin typeface="SimHei" panose="02010609060101010101" pitchFamily="49" charset="-122"/>
                <a:ea typeface="SimHei" panose="02010609060101010101" pitchFamily="49" charset="-122"/>
              </a:rPr>
              <a:t>基于卷积循环网络的语音端点检测算法 </a:t>
            </a:r>
            <a:endParaRPr lang="zh-CN" altLang="en-US" sz="2000" dirty="0">
              <a:effectLst/>
            </a:endParaRPr>
          </a:p>
        </p:txBody>
      </p:sp>
      <p:sp>
        <p:nvSpPr>
          <p:cNvPr id="11" name="圆角矩形 10">
            <a:extLst>
              <a:ext uri="{FF2B5EF4-FFF2-40B4-BE49-F238E27FC236}">
                <a16:creationId xmlns:a16="http://schemas.microsoft.com/office/drawing/2014/main" id="{B9ACCD47-61DC-A3BF-268D-7884D3BAC071}"/>
              </a:ext>
            </a:extLst>
          </p:cNvPr>
          <p:cNvSpPr/>
          <p:nvPr/>
        </p:nvSpPr>
        <p:spPr>
          <a:xfrm>
            <a:off x="373062" y="1646555"/>
            <a:ext cx="3429272" cy="16452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effectLst/>
                <a:latin typeface="SimSun" panose="02010600030101010101" pitchFamily="2" charset="-122"/>
                <a:ea typeface="SimSun" panose="02010600030101010101" pitchFamily="2" charset="-122"/>
              </a:rPr>
              <a:t>卷积循环网络</a:t>
            </a:r>
            <a:r>
              <a:rPr lang="en-US" altLang="zh-CN" sz="1800" dirty="0">
                <a:effectLst/>
                <a:latin typeface="SimSun" panose="02010600030101010101" pitchFamily="2" charset="-122"/>
                <a:ea typeface="SimSun" panose="02010600030101010101" pitchFamily="2" charset="-122"/>
              </a:rPr>
              <a:t>(</a:t>
            </a:r>
            <a:r>
              <a:rPr lang="en" altLang="zh-CN" sz="1800" dirty="0">
                <a:effectLst/>
                <a:latin typeface="TimesNewRomanPSMT"/>
              </a:rPr>
              <a:t>convolutional recurrent network</a:t>
            </a:r>
            <a:r>
              <a:rPr lang="zh-CN" altLang="en" sz="1800" dirty="0">
                <a:effectLst/>
                <a:latin typeface="SimSun" panose="02010600030101010101" pitchFamily="2" charset="-122"/>
                <a:ea typeface="SimSun" panose="02010600030101010101" pitchFamily="2" charset="-122"/>
              </a:rPr>
              <a:t>，</a:t>
            </a:r>
            <a:r>
              <a:rPr lang="en" altLang="zh-CN" sz="1800" dirty="0">
                <a:effectLst/>
                <a:latin typeface="TimesNewRomanPSMT"/>
              </a:rPr>
              <a:t>CRN</a:t>
            </a:r>
            <a:r>
              <a:rPr lang="en"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是一种新的编解码网络结构，包 含编码器、解码器和中间的长短时记忆层 </a:t>
            </a:r>
            <a:endParaRPr lang="zh-CN" altLang="en-US" dirty="0">
              <a:effectLst/>
            </a:endParaRPr>
          </a:p>
          <a:p>
            <a:pPr algn="ctr"/>
            <a:endParaRPr kumimoji="1" lang="zh-CN" altLang="en-US" dirty="0"/>
          </a:p>
        </p:txBody>
      </p:sp>
      <p:sp>
        <p:nvSpPr>
          <p:cNvPr id="12" name="同侧圆角矩形 11">
            <a:extLst>
              <a:ext uri="{FF2B5EF4-FFF2-40B4-BE49-F238E27FC236}">
                <a16:creationId xmlns:a16="http://schemas.microsoft.com/office/drawing/2014/main" id="{27499329-3EB1-05B5-C5C6-06849DDFC79E}"/>
              </a:ext>
            </a:extLst>
          </p:cNvPr>
          <p:cNvSpPr/>
          <p:nvPr/>
        </p:nvSpPr>
        <p:spPr>
          <a:xfrm>
            <a:off x="373062" y="4172948"/>
            <a:ext cx="10417901" cy="2076994"/>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effectLst/>
                <a:latin typeface="SimSun" panose="02010600030101010101" pitchFamily="2" charset="-122"/>
                <a:ea typeface="SimSun" panose="02010600030101010101" pitchFamily="2" charset="-122"/>
              </a:rPr>
              <a:t>基于</a:t>
            </a:r>
            <a:r>
              <a:rPr lang="en" altLang="zh-CN" sz="1800" dirty="0">
                <a:effectLst/>
                <a:latin typeface="TimesNewRomanPSMT"/>
              </a:rPr>
              <a:t>CRN</a:t>
            </a:r>
            <a:r>
              <a:rPr lang="zh-CN" altLang="en-US" sz="1800" dirty="0">
                <a:effectLst/>
                <a:latin typeface="SimSun" panose="02010600030101010101" pitchFamily="2" charset="-122"/>
                <a:ea typeface="SimSun" panose="02010600030101010101" pitchFamily="2" charset="-122"/>
              </a:rPr>
              <a:t>的语音端点检测算法有几个优势</a:t>
            </a:r>
            <a:r>
              <a:rPr lang="en-US" altLang="zh-CN" sz="1800" dirty="0">
                <a:effectLst/>
                <a:latin typeface="SimSun" panose="02010600030101010101" pitchFamily="2" charset="-122"/>
                <a:ea typeface="SimSun" panose="02010600030101010101" pitchFamily="2" charset="-122"/>
              </a:rPr>
              <a:t>:(</a:t>
            </a:r>
            <a:r>
              <a:rPr lang="en-US" altLang="zh-CN" sz="1800" dirty="0">
                <a:effectLst/>
                <a:latin typeface="TimesNewRomanPSMT"/>
              </a:rPr>
              <a:t>1</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充分利用语音的长时上下文信息。通常， </a:t>
            </a:r>
            <a:r>
              <a:rPr lang="en" altLang="zh-CN" sz="1800" dirty="0">
                <a:effectLst/>
                <a:latin typeface="TimesNewRomanPSMT"/>
              </a:rPr>
              <a:t>DNN</a:t>
            </a:r>
            <a:r>
              <a:rPr lang="zh-CN" altLang="en-US" sz="1800" dirty="0">
                <a:effectLst/>
                <a:latin typeface="SimSun" panose="02010600030101010101" pitchFamily="2" charset="-122"/>
                <a:ea typeface="SimSun" panose="02010600030101010101" pitchFamily="2" charset="-122"/>
              </a:rPr>
              <a:t>从帧前后的局部上下文窗口中独立预测每个时间帧的标签，而</a:t>
            </a:r>
            <a:r>
              <a:rPr lang="en" altLang="zh-CN" sz="1800" dirty="0">
                <a:effectLst/>
                <a:latin typeface="TimesNewRomanPSMT"/>
              </a:rPr>
              <a:t>CRN</a:t>
            </a:r>
            <a:r>
              <a:rPr lang="zh-CN" altLang="en-US" sz="1800" dirty="0">
                <a:effectLst/>
                <a:latin typeface="SimSun" panose="02010600030101010101" pitchFamily="2" charset="-122"/>
                <a:ea typeface="SimSun" panose="02010600030101010101" pitchFamily="2" charset="-122"/>
              </a:rPr>
              <a:t>的</a:t>
            </a:r>
            <a:r>
              <a:rPr lang="en" altLang="zh-CN" sz="1800" dirty="0">
                <a:effectLst/>
                <a:latin typeface="TimesNewRomanPSMT"/>
              </a:rPr>
              <a:t>LSTM</a:t>
            </a:r>
            <a:r>
              <a:rPr lang="zh-CN" altLang="en-US" sz="1800" dirty="0">
                <a:effectLst/>
                <a:latin typeface="SimSun" panose="02010600030101010101" pitchFamily="2" charset="-122"/>
                <a:ea typeface="SimSun" panose="02010600030101010101" pitchFamily="2" charset="-122"/>
              </a:rPr>
              <a:t>层􏰀供了序 列到序列的映射，保证了长时上下文信息的整合利用</a:t>
            </a:r>
            <a:r>
              <a:rPr lang="en-US" altLang="zh-CN" sz="1800" dirty="0">
                <a:effectLst/>
                <a:latin typeface="SimSun" panose="02010600030101010101" pitchFamily="2" charset="-122"/>
                <a:ea typeface="SimSun" panose="02010600030101010101" pitchFamily="2" charset="-122"/>
              </a:rPr>
              <a:t>;(</a:t>
            </a:r>
            <a:r>
              <a:rPr lang="en-US" altLang="zh-CN" sz="1800" dirty="0">
                <a:effectLst/>
                <a:latin typeface="TimesNewRomanPSMT"/>
              </a:rPr>
              <a:t>2</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实时性好。</a:t>
            </a:r>
            <a:r>
              <a:rPr lang="en" altLang="zh-CN" sz="1800" dirty="0">
                <a:effectLst/>
                <a:latin typeface="TimesNewRomanPSMT"/>
              </a:rPr>
              <a:t>CRN</a:t>
            </a:r>
            <a:r>
              <a:rPr lang="zh-CN" altLang="en-US" sz="1800" dirty="0">
                <a:effectLst/>
                <a:latin typeface="SimSun" panose="02010600030101010101" pitchFamily="2" charset="-122"/>
                <a:ea typeface="SimSun" panose="02010600030101010101" pitchFamily="2" charset="-122"/>
              </a:rPr>
              <a:t>只在频域做卷积，减少对时间维度的输入限制提供了低延迟的输出</a:t>
            </a:r>
            <a:r>
              <a:rPr lang="en-US" altLang="zh-CN" sz="1800" dirty="0">
                <a:effectLst/>
                <a:latin typeface="SimSun" panose="02010600030101010101" pitchFamily="2" charset="-122"/>
                <a:ea typeface="SimSun" panose="02010600030101010101" pitchFamily="2" charset="-122"/>
              </a:rPr>
              <a:t>;(</a:t>
            </a:r>
            <a:r>
              <a:rPr lang="en-US" altLang="zh-CN" sz="1800" dirty="0">
                <a:effectLst/>
                <a:latin typeface="TimesNewRomanPSMT"/>
              </a:rPr>
              <a:t>3</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与</a:t>
            </a:r>
            <a:r>
              <a:rPr lang="en" altLang="zh-CN" sz="1800" dirty="0">
                <a:effectLst/>
                <a:latin typeface="TimesNewRomanPSMT"/>
              </a:rPr>
              <a:t>LSTM</a:t>
            </a:r>
            <a:r>
              <a:rPr lang="zh-CN" altLang="en-US" sz="1800" dirty="0">
                <a:effectLst/>
                <a:latin typeface="SimSun" panose="02010600030101010101" pitchFamily="2" charset="-122"/>
                <a:ea typeface="SimSun" panose="02010600030101010101" pitchFamily="2" charset="-122"/>
              </a:rPr>
              <a:t>模型相比，在保证性能的前提下，</a:t>
            </a:r>
            <a:r>
              <a:rPr lang="en" altLang="zh-CN" sz="1800" dirty="0">
                <a:effectLst/>
                <a:latin typeface="TimesNewRomanPSMT"/>
              </a:rPr>
              <a:t>CRN</a:t>
            </a:r>
            <a:r>
              <a:rPr lang="zh-CN" altLang="en-US" sz="1800" dirty="0">
                <a:effectLst/>
                <a:latin typeface="SimSun" panose="02010600030101010101" pitchFamily="2" charset="-122"/>
                <a:ea typeface="SimSun" panose="02010600030101010101" pitchFamily="2" charset="-122"/>
              </a:rPr>
              <a:t>的可训练参数要少得多 </a:t>
            </a:r>
            <a:endParaRPr lang="zh-CN" altLang="en-US" dirty="0">
              <a:effectLst/>
            </a:endParaRPr>
          </a:p>
          <a:p>
            <a:pPr algn="ctr"/>
            <a:endParaRPr kumimoji="1" lang="zh-CN" altLang="en-US" dirty="0"/>
          </a:p>
        </p:txBody>
      </p:sp>
      <p:pic>
        <p:nvPicPr>
          <p:cNvPr id="13" name="图片 12">
            <a:extLst>
              <a:ext uri="{FF2B5EF4-FFF2-40B4-BE49-F238E27FC236}">
                <a16:creationId xmlns:a16="http://schemas.microsoft.com/office/drawing/2014/main" id="{7B6627B9-C54E-D183-2D1A-7E6FB39E0AC9}"/>
              </a:ext>
            </a:extLst>
          </p:cNvPr>
          <p:cNvPicPr>
            <a:picLocks noChangeAspect="1"/>
          </p:cNvPicPr>
          <p:nvPr/>
        </p:nvPicPr>
        <p:blipFill>
          <a:blip r:embed="rId2"/>
          <a:stretch>
            <a:fillRect/>
          </a:stretch>
        </p:blipFill>
        <p:spPr>
          <a:xfrm>
            <a:off x="4332669" y="1547495"/>
            <a:ext cx="6058833" cy="2606947"/>
          </a:xfrm>
          <a:prstGeom prst="rect">
            <a:avLst/>
          </a:prstGeom>
        </p:spPr>
      </p:pic>
    </p:spTree>
    <p:extLst>
      <p:ext uri="{BB962C8B-B14F-4D97-AF65-F5344CB8AC3E}">
        <p14:creationId xmlns:p14="http://schemas.microsoft.com/office/powerpoint/2010/main" val="461416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0918D8E8-D891-73A8-E2DF-4E844E5D1BE6}"/>
              </a:ext>
            </a:extLst>
          </p:cNvPr>
          <p:cNvGrpSpPr/>
          <p:nvPr/>
        </p:nvGrpSpPr>
        <p:grpSpPr>
          <a:xfrm>
            <a:off x="1325301" y="1485265"/>
            <a:ext cx="1708898" cy="1209216"/>
            <a:chOff x="3026" y="2033"/>
            <a:chExt cx="2285" cy="1384"/>
          </a:xfrm>
        </p:grpSpPr>
        <p:sp>
          <p:nvSpPr>
            <p:cNvPr id="4" name="文本框 3">
              <a:extLst>
                <a:ext uri="{FF2B5EF4-FFF2-40B4-BE49-F238E27FC236}">
                  <a16:creationId xmlns:a16="http://schemas.microsoft.com/office/drawing/2014/main" id="{5648A4B3-FEE0-C039-B465-094E141ECF43}"/>
                </a:ext>
              </a:extLst>
            </p:cNvPr>
            <p:cNvSpPr txBox="1"/>
            <p:nvPr>
              <p:custDataLst>
                <p:tags r:id="rId11"/>
              </p:custDataLst>
            </p:nvPr>
          </p:nvSpPr>
          <p:spPr>
            <a:xfrm>
              <a:off x="3026" y="2947"/>
              <a:ext cx="2285" cy="470"/>
            </a:xfrm>
            <a:prstGeom prst="rect">
              <a:avLst/>
            </a:prstGeom>
            <a:noFill/>
          </p:spPr>
          <p:txBody>
            <a:bodyPr wrap="square" rtlCol="0">
              <a:spAutoFit/>
              <a:scene3d>
                <a:camera prst="orthographicFront"/>
                <a:lightRig rig="threePt" dir="t"/>
              </a:scene3d>
            </a:bodyPr>
            <a:lstStyle/>
            <a:p>
              <a:pPr algn="ctr">
                <a:lnSpc>
                  <a:spcPct val="130000"/>
                </a:lnSpc>
              </a:pPr>
              <a:r>
                <a:rPr lang="en-US" altLang="zh-CN" sz="1600" b="1">
                  <a:solidFill>
                    <a:srgbClr val="2E5696"/>
                  </a:solidFill>
                  <a:effectLst>
                    <a:outerShdw blurRad="38100" dist="25400" dir="5400000" algn="ctr" rotWithShape="0">
                      <a:srgbClr val="6E747A">
                        <a:alpha val="43000"/>
                      </a:srgbClr>
                    </a:outerShdw>
                  </a:effectLst>
                </a:rPr>
                <a:t>CONTENTS</a:t>
              </a:r>
            </a:p>
          </p:txBody>
        </p:sp>
        <p:sp>
          <p:nvSpPr>
            <p:cNvPr id="5" name="文本框 4">
              <a:extLst>
                <a:ext uri="{FF2B5EF4-FFF2-40B4-BE49-F238E27FC236}">
                  <a16:creationId xmlns:a16="http://schemas.microsoft.com/office/drawing/2014/main" id="{4CAA30C0-42D8-D80E-653D-2CE9A7EE2274}"/>
                </a:ext>
              </a:extLst>
            </p:cNvPr>
            <p:cNvSpPr txBox="1"/>
            <p:nvPr>
              <p:custDataLst>
                <p:tags r:id="rId12"/>
              </p:custDataLst>
            </p:nvPr>
          </p:nvSpPr>
          <p:spPr>
            <a:xfrm>
              <a:off x="3243" y="2033"/>
              <a:ext cx="1850" cy="784"/>
            </a:xfrm>
            <a:prstGeom prst="rect">
              <a:avLst/>
            </a:prstGeom>
            <a:noFill/>
          </p:spPr>
          <p:txBody>
            <a:bodyPr wrap="square" bIns="0" rtlCol="0">
              <a:spAutoFit/>
              <a:scene3d>
                <a:camera prst="orthographicFront"/>
                <a:lightRig rig="threePt" dir="t"/>
              </a:scene3d>
            </a:bodyPr>
            <a:lstStyle/>
            <a:p>
              <a:pPr algn="dist">
                <a:lnSpc>
                  <a:spcPct val="130000"/>
                </a:lnSpc>
              </a:pPr>
              <a:r>
                <a:rPr lang="zh-CN" altLang="en-US" sz="3200">
                  <a:solidFill>
                    <a:srgbClr val="2E5696"/>
                  </a:solidFill>
                  <a:effectLst>
                    <a:reflection blurRad="6350" stA="53000" endA="300" endPos="35500" dir="5400000" sy="-90000" algn="bl" rotWithShape="0"/>
                  </a:effectLst>
                  <a:uFillTx/>
                  <a:latin typeface="+mj-lt"/>
                  <a:ea typeface="+mj-ea"/>
                  <a:cs typeface="+mj-cs"/>
                </a:rPr>
                <a:t>目录</a:t>
              </a:r>
            </a:p>
          </p:txBody>
        </p:sp>
        <p:cxnSp>
          <p:nvCxnSpPr>
            <p:cNvPr id="6" name="直接连接符 5">
              <a:extLst>
                <a:ext uri="{FF2B5EF4-FFF2-40B4-BE49-F238E27FC236}">
                  <a16:creationId xmlns:a16="http://schemas.microsoft.com/office/drawing/2014/main" id="{FF7BB9A5-75F7-E5D6-F3CA-4A45291641EB}"/>
                </a:ext>
              </a:extLst>
            </p:cNvPr>
            <p:cNvCxnSpPr/>
            <p:nvPr>
              <p:custDataLst>
                <p:tags r:id="rId13"/>
              </p:custDataLst>
            </p:nvPr>
          </p:nvCxnSpPr>
          <p:spPr>
            <a:xfrm flipV="1">
              <a:off x="3242" y="2918"/>
              <a:ext cx="1907" cy="2"/>
            </a:xfrm>
            <a:prstGeom prst="line">
              <a:avLst/>
            </a:prstGeom>
          </p:spPr>
          <p:style>
            <a:lnRef idx="3">
              <a:schemeClr val="accent5"/>
            </a:lnRef>
            <a:fillRef idx="0">
              <a:schemeClr val="accent5"/>
            </a:fillRef>
            <a:effectRef idx="2">
              <a:schemeClr val="accent5"/>
            </a:effectRef>
            <a:fontRef idx="minor">
              <a:schemeClr val="tx1"/>
            </a:fontRef>
          </p:style>
        </p:cxnSp>
      </p:grpSp>
      <p:sp>
        <p:nvSpPr>
          <p:cNvPr id="7" name="文本框 6">
            <a:extLst>
              <a:ext uri="{FF2B5EF4-FFF2-40B4-BE49-F238E27FC236}">
                <a16:creationId xmlns:a16="http://schemas.microsoft.com/office/drawing/2014/main" id="{8C6D0A4A-3416-85BC-2F49-15D3D9922381}"/>
              </a:ext>
            </a:extLst>
          </p:cNvPr>
          <p:cNvSpPr txBox="1"/>
          <p:nvPr>
            <p:custDataLst>
              <p:tags r:id="rId1"/>
            </p:custDataLst>
          </p:nvPr>
        </p:nvSpPr>
        <p:spPr>
          <a:xfrm>
            <a:off x="5227293" y="1591333"/>
            <a:ext cx="5952199" cy="491490"/>
          </a:xfrm>
          <a:prstGeom prst="rect">
            <a:avLst/>
          </a:prstGeom>
          <a:noFill/>
        </p:spPr>
        <p:txBody>
          <a:bodyPr wrap="square" rtlCol="0">
            <a:spAutoFit/>
          </a:bodyPr>
          <a:lstStyle/>
          <a:p>
            <a:pPr>
              <a:lnSpc>
                <a:spcPct val="130000"/>
              </a:lnSpc>
            </a:pPr>
            <a:r>
              <a:rPr lang="zh-CN" altLang="en-US" sz="2000" dirty="0">
                <a:solidFill>
                  <a:schemeClr val="bg2"/>
                </a:solidFill>
                <a:latin typeface="微软雅黑" panose="020B0503020204020204" charset="-122"/>
                <a:ea typeface="微软雅黑" panose="020B0503020204020204" charset="-122"/>
                <a:sym typeface="+mn-ea"/>
              </a:rPr>
              <a:t>研究背景和研究意义</a:t>
            </a:r>
            <a:endParaRPr lang="zh-CN" altLang="en-US" sz="2000" spc="120" dirty="0">
              <a:solidFill>
                <a:schemeClr val="bg2"/>
              </a:solidFill>
              <a:latin typeface="微软雅黑" panose="020B0503020204020204" charset="-122"/>
              <a:ea typeface="微软雅黑" panose="020B0503020204020204" charset="-122"/>
              <a:sym typeface="+mn-ea"/>
            </a:endParaRPr>
          </a:p>
        </p:txBody>
      </p:sp>
      <p:sp>
        <p:nvSpPr>
          <p:cNvPr id="8" name="文本框 7">
            <a:extLst>
              <a:ext uri="{FF2B5EF4-FFF2-40B4-BE49-F238E27FC236}">
                <a16:creationId xmlns:a16="http://schemas.microsoft.com/office/drawing/2014/main" id="{612DFADD-FF1E-B337-3A05-0A8A1274D4E0}"/>
              </a:ext>
            </a:extLst>
          </p:cNvPr>
          <p:cNvSpPr txBox="1"/>
          <p:nvPr>
            <p:custDataLst>
              <p:tags r:id="rId2"/>
            </p:custDataLst>
          </p:nvPr>
        </p:nvSpPr>
        <p:spPr>
          <a:xfrm>
            <a:off x="4483617" y="1517006"/>
            <a:ext cx="717550" cy="650875"/>
          </a:xfrm>
          <a:prstGeom prst="rect">
            <a:avLst/>
          </a:prstGeom>
          <a:noFill/>
        </p:spPr>
        <p:txBody>
          <a:bodyPr wrap="square" rtlCol="0">
            <a:spAutoFit/>
          </a:bodyPr>
          <a:lstStyle/>
          <a:p>
            <a:pPr>
              <a:lnSpc>
                <a:spcPct val="130000"/>
              </a:lnSpc>
            </a:pPr>
            <a:r>
              <a:rPr lang="en-US" altLang="zh-CN" sz="2800" dirty="0">
                <a:solidFill>
                  <a:schemeClr val="bg2"/>
                </a:solidFill>
                <a:effectLst>
                  <a:reflection blurRad="6350" stA="53000" endA="300" endPos="35500" dir="5400000" sy="-90000" algn="bl" rotWithShape="0"/>
                </a:effectLst>
              </a:rPr>
              <a:t>01</a:t>
            </a:r>
          </a:p>
        </p:txBody>
      </p:sp>
      <p:sp>
        <p:nvSpPr>
          <p:cNvPr id="9" name="文本框 8">
            <a:extLst>
              <a:ext uri="{FF2B5EF4-FFF2-40B4-BE49-F238E27FC236}">
                <a16:creationId xmlns:a16="http://schemas.microsoft.com/office/drawing/2014/main" id="{C8F14F6B-4EFD-F746-6717-BEB041D70EE1}"/>
              </a:ext>
            </a:extLst>
          </p:cNvPr>
          <p:cNvSpPr txBox="1"/>
          <p:nvPr>
            <p:custDataLst>
              <p:tags r:id="rId3"/>
            </p:custDataLst>
          </p:nvPr>
        </p:nvSpPr>
        <p:spPr>
          <a:xfrm>
            <a:off x="5227293" y="2338251"/>
            <a:ext cx="5952199" cy="491490"/>
          </a:xfrm>
          <a:prstGeom prst="rect">
            <a:avLst/>
          </a:prstGeom>
          <a:noFill/>
        </p:spPr>
        <p:txBody>
          <a:bodyPr wrap="square" rtlCol="0">
            <a:spAutoFit/>
          </a:bodyPr>
          <a:lstStyle/>
          <a:p>
            <a:pPr>
              <a:lnSpc>
                <a:spcPct val="130000"/>
              </a:lnSpc>
            </a:pPr>
            <a:r>
              <a:rPr lang="zh-CN" altLang="en-US" sz="2000" dirty="0">
                <a:solidFill>
                  <a:schemeClr val="bg2"/>
                </a:solidFill>
                <a:latin typeface="微软雅黑" panose="020B0503020204020204" charset="-122"/>
                <a:ea typeface="微软雅黑" panose="020B0503020204020204" charset="-122"/>
                <a:sym typeface="+mn-ea"/>
              </a:rPr>
              <a:t>国内外研究现状</a:t>
            </a:r>
            <a:endParaRPr lang="zh-CN" altLang="en-US" sz="2000" spc="120" dirty="0">
              <a:solidFill>
                <a:schemeClr val="bg2"/>
              </a:solidFill>
              <a:latin typeface="微软雅黑" panose="020B0503020204020204" charset="-122"/>
              <a:ea typeface="微软雅黑" panose="020B0503020204020204" charset="-122"/>
              <a:sym typeface="+mn-ea"/>
            </a:endParaRPr>
          </a:p>
        </p:txBody>
      </p:sp>
      <p:sp>
        <p:nvSpPr>
          <p:cNvPr id="10" name="文本框 9">
            <a:extLst>
              <a:ext uri="{FF2B5EF4-FFF2-40B4-BE49-F238E27FC236}">
                <a16:creationId xmlns:a16="http://schemas.microsoft.com/office/drawing/2014/main" id="{6F7B0CFE-9C12-3C1B-18C4-B3AD4AE21D29}"/>
              </a:ext>
            </a:extLst>
          </p:cNvPr>
          <p:cNvSpPr txBox="1"/>
          <p:nvPr>
            <p:custDataLst>
              <p:tags r:id="rId4"/>
            </p:custDataLst>
          </p:nvPr>
        </p:nvSpPr>
        <p:spPr>
          <a:xfrm>
            <a:off x="4483617" y="2263289"/>
            <a:ext cx="717550" cy="650875"/>
          </a:xfrm>
          <a:prstGeom prst="rect">
            <a:avLst/>
          </a:prstGeom>
          <a:noFill/>
        </p:spPr>
        <p:txBody>
          <a:bodyPr wrap="square" rtlCol="0">
            <a:spAutoFit/>
          </a:bodyPr>
          <a:lstStyle/>
          <a:p>
            <a:pPr algn="l">
              <a:lnSpc>
                <a:spcPct val="130000"/>
              </a:lnSpc>
              <a:buClrTx/>
              <a:buSzTx/>
              <a:buFontTx/>
            </a:pPr>
            <a:r>
              <a:rPr lang="en-US" altLang="zh-CN" sz="2800" dirty="0">
                <a:solidFill>
                  <a:schemeClr val="bg2"/>
                </a:solidFill>
                <a:effectLst>
                  <a:reflection blurRad="6350" stA="53000" endA="300" endPos="35500" dir="5400000" sy="-90000" algn="bl" rotWithShape="0"/>
                </a:effectLst>
              </a:rPr>
              <a:t>02</a:t>
            </a:r>
          </a:p>
        </p:txBody>
      </p:sp>
      <p:sp>
        <p:nvSpPr>
          <p:cNvPr id="11" name="文本框 10">
            <a:extLst>
              <a:ext uri="{FF2B5EF4-FFF2-40B4-BE49-F238E27FC236}">
                <a16:creationId xmlns:a16="http://schemas.microsoft.com/office/drawing/2014/main" id="{67B1E3E2-717C-4D62-E659-37E1C06E2D17}"/>
              </a:ext>
            </a:extLst>
          </p:cNvPr>
          <p:cNvSpPr txBox="1"/>
          <p:nvPr>
            <p:custDataLst>
              <p:tags r:id="rId5"/>
            </p:custDataLst>
          </p:nvPr>
        </p:nvSpPr>
        <p:spPr>
          <a:xfrm>
            <a:off x="5227293" y="3084534"/>
            <a:ext cx="5952199" cy="491490"/>
          </a:xfrm>
          <a:prstGeom prst="rect">
            <a:avLst/>
          </a:prstGeom>
          <a:noFill/>
        </p:spPr>
        <p:txBody>
          <a:bodyPr wrap="square" rtlCol="0">
            <a:spAutoFit/>
          </a:bodyPr>
          <a:lstStyle/>
          <a:p>
            <a:pPr>
              <a:lnSpc>
                <a:spcPct val="130000"/>
              </a:lnSpc>
            </a:pPr>
            <a:r>
              <a:rPr lang="zh-CN" altLang="en-US" sz="2000" dirty="0">
                <a:solidFill>
                  <a:schemeClr val="bg2"/>
                </a:solidFill>
                <a:latin typeface="微软雅黑" panose="020B0503020204020204" charset="-122"/>
                <a:ea typeface="微软雅黑" panose="020B0503020204020204" charset="-122"/>
                <a:sym typeface="+mn-ea"/>
              </a:rPr>
              <a:t>研究内容</a:t>
            </a:r>
          </a:p>
        </p:txBody>
      </p:sp>
      <p:sp>
        <p:nvSpPr>
          <p:cNvPr id="12" name="文本框 11">
            <a:extLst>
              <a:ext uri="{FF2B5EF4-FFF2-40B4-BE49-F238E27FC236}">
                <a16:creationId xmlns:a16="http://schemas.microsoft.com/office/drawing/2014/main" id="{2B77803A-052A-8BC4-BC8C-348B3D979C75}"/>
              </a:ext>
            </a:extLst>
          </p:cNvPr>
          <p:cNvSpPr txBox="1"/>
          <p:nvPr>
            <p:custDataLst>
              <p:tags r:id="rId6"/>
            </p:custDataLst>
          </p:nvPr>
        </p:nvSpPr>
        <p:spPr>
          <a:xfrm>
            <a:off x="4483617" y="3009572"/>
            <a:ext cx="717550" cy="650875"/>
          </a:xfrm>
          <a:prstGeom prst="rect">
            <a:avLst/>
          </a:prstGeom>
          <a:noFill/>
        </p:spPr>
        <p:txBody>
          <a:bodyPr wrap="square" rtlCol="0">
            <a:spAutoFit/>
          </a:bodyPr>
          <a:lstStyle/>
          <a:p>
            <a:pPr algn="l">
              <a:lnSpc>
                <a:spcPct val="130000"/>
              </a:lnSpc>
              <a:buClrTx/>
              <a:buSzTx/>
              <a:buFontTx/>
            </a:pPr>
            <a:r>
              <a:rPr lang="en-US" altLang="zh-CN" sz="2800" dirty="0">
                <a:solidFill>
                  <a:schemeClr val="bg2"/>
                </a:solidFill>
                <a:effectLst>
                  <a:reflection blurRad="6350" stA="53000" endA="300" endPos="35500" dir="5400000" sy="-90000" algn="bl" rotWithShape="0"/>
                </a:effectLst>
              </a:rPr>
              <a:t>03</a:t>
            </a:r>
          </a:p>
        </p:txBody>
      </p:sp>
      <p:sp>
        <p:nvSpPr>
          <p:cNvPr id="13" name="文本框 12">
            <a:extLst>
              <a:ext uri="{FF2B5EF4-FFF2-40B4-BE49-F238E27FC236}">
                <a16:creationId xmlns:a16="http://schemas.microsoft.com/office/drawing/2014/main" id="{22081890-3AF8-EE29-7D47-A383B3B49184}"/>
              </a:ext>
            </a:extLst>
          </p:cNvPr>
          <p:cNvSpPr txBox="1"/>
          <p:nvPr>
            <p:custDataLst>
              <p:tags r:id="rId7"/>
            </p:custDataLst>
          </p:nvPr>
        </p:nvSpPr>
        <p:spPr>
          <a:xfrm>
            <a:off x="5227293" y="3861476"/>
            <a:ext cx="5952199" cy="491490"/>
          </a:xfrm>
          <a:prstGeom prst="rect">
            <a:avLst/>
          </a:prstGeom>
          <a:noFill/>
        </p:spPr>
        <p:txBody>
          <a:bodyPr wrap="square" rtlCol="0">
            <a:spAutoFit/>
          </a:bodyPr>
          <a:lstStyle/>
          <a:p>
            <a:pPr algn="l">
              <a:lnSpc>
                <a:spcPct val="130000"/>
              </a:lnSpc>
              <a:buClrTx/>
              <a:buSzTx/>
              <a:buFontTx/>
            </a:pPr>
            <a:r>
              <a:rPr lang="zh-CN" altLang="en-US" sz="2000" dirty="0">
                <a:solidFill>
                  <a:prstClr val="black"/>
                </a:solidFill>
                <a:latin typeface="微软雅黑" panose="020B0503020204020204" charset="-122"/>
                <a:ea typeface="微软雅黑" panose="020B0503020204020204" charset="-122"/>
                <a:sym typeface="+mn-ea"/>
              </a:rPr>
              <a:t>研究进展</a:t>
            </a:r>
          </a:p>
        </p:txBody>
      </p:sp>
      <p:sp>
        <p:nvSpPr>
          <p:cNvPr id="14" name="文本框 13">
            <a:extLst>
              <a:ext uri="{FF2B5EF4-FFF2-40B4-BE49-F238E27FC236}">
                <a16:creationId xmlns:a16="http://schemas.microsoft.com/office/drawing/2014/main" id="{D30C227F-86F7-F1E6-05EE-E55D7A3B5B70}"/>
              </a:ext>
            </a:extLst>
          </p:cNvPr>
          <p:cNvSpPr txBox="1"/>
          <p:nvPr>
            <p:custDataLst>
              <p:tags r:id="rId8"/>
            </p:custDataLst>
          </p:nvPr>
        </p:nvSpPr>
        <p:spPr>
          <a:xfrm>
            <a:off x="4483617" y="3755855"/>
            <a:ext cx="717550" cy="650875"/>
          </a:xfrm>
          <a:prstGeom prst="rect">
            <a:avLst/>
          </a:prstGeom>
          <a:noFill/>
        </p:spPr>
        <p:txBody>
          <a:bodyPr wrap="square" rtlCol="0">
            <a:spAutoFit/>
          </a:bodyPr>
          <a:lstStyle/>
          <a:p>
            <a:pPr algn="l">
              <a:lnSpc>
                <a:spcPct val="130000"/>
              </a:lnSpc>
              <a:buClrTx/>
              <a:buSzTx/>
              <a:buFontTx/>
            </a:pPr>
            <a:r>
              <a:rPr lang="en-US" altLang="zh-CN" sz="2800" dirty="0">
                <a:solidFill>
                  <a:srgbClr val="2E5696"/>
                </a:solidFill>
                <a:effectLst>
                  <a:reflection blurRad="6350" stA="53000" endA="300" endPos="35500" dir="5400000" sy="-90000" algn="bl" rotWithShape="0"/>
                </a:effectLst>
              </a:rPr>
              <a:t>04</a:t>
            </a:r>
          </a:p>
        </p:txBody>
      </p:sp>
      <p:sp>
        <p:nvSpPr>
          <p:cNvPr id="15" name="文本框 14">
            <a:extLst>
              <a:ext uri="{FF2B5EF4-FFF2-40B4-BE49-F238E27FC236}">
                <a16:creationId xmlns:a16="http://schemas.microsoft.com/office/drawing/2014/main" id="{6080AF29-D74D-446D-606B-1E8B4CCCECDF}"/>
              </a:ext>
            </a:extLst>
          </p:cNvPr>
          <p:cNvSpPr txBox="1"/>
          <p:nvPr>
            <p:custDataLst>
              <p:tags r:id="rId9"/>
            </p:custDataLst>
          </p:nvPr>
        </p:nvSpPr>
        <p:spPr>
          <a:xfrm>
            <a:off x="5227293" y="4577102"/>
            <a:ext cx="5952199" cy="491490"/>
          </a:xfrm>
          <a:prstGeom prst="rect">
            <a:avLst/>
          </a:prstGeom>
          <a:noFill/>
        </p:spPr>
        <p:txBody>
          <a:bodyPr wrap="square" rtlCol="0">
            <a:spAutoFit/>
          </a:bodyPr>
          <a:lstStyle/>
          <a:p>
            <a:pPr>
              <a:lnSpc>
                <a:spcPct val="130000"/>
              </a:lnSpc>
            </a:pPr>
            <a:r>
              <a:rPr lang="zh-CN" altLang="en-US" sz="2000">
                <a:solidFill>
                  <a:schemeClr val="bg2"/>
                </a:solidFill>
                <a:sym typeface="+mn-ea"/>
              </a:rPr>
              <a:t>预期目标及创新之处</a:t>
            </a:r>
            <a:endParaRPr lang="zh-CN" altLang="en-US" sz="2000" spc="120">
              <a:solidFill>
                <a:schemeClr val="bg2"/>
              </a:solidFill>
              <a:sym typeface="+mn-ea"/>
            </a:endParaRPr>
          </a:p>
        </p:txBody>
      </p:sp>
      <p:sp>
        <p:nvSpPr>
          <p:cNvPr id="16" name="文本框 15">
            <a:extLst>
              <a:ext uri="{FF2B5EF4-FFF2-40B4-BE49-F238E27FC236}">
                <a16:creationId xmlns:a16="http://schemas.microsoft.com/office/drawing/2014/main" id="{DC1A180B-8A7E-82DA-25DC-E00F9C68F743}"/>
              </a:ext>
            </a:extLst>
          </p:cNvPr>
          <p:cNvSpPr txBox="1"/>
          <p:nvPr>
            <p:custDataLst>
              <p:tags r:id="rId10"/>
            </p:custDataLst>
          </p:nvPr>
        </p:nvSpPr>
        <p:spPr>
          <a:xfrm>
            <a:off x="4483617" y="4502140"/>
            <a:ext cx="717550" cy="650875"/>
          </a:xfrm>
          <a:prstGeom prst="rect">
            <a:avLst/>
          </a:prstGeom>
          <a:noFill/>
        </p:spPr>
        <p:txBody>
          <a:bodyPr wrap="square" rtlCol="0">
            <a:spAutoFit/>
          </a:bodyPr>
          <a:lstStyle/>
          <a:p>
            <a:pPr algn="l">
              <a:lnSpc>
                <a:spcPct val="130000"/>
              </a:lnSpc>
              <a:buClrTx/>
              <a:buSzTx/>
              <a:buFontTx/>
            </a:pPr>
            <a:r>
              <a:rPr lang="en-US" altLang="zh-CN" sz="2800" dirty="0">
                <a:solidFill>
                  <a:schemeClr val="bg2"/>
                </a:solidFill>
                <a:effectLst>
                  <a:reflection blurRad="6350" stA="53000" endA="300" endPos="35500" dir="5400000" sy="-90000" algn="bl" rotWithShape="0"/>
                </a:effectLst>
              </a:rPr>
              <a:t>05</a:t>
            </a:r>
          </a:p>
        </p:txBody>
      </p:sp>
      <p:grpSp>
        <p:nvGrpSpPr>
          <p:cNvPr id="22" name="组合 21">
            <a:extLst>
              <a:ext uri="{FF2B5EF4-FFF2-40B4-BE49-F238E27FC236}">
                <a16:creationId xmlns:a16="http://schemas.microsoft.com/office/drawing/2014/main" id="{FE87164F-7B4C-2814-52AA-AC981D879D1B}"/>
              </a:ext>
            </a:extLst>
          </p:cNvPr>
          <p:cNvGrpSpPr/>
          <p:nvPr/>
        </p:nvGrpSpPr>
        <p:grpSpPr>
          <a:xfrm>
            <a:off x="234315" y="203200"/>
            <a:ext cx="6313170" cy="597535"/>
            <a:chOff x="234315" y="203200"/>
            <a:chExt cx="6313170" cy="597535"/>
          </a:xfrm>
        </p:grpSpPr>
        <p:sp>
          <p:nvSpPr>
            <p:cNvPr id="27" name="TextBox 28">
              <a:extLst>
                <a:ext uri="{FF2B5EF4-FFF2-40B4-BE49-F238E27FC236}">
                  <a16:creationId xmlns:a16="http://schemas.microsoft.com/office/drawing/2014/main" id="{96E5C83D-424A-CC34-5C63-0EEE73158B82}"/>
                </a:ext>
              </a:extLst>
            </p:cNvPr>
            <p:cNvSpPr txBox="1"/>
            <p:nvPr/>
          </p:nvSpPr>
          <p:spPr>
            <a:xfrm>
              <a:off x="864870" y="262890"/>
              <a:ext cx="5682615" cy="535940"/>
            </a:xfrm>
            <a:prstGeom prst="rect">
              <a:avLst/>
            </a:prstGeom>
            <a:noFill/>
          </p:spPr>
          <p:txBody>
            <a:bodyPr wrap="square" lIns="105509" tIns="52755" rIns="105509" bIns="52755"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600" normalizeH="0" baseline="0" noProof="0" dirty="0">
                <a:ln>
                  <a:noFill/>
                </a:ln>
                <a:solidFill>
                  <a:srgbClr val="2E5696"/>
                </a:solidFill>
                <a:effectLst/>
                <a:uLnTx/>
                <a:uFillTx/>
                <a:latin typeface="黑体" panose="02010609060101010101" charset="-122"/>
                <a:ea typeface="黑体" panose="02010609060101010101" charset="-122"/>
                <a:sym typeface="+mn-ea"/>
              </a:endParaRPr>
            </a:p>
          </p:txBody>
        </p:sp>
        <p:sp>
          <p:nvSpPr>
            <p:cNvPr id="24" name="矩形 23">
              <a:extLst>
                <a:ext uri="{FF2B5EF4-FFF2-40B4-BE49-F238E27FC236}">
                  <a16:creationId xmlns:a16="http://schemas.microsoft.com/office/drawing/2014/main" id="{6C3746D1-C58D-3A63-AC39-00AA588E5007}"/>
                </a:ext>
              </a:extLst>
            </p:cNvPr>
            <p:cNvSpPr/>
            <p:nvPr/>
          </p:nvSpPr>
          <p:spPr>
            <a:xfrm>
              <a:off x="234315" y="203200"/>
              <a:ext cx="496570" cy="496570"/>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25" name="矩形 24">
              <a:extLst>
                <a:ext uri="{FF2B5EF4-FFF2-40B4-BE49-F238E27FC236}">
                  <a16:creationId xmlns:a16="http://schemas.microsoft.com/office/drawing/2014/main" id="{CCE725C6-2171-231C-493C-BBBDD7558997}"/>
                </a:ext>
              </a:extLst>
            </p:cNvPr>
            <p:cNvSpPr/>
            <p:nvPr/>
          </p:nvSpPr>
          <p:spPr>
            <a:xfrm>
              <a:off x="478790" y="469265"/>
              <a:ext cx="331470" cy="331470"/>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grpSp>
      <p:cxnSp>
        <p:nvCxnSpPr>
          <p:cNvPr id="28" name="直接连接符 46">
            <a:extLst>
              <a:ext uri="{FF2B5EF4-FFF2-40B4-BE49-F238E27FC236}">
                <a16:creationId xmlns:a16="http://schemas.microsoft.com/office/drawing/2014/main" id="{55719A4A-9C12-DB3A-8E35-0CC9171790F2}"/>
              </a:ext>
            </a:extLst>
          </p:cNvPr>
          <p:cNvCxnSpPr>
            <a:cxnSpLocks noChangeShapeType="1"/>
          </p:cNvCxnSpPr>
          <p:nvPr/>
        </p:nvCxnSpPr>
        <p:spPr bwMode="auto">
          <a:xfrm flipH="1">
            <a:off x="864870" y="872490"/>
            <a:ext cx="11134725" cy="0"/>
          </a:xfrm>
          <a:prstGeom prst="line">
            <a:avLst/>
          </a:prstGeom>
          <a:noFill/>
          <a:ln w="9525" cmpd="sng">
            <a:solidFill>
              <a:srgbClr val="4D4948"/>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013221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7" name="矩形 9236">
            <a:extLst>
              <a:ext uri="{FF2B5EF4-FFF2-40B4-BE49-F238E27FC236}">
                <a16:creationId xmlns:a16="http://schemas.microsoft.com/office/drawing/2014/main" id="{014AE2D4-63FA-100E-D3B9-F75F70CA7A7F}"/>
              </a:ext>
            </a:extLst>
          </p:cNvPr>
          <p:cNvSpPr/>
          <p:nvPr/>
        </p:nvSpPr>
        <p:spPr>
          <a:xfrm>
            <a:off x="632298" y="4198090"/>
            <a:ext cx="5320140" cy="2309349"/>
          </a:xfrm>
          <a:prstGeom prst="rect">
            <a:avLst/>
          </a:prstGeom>
          <a:ln w="28575"/>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F8ADA04E-E02A-3748-A4B5-17FDD095D876}"/>
              </a:ext>
            </a:extLst>
          </p:cNvPr>
          <p:cNvSpPr/>
          <p:nvPr/>
        </p:nvSpPr>
        <p:spPr>
          <a:xfrm>
            <a:off x="6418611" y="4179952"/>
            <a:ext cx="5320140" cy="2309349"/>
          </a:xfrm>
          <a:prstGeom prst="rect">
            <a:avLst/>
          </a:prstGeom>
          <a:ln w="28575"/>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F6747D59-FA51-7CDE-1C42-62A15F33F5C8}"/>
              </a:ext>
            </a:extLst>
          </p:cNvPr>
          <p:cNvSpPr/>
          <p:nvPr/>
        </p:nvSpPr>
        <p:spPr>
          <a:xfrm>
            <a:off x="6418612" y="2762993"/>
            <a:ext cx="5320140" cy="1294400"/>
          </a:xfrm>
          <a:prstGeom prst="rect">
            <a:avLst/>
          </a:prstGeom>
          <a:ln w="28575"/>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dirty="0"/>
          </a:p>
        </p:txBody>
      </p:sp>
      <p:sp>
        <p:nvSpPr>
          <p:cNvPr id="23" name="矩形 22">
            <a:extLst>
              <a:ext uri="{FF2B5EF4-FFF2-40B4-BE49-F238E27FC236}">
                <a16:creationId xmlns:a16="http://schemas.microsoft.com/office/drawing/2014/main" id="{76B7AD05-AD75-F02A-2742-DC7F87F45CF9}"/>
              </a:ext>
            </a:extLst>
          </p:cNvPr>
          <p:cNvSpPr/>
          <p:nvPr/>
        </p:nvSpPr>
        <p:spPr>
          <a:xfrm>
            <a:off x="6485261" y="1901847"/>
            <a:ext cx="5253490" cy="719349"/>
          </a:xfrm>
          <a:prstGeom prst="rect">
            <a:avLst/>
          </a:prstGeom>
          <a:noFill/>
          <a:ln w="38100">
            <a:solidFill>
              <a:srgbClr val="97B75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折角形 10">
            <a:extLst>
              <a:ext uri="{FF2B5EF4-FFF2-40B4-BE49-F238E27FC236}">
                <a16:creationId xmlns:a16="http://schemas.microsoft.com/office/drawing/2014/main" id="{8B05A4F1-3023-7BC1-8846-8C10AA4BA95A}"/>
              </a:ext>
            </a:extLst>
          </p:cNvPr>
          <p:cNvSpPr/>
          <p:nvPr/>
        </p:nvSpPr>
        <p:spPr>
          <a:xfrm>
            <a:off x="6360173" y="1679125"/>
            <a:ext cx="5237467" cy="797808"/>
          </a:xfrm>
          <a:prstGeom prst="foldedCorner">
            <a:avLst/>
          </a:prstGeom>
          <a:solidFill>
            <a:srgbClr val="EAF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988121F5-1799-A517-E4E9-EA56B6486EA9}"/>
              </a:ext>
            </a:extLst>
          </p:cNvPr>
          <p:cNvSpPr/>
          <p:nvPr/>
        </p:nvSpPr>
        <p:spPr>
          <a:xfrm>
            <a:off x="757386" y="1901847"/>
            <a:ext cx="5253490" cy="719349"/>
          </a:xfrm>
          <a:prstGeom prst="rect">
            <a:avLst/>
          </a:prstGeom>
          <a:noFill/>
          <a:ln w="38100">
            <a:solidFill>
              <a:srgbClr val="97B75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折角形 10">
            <a:extLst>
              <a:ext uri="{FF2B5EF4-FFF2-40B4-BE49-F238E27FC236}">
                <a16:creationId xmlns:a16="http://schemas.microsoft.com/office/drawing/2014/main" id="{4F5B948E-F889-EBD9-8CF0-6D999DB8596F}"/>
              </a:ext>
            </a:extLst>
          </p:cNvPr>
          <p:cNvSpPr/>
          <p:nvPr/>
        </p:nvSpPr>
        <p:spPr>
          <a:xfrm>
            <a:off x="632298" y="1679125"/>
            <a:ext cx="5237467" cy="797808"/>
          </a:xfrm>
          <a:prstGeom prst="foldedCorner">
            <a:avLst/>
          </a:prstGeom>
          <a:solidFill>
            <a:srgbClr val="EAF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1C4B18CA-2B02-7178-C0FB-52E068E809CC}"/>
              </a:ext>
            </a:extLst>
          </p:cNvPr>
          <p:cNvGrpSpPr/>
          <p:nvPr/>
        </p:nvGrpSpPr>
        <p:grpSpPr>
          <a:xfrm>
            <a:off x="234315" y="203200"/>
            <a:ext cx="6303645" cy="597535"/>
            <a:chOff x="234315" y="203200"/>
            <a:chExt cx="6303645" cy="597535"/>
          </a:xfrm>
        </p:grpSpPr>
        <p:sp>
          <p:nvSpPr>
            <p:cNvPr id="4" name="矩形 3">
              <a:extLst>
                <a:ext uri="{FF2B5EF4-FFF2-40B4-BE49-F238E27FC236}">
                  <a16:creationId xmlns:a16="http://schemas.microsoft.com/office/drawing/2014/main" id="{5D1E4290-F477-E4C8-C450-505E3CCB94E5}"/>
                </a:ext>
              </a:extLst>
            </p:cNvPr>
            <p:cNvSpPr/>
            <p:nvPr/>
          </p:nvSpPr>
          <p:spPr>
            <a:xfrm>
              <a:off x="234315" y="203200"/>
              <a:ext cx="496570" cy="496570"/>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5" name="矩形 4">
              <a:extLst>
                <a:ext uri="{FF2B5EF4-FFF2-40B4-BE49-F238E27FC236}">
                  <a16:creationId xmlns:a16="http://schemas.microsoft.com/office/drawing/2014/main" id="{C069A217-6AAA-8F4C-09E9-891F68E2452C}"/>
                </a:ext>
              </a:extLst>
            </p:cNvPr>
            <p:cNvSpPr/>
            <p:nvPr/>
          </p:nvSpPr>
          <p:spPr>
            <a:xfrm>
              <a:off x="478790" y="469265"/>
              <a:ext cx="331470" cy="331470"/>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7" name="TextBox 28">
              <a:extLst>
                <a:ext uri="{FF2B5EF4-FFF2-40B4-BE49-F238E27FC236}">
                  <a16:creationId xmlns:a16="http://schemas.microsoft.com/office/drawing/2014/main" id="{6110B9D5-70A2-85E5-CFC3-B99CF9271896}"/>
                </a:ext>
              </a:extLst>
            </p:cNvPr>
            <p:cNvSpPr txBox="1"/>
            <p:nvPr/>
          </p:nvSpPr>
          <p:spPr>
            <a:xfrm>
              <a:off x="855345" y="262890"/>
              <a:ext cx="5682615" cy="535940"/>
            </a:xfrm>
            <a:prstGeom prst="rect">
              <a:avLst/>
            </a:prstGeom>
            <a:noFill/>
          </p:spPr>
          <p:txBody>
            <a:bodyPr wrap="square" lIns="105509" tIns="52755" rIns="105509" bIns="52755" rtlCol="0">
              <a:spAutoFit/>
            </a:bodyPr>
            <a:lstStyle>
              <a:defPPr>
                <a:defRPr lang="en-US"/>
              </a:defPPr>
              <a:lvl1pPr algn="just">
                <a:defRPr sz="2800" spc="600">
                  <a:solidFill>
                    <a:srgbClr val="2E5696"/>
                  </a:solidFill>
                  <a:latin typeface="微软雅黑" panose="020B0503020204020204" pitchFamily="34" charset="-122"/>
                  <a:ea typeface="微软雅黑" panose="020B0503020204020204" pitchFamily="34" charset="-122"/>
                </a:defRPr>
              </a:lvl1pPr>
            </a:lstStyle>
            <a:p>
              <a:r>
                <a:rPr lang="zh-CN" altLang="en-US" dirty="0">
                  <a:sym typeface="+mn-ea"/>
                </a:rPr>
                <a:t>研究进展</a:t>
              </a:r>
            </a:p>
          </p:txBody>
        </p:sp>
      </p:grpSp>
      <p:cxnSp>
        <p:nvCxnSpPr>
          <p:cNvPr id="2" name="直接连接符 46">
            <a:extLst>
              <a:ext uri="{FF2B5EF4-FFF2-40B4-BE49-F238E27FC236}">
                <a16:creationId xmlns:a16="http://schemas.microsoft.com/office/drawing/2014/main" id="{61AA5B85-258A-4024-80A5-8AA7ECD87FA6}"/>
              </a:ext>
            </a:extLst>
          </p:cNvPr>
          <p:cNvCxnSpPr>
            <a:cxnSpLocks noChangeShapeType="1"/>
          </p:cNvCxnSpPr>
          <p:nvPr/>
        </p:nvCxnSpPr>
        <p:spPr bwMode="auto">
          <a:xfrm flipH="1">
            <a:off x="864870" y="872490"/>
            <a:ext cx="11134725" cy="0"/>
          </a:xfrm>
          <a:prstGeom prst="line">
            <a:avLst/>
          </a:prstGeom>
          <a:noFill/>
          <a:ln w="9525" cmpd="sng">
            <a:solidFill>
              <a:srgbClr val="4D4948"/>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矩形 7">
            <a:extLst>
              <a:ext uri="{FF2B5EF4-FFF2-40B4-BE49-F238E27FC236}">
                <a16:creationId xmlns:a16="http://schemas.microsoft.com/office/drawing/2014/main" id="{8CA2C06F-26F7-5BFF-9C93-ABAF94D4546D}"/>
              </a:ext>
            </a:extLst>
          </p:cNvPr>
          <p:cNvSpPr/>
          <p:nvPr/>
        </p:nvSpPr>
        <p:spPr>
          <a:xfrm>
            <a:off x="255905" y="945515"/>
            <a:ext cx="11697335" cy="5784850"/>
          </a:xfrm>
          <a:prstGeom prst="rect">
            <a:avLst/>
          </a:prstGeom>
          <a:noFill/>
          <a:ln w="28575" cap="flat" cmpd="sng" algn="ctr">
            <a:solidFill>
              <a:srgbClr val="012E57">
                <a:lumMod val="25000"/>
                <a:lumOff val="75000"/>
              </a:srgbClr>
            </a:solidFill>
            <a:prstDash val="sysDash"/>
          </a:ln>
          <a:effectLst/>
        </p:spPr>
        <p:txBody>
          <a:bodyPr rtlCol="0" anchor="ctr"/>
          <a:lstStyle>
            <a:defPPr>
              <a:defRPr lang="zh-CN">
                <a:solidFill>
                  <a:schemeClr val="lt1"/>
                </a:solidFill>
              </a:defRPr>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3200" algn="l" defTabSz="913765" rtl="0" eaLnBrk="1" latinLnBrk="0" hangingPunct="1">
              <a:defRPr sz="1800" kern="1200">
                <a:solidFill>
                  <a:schemeClr val="lt1"/>
                </a:solidFill>
                <a:latin typeface="+mn-lt"/>
                <a:ea typeface="+mn-ea"/>
                <a:cs typeface="+mn-cs"/>
              </a:defRPr>
            </a:lvl7pPr>
            <a:lvl8pPr marL="3200400" algn="l" defTabSz="913765" rtl="0" eaLnBrk="1" latinLnBrk="0" hangingPunct="1">
              <a:defRPr sz="1800" kern="1200">
                <a:solidFill>
                  <a:schemeClr val="lt1"/>
                </a:solidFill>
                <a:latin typeface="+mn-lt"/>
                <a:ea typeface="+mn-ea"/>
                <a:cs typeface="+mn-cs"/>
              </a:defRPr>
            </a:lvl8pPr>
            <a:lvl9pPr marL="3657600" algn="l" defTabSz="913765" rtl="0" eaLnBrk="1" latinLnBrk="0" hangingPunct="1">
              <a:defRPr sz="1800" kern="1200">
                <a:solidFill>
                  <a:schemeClr val="lt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endParaRPr>
          </a:p>
        </p:txBody>
      </p:sp>
      <p:sp>
        <p:nvSpPr>
          <p:cNvPr id="3" name="矩形: 圆角 2">
            <a:extLst>
              <a:ext uri="{FF2B5EF4-FFF2-40B4-BE49-F238E27FC236}">
                <a16:creationId xmlns:a16="http://schemas.microsoft.com/office/drawing/2014/main" id="{47DD8BE5-D069-A247-356F-692B23964E08}"/>
              </a:ext>
            </a:extLst>
          </p:cNvPr>
          <p:cNvSpPr/>
          <p:nvPr/>
        </p:nvSpPr>
        <p:spPr>
          <a:xfrm>
            <a:off x="632298" y="1118236"/>
            <a:ext cx="2118014" cy="483139"/>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vert="horz" rtlCol="0" anchor="ctr"/>
          <a:lstStyle/>
          <a:p>
            <a:pPr algn="ctr"/>
            <a:r>
              <a:rPr lang="zh-CN" altLang="en-US" dirty="0"/>
              <a:t>理论学习</a:t>
            </a:r>
          </a:p>
        </p:txBody>
      </p:sp>
      <p:sp>
        <p:nvSpPr>
          <p:cNvPr id="9" name="矩形: 圆角 8">
            <a:extLst>
              <a:ext uri="{FF2B5EF4-FFF2-40B4-BE49-F238E27FC236}">
                <a16:creationId xmlns:a16="http://schemas.microsoft.com/office/drawing/2014/main" id="{8DE25C72-8FC8-ABCC-0626-67DF85F84093}"/>
              </a:ext>
            </a:extLst>
          </p:cNvPr>
          <p:cNvSpPr/>
          <p:nvPr/>
        </p:nvSpPr>
        <p:spPr>
          <a:xfrm>
            <a:off x="6352639" y="1118235"/>
            <a:ext cx="2118014" cy="483139"/>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vert="horz" rtlCol="0" anchor="ctr"/>
          <a:lstStyle/>
          <a:p>
            <a:pPr algn="ctr"/>
            <a:r>
              <a:rPr lang="zh-CN" altLang="en-US" dirty="0"/>
              <a:t>方法验证</a:t>
            </a:r>
          </a:p>
        </p:txBody>
      </p:sp>
      <p:pic>
        <p:nvPicPr>
          <p:cNvPr id="15" name="图片 14">
            <a:extLst>
              <a:ext uri="{FF2B5EF4-FFF2-40B4-BE49-F238E27FC236}">
                <a16:creationId xmlns:a16="http://schemas.microsoft.com/office/drawing/2014/main" id="{03293F14-A61A-D437-0108-01F4807C3820}"/>
              </a:ext>
            </a:extLst>
          </p:cNvPr>
          <p:cNvPicPr>
            <a:picLocks noChangeAspect="1"/>
          </p:cNvPicPr>
          <p:nvPr/>
        </p:nvPicPr>
        <p:blipFill>
          <a:blip r:embed="rId3"/>
          <a:stretch>
            <a:fillRect/>
          </a:stretch>
        </p:blipFill>
        <p:spPr>
          <a:xfrm>
            <a:off x="931094" y="4251530"/>
            <a:ext cx="4775692" cy="1975566"/>
          </a:xfrm>
          <a:prstGeom prst="rect">
            <a:avLst/>
          </a:prstGeom>
          <a:noFill/>
          <a:ln>
            <a:noFill/>
          </a:ln>
        </p:spPr>
        <p:style>
          <a:lnRef idx="0">
            <a:scrgbClr r="0" g="0" b="0"/>
          </a:lnRef>
          <a:fillRef idx="0">
            <a:scrgbClr r="0" g="0" b="0"/>
          </a:fillRef>
          <a:effectRef idx="0">
            <a:scrgbClr r="0" g="0" b="0"/>
          </a:effectRef>
          <a:fontRef idx="minor">
            <a:schemeClr val="dk1"/>
          </a:fontRef>
        </p:style>
      </p:pic>
      <p:sp>
        <p:nvSpPr>
          <p:cNvPr id="16" name="文本框 15">
            <a:extLst>
              <a:ext uri="{FF2B5EF4-FFF2-40B4-BE49-F238E27FC236}">
                <a16:creationId xmlns:a16="http://schemas.microsoft.com/office/drawing/2014/main" id="{9196EC21-6957-EB3F-C3DD-432F212823C7}"/>
              </a:ext>
            </a:extLst>
          </p:cNvPr>
          <p:cNvSpPr txBox="1"/>
          <p:nvPr/>
        </p:nvSpPr>
        <p:spPr>
          <a:xfrm>
            <a:off x="688851" y="1774096"/>
            <a:ext cx="4844454" cy="584775"/>
          </a:xfrm>
          <a:prstGeom prst="rect">
            <a:avLst/>
          </a:prstGeom>
          <a:noFill/>
        </p:spPr>
        <p:txBody>
          <a:bodyPr wrap="square" rtlCol="0">
            <a:spAutoFit/>
          </a:bodyPr>
          <a:lstStyle/>
          <a:p>
            <a:pPr algn="just"/>
            <a:r>
              <a:rPr lang="zh-CN" altLang="en-US" sz="1600" dirty="0"/>
              <a:t>阅读统计机器学习和语音端点检测相关理论的书籍、文献等，把握研究内容整体脉络。</a:t>
            </a:r>
          </a:p>
        </p:txBody>
      </p:sp>
      <p:sp>
        <p:nvSpPr>
          <p:cNvPr id="18" name="文本框 17">
            <a:extLst>
              <a:ext uri="{FF2B5EF4-FFF2-40B4-BE49-F238E27FC236}">
                <a16:creationId xmlns:a16="http://schemas.microsoft.com/office/drawing/2014/main" id="{54FE10B5-10C0-F72F-645C-887DC3DB5F7F}"/>
              </a:ext>
            </a:extLst>
          </p:cNvPr>
          <p:cNvSpPr txBox="1"/>
          <p:nvPr/>
        </p:nvSpPr>
        <p:spPr>
          <a:xfrm>
            <a:off x="6479217" y="1750209"/>
            <a:ext cx="4781964" cy="584775"/>
          </a:xfrm>
          <a:prstGeom prst="rect">
            <a:avLst/>
          </a:prstGeom>
          <a:noFill/>
        </p:spPr>
        <p:txBody>
          <a:bodyPr wrap="square" rtlCol="0">
            <a:spAutoFit/>
          </a:bodyPr>
          <a:lstStyle>
            <a:defPPr>
              <a:defRPr lang="en-US"/>
            </a:defPPr>
            <a:lvl1pPr algn="just">
              <a:defRPr sz="1600"/>
            </a:lvl1pPr>
          </a:lstStyle>
          <a:p>
            <a:r>
              <a:rPr lang="zh-CN" altLang="en-US" dirty="0"/>
              <a:t>从经典理论学习中寻找与研究方向契合的关键内容，在端点检测算法中进行了部分实验探索。</a:t>
            </a:r>
          </a:p>
        </p:txBody>
      </p:sp>
      <p:sp>
        <p:nvSpPr>
          <p:cNvPr id="28" name="文本框 27">
            <a:extLst>
              <a:ext uri="{FF2B5EF4-FFF2-40B4-BE49-F238E27FC236}">
                <a16:creationId xmlns:a16="http://schemas.microsoft.com/office/drawing/2014/main" id="{25F46B69-E560-5C8B-8874-A2EA6BC40BFA}"/>
              </a:ext>
            </a:extLst>
          </p:cNvPr>
          <p:cNvSpPr txBox="1"/>
          <p:nvPr/>
        </p:nvSpPr>
        <p:spPr>
          <a:xfrm>
            <a:off x="7875582" y="3710646"/>
            <a:ext cx="2301240" cy="461665"/>
          </a:xfrm>
          <a:prstGeom prst="rect">
            <a:avLst/>
          </a:prstGeom>
          <a:noFill/>
        </p:spPr>
        <p:txBody>
          <a:bodyPr wrap="square" rtlCol="0">
            <a:spAutoFit/>
          </a:bodyPr>
          <a:lstStyle/>
          <a:p>
            <a:pPr algn="ctr"/>
            <a:r>
              <a:rPr lang="zh-CN" altLang="en-US" sz="1200" b="1" dirty="0">
                <a:solidFill>
                  <a:srgbClr val="2E5696"/>
                </a:solidFill>
              </a:rPr>
              <a:t>不同端点检测方法对比 </a:t>
            </a:r>
          </a:p>
          <a:p>
            <a:pPr algn="ctr"/>
            <a:endParaRPr lang="zh-CN" altLang="en-US" sz="1200" b="1" dirty="0">
              <a:solidFill>
                <a:srgbClr val="2E5696"/>
              </a:solidFill>
            </a:endParaRPr>
          </a:p>
        </p:txBody>
      </p:sp>
      <p:sp>
        <p:nvSpPr>
          <p:cNvPr id="31" name="文本框 30">
            <a:extLst>
              <a:ext uri="{FF2B5EF4-FFF2-40B4-BE49-F238E27FC236}">
                <a16:creationId xmlns:a16="http://schemas.microsoft.com/office/drawing/2014/main" id="{4D8AEBAB-49C0-1603-D909-B1B7CCC4A510}"/>
              </a:ext>
            </a:extLst>
          </p:cNvPr>
          <p:cNvSpPr txBox="1"/>
          <p:nvPr/>
        </p:nvSpPr>
        <p:spPr>
          <a:xfrm>
            <a:off x="7417376" y="6238067"/>
            <a:ext cx="3840245" cy="276999"/>
          </a:xfrm>
          <a:prstGeom prst="rect">
            <a:avLst/>
          </a:prstGeom>
          <a:noFill/>
        </p:spPr>
        <p:txBody>
          <a:bodyPr wrap="square" rtlCol="0">
            <a:spAutoFit/>
          </a:bodyPr>
          <a:lstStyle/>
          <a:p>
            <a:r>
              <a:rPr lang="zh-CN" altLang="en-US" sz="1200" b="1" dirty="0">
                <a:solidFill>
                  <a:srgbClr val="2E5696"/>
                </a:solidFill>
              </a:rPr>
              <a:t>带噪训练的 </a:t>
            </a:r>
            <a:r>
              <a:rPr lang="en" altLang="zh-CN" sz="1200" b="1" dirty="0">
                <a:solidFill>
                  <a:srgbClr val="2E5696"/>
                </a:solidFill>
              </a:rPr>
              <a:t>DNN </a:t>
            </a:r>
            <a:r>
              <a:rPr lang="zh-CN" altLang="en-US" sz="1200" b="1" dirty="0">
                <a:solidFill>
                  <a:srgbClr val="2E5696"/>
                </a:solidFill>
              </a:rPr>
              <a:t>与原始语料训练的 </a:t>
            </a:r>
            <a:r>
              <a:rPr lang="en" altLang="zh-CN" sz="1200" b="1" dirty="0">
                <a:solidFill>
                  <a:srgbClr val="2E5696"/>
                </a:solidFill>
              </a:rPr>
              <a:t>DNN </a:t>
            </a:r>
            <a:r>
              <a:rPr lang="zh-CN" altLang="en-US" sz="1200" b="1" dirty="0">
                <a:solidFill>
                  <a:srgbClr val="2E5696"/>
                </a:solidFill>
              </a:rPr>
              <a:t>端点对比</a:t>
            </a:r>
          </a:p>
        </p:txBody>
      </p:sp>
      <p:sp>
        <p:nvSpPr>
          <p:cNvPr id="9238" name="矩形 9237">
            <a:extLst>
              <a:ext uri="{FF2B5EF4-FFF2-40B4-BE49-F238E27FC236}">
                <a16:creationId xmlns:a16="http://schemas.microsoft.com/office/drawing/2014/main" id="{446064C2-7E2C-0EDD-4C89-E262DDFEFADA}"/>
              </a:ext>
            </a:extLst>
          </p:cNvPr>
          <p:cNvSpPr/>
          <p:nvPr/>
        </p:nvSpPr>
        <p:spPr>
          <a:xfrm>
            <a:off x="640870" y="2764530"/>
            <a:ext cx="5320140" cy="1294400"/>
          </a:xfrm>
          <a:prstGeom prst="rect">
            <a:avLst/>
          </a:prstGeom>
          <a:ln w="28575"/>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9239" name="文本框 9238">
            <a:extLst>
              <a:ext uri="{FF2B5EF4-FFF2-40B4-BE49-F238E27FC236}">
                <a16:creationId xmlns:a16="http://schemas.microsoft.com/office/drawing/2014/main" id="{CA239BE3-0DF4-F2B7-7631-9CD2B59D5ECB}"/>
              </a:ext>
            </a:extLst>
          </p:cNvPr>
          <p:cNvSpPr txBox="1"/>
          <p:nvPr/>
        </p:nvSpPr>
        <p:spPr>
          <a:xfrm>
            <a:off x="2089949" y="3779247"/>
            <a:ext cx="2301240" cy="276999"/>
          </a:xfrm>
          <a:prstGeom prst="rect">
            <a:avLst/>
          </a:prstGeom>
          <a:noFill/>
        </p:spPr>
        <p:txBody>
          <a:bodyPr wrap="square" rtlCol="0">
            <a:spAutoFit/>
          </a:bodyPr>
          <a:lstStyle/>
          <a:p>
            <a:pPr algn="ctr"/>
            <a:r>
              <a:rPr lang="zh-CN" altLang="en-US" sz="1200" b="1" dirty="0">
                <a:solidFill>
                  <a:srgbClr val="2E5696"/>
                </a:solidFill>
              </a:rPr>
              <a:t>进行相关理论的系统性学习</a:t>
            </a:r>
          </a:p>
        </p:txBody>
      </p:sp>
      <p:sp>
        <p:nvSpPr>
          <p:cNvPr id="9240" name="文本框 9239">
            <a:extLst>
              <a:ext uri="{FF2B5EF4-FFF2-40B4-BE49-F238E27FC236}">
                <a16:creationId xmlns:a16="http://schemas.microsoft.com/office/drawing/2014/main" id="{876D8117-AC62-B75A-008F-491184EF6FC1}"/>
              </a:ext>
            </a:extLst>
          </p:cNvPr>
          <p:cNvSpPr txBox="1"/>
          <p:nvPr/>
        </p:nvSpPr>
        <p:spPr>
          <a:xfrm>
            <a:off x="2089948" y="6219267"/>
            <a:ext cx="2529185" cy="276999"/>
          </a:xfrm>
          <a:prstGeom prst="rect">
            <a:avLst/>
          </a:prstGeom>
          <a:noFill/>
        </p:spPr>
        <p:txBody>
          <a:bodyPr wrap="square" rtlCol="0">
            <a:spAutoFit/>
          </a:bodyPr>
          <a:lstStyle/>
          <a:p>
            <a:pPr algn="ctr"/>
            <a:r>
              <a:rPr lang="zh-CN" altLang="en-US" sz="1200" b="1" dirty="0">
                <a:solidFill>
                  <a:srgbClr val="2E5696"/>
                </a:solidFill>
              </a:rPr>
              <a:t>无监督特征学习和深度学习综述</a:t>
            </a:r>
          </a:p>
        </p:txBody>
      </p:sp>
      <p:sp>
        <p:nvSpPr>
          <p:cNvPr id="9241" name="矩形: 圆角 9240">
            <a:extLst>
              <a:ext uri="{FF2B5EF4-FFF2-40B4-BE49-F238E27FC236}">
                <a16:creationId xmlns:a16="http://schemas.microsoft.com/office/drawing/2014/main" id="{665F6D38-B156-4251-B7A6-7C62F2F3A9B4}"/>
              </a:ext>
            </a:extLst>
          </p:cNvPr>
          <p:cNvSpPr/>
          <p:nvPr/>
        </p:nvSpPr>
        <p:spPr>
          <a:xfrm>
            <a:off x="864870" y="2858686"/>
            <a:ext cx="1342980" cy="37664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400" dirty="0">
                <a:solidFill>
                  <a:schemeClr val="accent1">
                    <a:lumMod val="50000"/>
                  </a:schemeClr>
                </a:solidFill>
                <a:latin typeface="楷体" panose="02010609060101010101" pitchFamily="49" charset="-122"/>
                <a:ea typeface="楷体" panose="02010609060101010101" pitchFamily="49" charset="-122"/>
              </a:rPr>
              <a:t>语音端点检测</a:t>
            </a:r>
          </a:p>
        </p:txBody>
      </p:sp>
      <p:sp>
        <p:nvSpPr>
          <p:cNvPr id="9242" name="矩形: 圆角 9241">
            <a:extLst>
              <a:ext uri="{FF2B5EF4-FFF2-40B4-BE49-F238E27FC236}">
                <a16:creationId xmlns:a16="http://schemas.microsoft.com/office/drawing/2014/main" id="{35A48122-27E3-0116-3F50-828ED9DB5F16}"/>
              </a:ext>
            </a:extLst>
          </p:cNvPr>
          <p:cNvSpPr/>
          <p:nvPr/>
        </p:nvSpPr>
        <p:spPr>
          <a:xfrm>
            <a:off x="2643768" y="2843918"/>
            <a:ext cx="1342980" cy="37664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400" dirty="0">
                <a:solidFill>
                  <a:schemeClr val="accent1">
                    <a:lumMod val="50000"/>
                  </a:schemeClr>
                </a:solidFill>
                <a:latin typeface="楷体" panose="02010609060101010101" pitchFamily="49" charset="-122"/>
                <a:ea typeface="楷体" panose="02010609060101010101" pitchFamily="49" charset="-122"/>
              </a:rPr>
              <a:t>DNN</a:t>
            </a:r>
            <a:endParaRPr lang="zh-CN" altLang="en-US" sz="1400" dirty="0">
              <a:solidFill>
                <a:schemeClr val="accent1">
                  <a:lumMod val="50000"/>
                </a:schemeClr>
              </a:solidFill>
              <a:latin typeface="楷体" panose="02010609060101010101" pitchFamily="49" charset="-122"/>
              <a:ea typeface="楷体" panose="02010609060101010101" pitchFamily="49" charset="-122"/>
            </a:endParaRPr>
          </a:p>
        </p:txBody>
      </p:sp>
      <p:sp>
        <p:nvSpPr>
          <p:cNvPr id="9243" name="矩形: 圆角 9242">
            <a:extLst>
              <a:ext uri="{FF2B5EF4-FFF2-40B4-BE49-F238E27FC236}">
                <a16:creationId xmlns:a16="http://schemas.microsoft.com/office/drawing/2014/main" id="{41E1A1B3-20DD-378A-539F-C0F981709520}"/>
              </a:ext>
            </a:extLst>
          </p:cNvPr>
          <p:cNvSpPr/>
          <p:nvPr/>
        </p:nvSpPr>
        <p:spPr>
          <a:xfrm>
            <a:off x="4392713" y="2843918"/>
            <a:ext cx="1342980" cy="37664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400" dirty="0">
                <a:solidFill>
                  <a:schemeClr val="accent1">
                    <a:lumMod val="50000"/>
                  </a:schemeClr>
                </a:solidFill>
                <a:latin typeface="楷体" panose="02010609060101010101" pitchFamily="49" charset="-122"/>
                <a:ea typeface="楷体" panose="02010609060101010101" pitchFamily="49" charset="-122"/>
              </a:rPr>
              <a:t>深度学习</a:t>
            </a:r>
          </a:p>
        </p:txBody>
      </p:sp>
      <p:sp>
        <p:nvSpPr>
          <p:cNvPr id="9244" name="矩形: 圆角 9243">
            <a:extLst>
              <a:ext uri="{FF2B5EF4-FFF2-40B4-BE49-F238E27FC236}">
                <a16:creationId xmlns:a16="http://schemas.microsoft.com/office/drawing/2014/main" id="{1D48F0D2-8E69-CEFE-6BE5-BE65EEF43757}"/>
              </a:ext>
            </a:extLst>
          </p:cNvPr>
          <p:cNvSpPr/>
          <p:nvPr/>
        </p:nvSpPr>
        <p:spPr>
          <a:xfrm>
            <a:off x="1691305" y="3329482"/>
            <a:ext cx="1342980" cy="37664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400" dirty="0">
                <a:solidFill>
                  <a:schemeClr val="accent1">
                    <a:lumMod val="50000"/>
                  </a:schemeClr>
                </a:solidFill>
                <a:latin typeface="楷体" panose="02010609060101010101" pitchFamily="49" charset="-122"/>
                <a:ea typeface="楷体" panose="02010609060101010101" pitchFamily="49" charset="-122"/>
              </a:rPr>
              <a:t>神经网络</a:t>
            </a:r>
          </a:p>
        </p:txBody>
      </p:sp>
      <p:sp>
        <p:nvSpPr>
          <p:cNvPr id="9245" name="矩形: 圆角 9244">
            <a:extLst>
              <a:ext uri="{FF2B5EF4-FFF2-40B4-BE49-F238E27FC236}">
                <a16:creationId xmlns:a16="http://schemas.microsoft.com/office/drawing/2014/main" id="{E01F09A6-6320-1CC8-E17A-256AA15A35FB}"/>
              </a:ext>
            </a:extLst>
          </p:cNvPr>
          <p:cNvSpPr/>
          <p:nvPr/>
        </p:nvSpPr>
        <p:spPr>
          <a:xfrm>
            <a:off x="3544067" y="3329482"/>
            <a:ext cx="1342980" cy="37664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zh-CN" sz="1400" dirty="0">
                <a:solidFill>
                  <a:schemeClr val="accent1">
                    <a:lumMod val="50000"/>
                  </a:schemeClr>
                </a:solidFill>
                <a:latin typeface="楷体" panose="02010609060101010101" pitchFamily="49" charset="-122"/>
                <a:ea typeface="楷体" panose="02010609060101010101" pitchFamily="49" charset="-122"/>
              </a:rPr>
              <a:t>梅尔频率倒谱系数 </a:t>
            </a:r>
            <a:endParaRPr lang="zh-CN" altLang="en-US" sz="1400" dirty="0">
              <a:solidFill>
                <a:schemeClr val="accent1">
                  <a:lumMod val="50000"/>
                </a:schemeClr>
              </a:solidFill>
              <a:latin typeface="楷体" panose="02010609060101010101" pitchFamily="49" charset="-122"/>
              <a:ea typeface="楷体" panose="02010609060101010101" pitchFamily="49" charset="-122"/>
            </a:endParaRPr>
          </a:p>
        </p:txBody>
      </p:sp>
      <p:pic>
        <p:nvPicPr>
          <p:cNvPr id="13" name="图片 12">
            <a:extLst>
              <a:ext uri="{FF2B5EF4-FFF2-40B4-BE49-F238E27FC236}">
                <a16:creationId xmlns:a16="http://schemas.microsoft.com/office/drawing/2014/main" id="{24F41E9D-7C1E-C373-D4CC-51F88404DCB4}"/>
              </a:ext>
            </a:extLst>
          </p:cNvPr>
          <p:cNvPicPr>
            <a:picLocks noChangeAspect="1"/>
          </p:cNvPicPr>
          <p:nvPr/>
        </p:nvPicPr>
        <p:blipFill>
          <a:blip r:embed="rId4"/>
          <a:stretch>
            <a:fillRect/>
          </a:stretch>
        </p:blipFill>
        <p:spPr>
          <a:xfrm>
            <a:off x="6764261" y="2808226"/>
            <a:ext cx="4628840" cy="925768"/>
          </a:xfrm>
          <a:prstGeom prst="rect">
            <a:avLst/>
          </a:prstGeom>
        </p:spPr>
      </p:pic>
      <p:pic>
        <p:nvPicPr>
          <p:cNvPr id="14" name="图片 13">
            <a:extLst>
              <a:ext uri="{FF2B5EF4-FFF2-40B4-BE49-F238E27FC236}">
                <a16:creationId xmlns:a16="http://schemas.microsoft.com/office/drawing/2014/main" id="{26357B0D-605B-C7DD-D655-4170FB91C7F2}"/>
              </a:ext>
            </a:extLst>
          </p:cNvPr>
          <p:cNvPicPr>
            <a:picLocks noChangeAspect="1"/>
          </p:cNvPicPr>
          <p:nvPr/>
        </p:nvPicPr>
        <p:blipFill>
          <a:blip r:embed="rId5"/>
          <a:stretch>
            <a:fillRect/>
          </a:stretch>
        </p:blipFill>
        <p:spPr>
          <a:xfrm>
            <a:off x="6479217" y="4248763"/>
            <a:ext cx="5121157" cy="711050"/>
          </a:xfrm>
          <a:prstGeom prst="rect">
            <a:avLst/>
          </a:prstGeom>
        </p:spPr>
      </p:pic>
    </p:spTree>
    <p:extLst>
      <p:ext uri="{BB962C8B-B14F-4D97-AF65-F5344CB8AC3E}">
        <p14:creationId xmlns:p14="http://schemas.microsoft.com/office/powerpoint/2010/main" val="2806433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0918D8E8-D891-73A8-E2DF-4E844E5D1BE6}"/>
              </a:ext>
            </a:extLst>
          </p:cNvPr>
          <p:cNvGrpSpPr/>
          <p:nvPr/>
        </p:nvGrpSpPr>
        <p:grpSpPr>
          <a:xfrm>
            <a:off x="1325301" y="1485265"/>
            <a:ext cx="1708898" cy="1209216"/>
            <a:chOff x="3026" y="2033"/>
            <a:chExt cx="2285" cy="1384"/>
          </a:xfrm>
        </p:grpSpPr>
        <p:sp>
          <p:nvSpPr>
            <p:cNvPr id="4" name="文本框 3">
              <a:extLst>
                <a:ext uri="{FF2B5EF4-FFF2-40B4-BE49-F238E27FC236}">
                  <a16:creationId xmlns:a16="http://schemas.microsoft.com/office/drawing/2014/main" id="{5648A4B3-FEE0-C039-B465-094E141ECF43}"/>
                </a:ext>
              </a:extLst>
            </p:cNvPr>
            <p:cNvSpPr txBox="1"/>
            <p:nvPr>
              <p:custDataLst>
                <p:tags r:id="rId11"/>
              </p:custDataLst>
            </p:nvPr>
          </p:nvSpPr>
          <p:spPr>
            <a:xfrm>
              <a:off x="3026" y="2947"/>
              <a:ext cx="2285" cy="470"/>
            </a:xfrm>
            <a:prstGeom prst="rect">
              <a:avLst/>
            </a:prstGeom>
            <a:noFill/>
          </p:spPr>
          <p:txBody>
            <a:bodyPr wrap="square" rtlCol="0">
              <a:spAutoFit/>
              <a:scene3d>
                <a:camera prst="orthographicFront"/>
                <a:lightRig rig="threePt" dir="t"/>
              </a:scene3d>
            </a:bodyPr>
            <a:lstStyle/>
            <a:p>
              <a:pPr algn="ctr">
                <a:lnSpc>
                  <a:spcPct val="130000"/>
                </a:lnSpc>
              </a:pPr>
              <a:r>
                <a:rPr lang="en-US" altLang="zh-CN" sz="1600" b="1">
                  <a:solidFill>
                    <a:srgbClr val="2E5696"/>
                  </a:solidFill>
                  <a:effectLst>
                    <a:outerShdw blurRad="38100" dist="25400" dir="5400000" algn="ctr" rotWithShape="0">
                      <a:srgbClr val="6E747A">
                        <a:alpha val="43000"/>
                      </a:srgbClr>
                    </a:outerShdw>
                  </a:effectLst>
                </a:rPr>
                <a:t>CONTENTS</a:t>
              </a:r>
            </a:p>
          </p:txBody>
        </p:sp>
        <p:sp>
          <p:nvSpPr>
            <p:cNvPr id="5" name="文本框 4">
              <a:extLst>
                <a:ext uri="{FF2B5EF4-FFF2-40B4-BE49-F238E27FC236}">
                  <a16:creationId xmlns:a16="http://schemas.microsoft.com/office/drawing/2014/main" id="{4CAA30C0-42D8-D80E-653D-2CE9A7EE2274}"/>
                </a:ext>
              </a:extLst>
            </p:cNvPr>
            <p:cNvSpPr txBox="1"/>
            <p:nvPr>
              <p:custDataLst>
                <p:tags r:id="rId12"/>
              </p:custDataLst>
            </p:nvPr>
          </p:nvSpPr>
          <p:spPr>
            <a:xfrm>
              <a:off x="3243" y="2033"/>
              <a:ext cx="1850" cy="784"/>
            </a:xfrm>
            <a:prstGeom prst="rect">
              <a:avLst/>
            </a:prstGeom>
            <a:noFill/>
          </p:spPr>
          <p:txBody>
            <a:bodyPr wrap="square" bIns="0" rtlCol="0">
              <a:spAutoFit/>
              <a:scene3d>
                <a:camera prst="orthographicFront"/>
                <a:lightRig rig="threePt" dir="t"/>
              </a:scene3d>
            </a:bodyPr>
            <a:lstStyle/>
            <a:p>
              <a:pPr algn="dist">
                <a:lnSpc>
                  <a:spcPct val="130000"/>
                </a:lnSpc>
              </a:pPr>
              <a:r>
                <a:rPr lang="zh-CN" altLang="en-US" sz="3200">
                  <a:solidFill>
                    <a:srgbClr val="2E5696"/>
                  </a:solidFill>
                  <a:effectLst>
                    <a:reflection blurRad="6350" stA="53000" endA="300" endPos="35500" dir="5400000" sy="-90000" algn="bl" rotWithShape="0"/>
                  </a:effectLst>
                  <a:uFillTx/>
                  <a:latin typeface="+mj-lt"/>
                  <a:ea typeface="+mj-ea"/>
                  <a:cs typeface="+mj-cs"/>
                </a:rPr>
                <a:t>目录</a:t>
              </a:r>
            </a:p>
          </p:txBody>
        </p:sp>
        <p:cxnSp>
          <p:nvCxnSpPr>
            <p:cNvPr id="6" name="直接连接符 5">
              <a:extLst>
                <a:ext uri="{FF2B5EF4-FFF2-40B4-BE49-F238E27FC236}">
                  <a16:creationId xmlns:a16="http://schemas.microsoft.com/office/drawing/2014/main" id="{FF7BB9A5-75F7-E5D6-F3CA-4A45291641EB}"/>
                </a:ext>
              </a:extLst>
            </p:cNvPr>
            <p:cNvCxnSpPr/>
            <p:nvPr>
              <p:custDataLst>
                <p:tags r:id="rId13"/>
              </p:custDataLst>
            </p:nvPr>
          </p:nvCxnSpPr>
          <p:spPr>
            <a:xfrm flipV="1">
              <a:off x="3242" y="2918"/>
              <a:ext cx="1907" cy="2"/>
            </a:xfrm>
            <a:prstGeom prst="line">
              <a:avLst/>
            </a:prstGeom>
          </p:spPr>
          <p:style>
            <a:lnRef idx="3">
              <a:schemeClr val="accent5"/>
            </a:lnRef>
            <a:fillRef idx="0">
              <a:schemeClr val="accent5"/>
            </a:fillRef>
            <a:effectRef idx="2">
              <a:schemeClr val="accent5"/>
            </a:effectRef>
            <a:fontRef idx="minor">
              <a:schemeClr val="tx1"/>
            </a:fontRef>
          </p:style>
        </p:cxnSp>
      </p:grpSp>
      <p:grpSp>
        <p:nvGrpSpPr>
          <p:cNvPr id="22" name="组合 21">
            <a:extLst>
              <a:ext uri="{FF2B5EF4-FFF2-40B4-BE49-F238E27FC236}">
                <a16:creationId xmlns:a16="http://schemas.microsoft.com/office/drawing/2014/main" id="{FE87164F-7B4C-2814-52AA-AC981D879D1B}"/>
              </a:ext>
            </a:extLst>
          </p:cNvPr>
          <p:cNvGrpSpPr/>
          <p:nvPr/>
        </p:nvGrpSpPr>
        <p:grpSpPr>
          <a:xfrm>
            <a:off x="234315" y="203200"/>
            <a:ext cx="6313170" cy="597535"/>
            <a:chOff x="234315" y="203200"/>
            <a:chExt cx="6313170" cy="597535"/>
          </a:xfrm>
        </p:grpSpPr>
        <p:sp>
          <p:nvSpPr>
            <p:cNvPr id="27" name="TextBox 28">
              <a:extLst>
                <a:ext uri="{FF2B5EF4-FFF2-40B4-BE49-F238E27FC236}">
                  <a16:creationId xmlns:a16="http://schemas.microsoft.com/office/drawing/2014/main" id="{96E5C83D-424A-CC34-5C63-0EEE73158B82}"/>
                </a:ext>
              </a:extLst>
            </p:cNvPr>
            <p:cNvSpPr txBox="1"/>
            <p:nvPr/>
          </p:nvSpPr>
          <p:spPr>
            <a:xfrm>
              <a:off x="864870" y="262890"/>
              <a:ext cx="5682615" cy="535940"/>
            </a:xfrm>
            <a:prstGeom prst="rect">
              <a:avLst/>
            </a:prstGeom>
            <a:noFill/>
          </p:spPr>
          <p:txBody>
            <a:bodyPr wrap="square" lIns="105509" tIns="52755" rIns="105509" bIns="52755"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600" normalizeH="0" baseline="0" noProof="0" dirty="0">
                <a:ln>
                  <a:noFill/>
                </a:ln>
                <a:solidFill>
                  <a:srgbClr val="2E5696"/>
                </a:solidFill>
                <a:effectLst/>
                <a:uLnTx/>
                <a:uFillTx/>
                <a:latin typeface="黑体" panose="02010609060101010101" charset="-122"/>
                <a:ea typeface="黑体" panose="02010609060101010101" charset="-122"/>
                <a:sym typeface="+mn-ea"/>
              </a:endParaRPr>
            </a:p>
          </p:txBody>
        </p:sp>
        <p:sp>
          <p:nvSpPr>
            <p:cNvPr id="24" name="矩形 23">
              <a:extLst>
                <a:ext uri="{FF2B5EF4-FFF2-40B4-BE49-F238E27FC236}">
                  <a16:creationId xmlns:a16="http://schemas.microsoft.com/office/drawing/2014/main" id="{6C3746D1-C58D-3A63-AC39-00AA588E5007}"/>
                </a:ext>
              </a:extLst>
            </p:cNvPr>
            <p:cNvSpPr/>
            <p:nvPr/>
          </p:nvSpPr>
          <p:spPr>
            <a:xfrm>
              <a:off x="234315" y="203200"/>
              <a:ext cx="496570" cy="496570"/>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25" name="矩形 24">
              <a:extLst>
                <a:ext uri="{FF2B5EF4-FFF2-40B4-BE49-F238E27FC236}">
                  <a16:creationId xmlns:a16="http://schemas.microsoft.com/office/drawing/2014/main" id="{CCE725C6-2171-231C-493C-BBBDD7558997}"/>
                </a:ext>
              </a:extLst>
            </p:cNvPr>
            <p:cNvSpPr/>
            <p:nvPr/>
          </p:nvSpPr>
          <p:spPr>
            <a:xfrm>
              <a:off x="478790" y="469265"/>
              <a:ext cx="331470" cy="331470"/>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grpSp>
      <p:sp>
        <p:nvSpPr>
          <p:cNvPr id="32" name="文本框 31">
            <a:extLst>
              <a:ext uri="{FF2B5EF4-FFF2-40B4-BE49-F238E27FC236}">
                <a16:creationId xmlns:a16="http://schemas.microsoft.com/office/drawing/2014/main" id="{F2F1DCC8-1C4D-38BF-643C-EB9FA9477511}"/>
              </a:ext>
            </a:extLst>
          </p:cNvPr>
          <p:cNvSpPr txBox="1"/>
          <p:nvPr>
            <p:custDataLst>
              <p:tags r:id="rId1"/>
            </p:custDataLst>
          </p:nvPr>
        </p:nvSpPr>
        <p:spPr>
          <a:xfrm>
            <a:off x="5227293" y="1591333"/>
            <a:ext cx="5952199" cy="491490"/>
          </a:xfrm>
          <a:prstGeom prst="rect">
            <a:avLst/>
          </a:prstGeom>
          <a:noFill/>
        </p:spPr>
        <p:txBody>
          <a:bodyPr wrap="square" rtlCol="0">
            <a:spAutoFit/>
          </a:bodyPr>
          <a:lstStyle/>
          <a:p>
            <a:pPr>
              <a:lnSpc>
                <a:spcPct val="130000"/>
              </a:lnSpc>
            </a:pPr>
            <a:r>
              <a:rPr lang="zh-CN" altLang="en-US" sz="2000" dirty="0">
                <a:solidFill>
                  <a:schemeClr val="bg2"/>
                </a:solidFill>
                <a:latin typeface="微软雅黑" panose="020B0503020204020204" charset="-122"/>
                <a:ea typeface="微软雅黑" panose="020B0503020204020204" charset="-122"/>
                <a:sym typeface="+mn-ea"/>
              </a:rPr>
              <a:t>研究背景和研究意义</a:t>
            </a:r>
            <a:endParaRPr lang="zh-CN" altLang="en-US" sz="2000" spc="120" dirty="0">
              <a:solidFill>
                <a:schemeClr val="bg2"/>
              </a:solidFill>
              <a:latin typeface="微软雅黑" panose="020B0503020204020204" charset="-122"/>
              <a:ea typeface="微软雅黑" panose="020B0503020204020204" charset="-122"/>
              <a:sym typeface="+mn-ea"/>
            </a:endParaRPr>
          </a:p>
        </p:txBody>
      </p:sp>
      <p:sp>
        <p:nvSpPr>
          <p:cNvPr id="33" name="文本框 32">
            <a:extLst>
              <a:ext uri="{FF2B5EF4-FFF2-40B4-BE49-F238E27FC236}">
                <a16:creationId xmlns:a16="http://schemas.microsoft.com/office/drawing/2014/main" id="{AC26322B-F3E9-5E8B-F6AE-B2D8A9E2935A}"/>
              </a:ext>
            </a:extLst>
          </p:cNvPr>
          <p:cNvSpPr txBox="1"/>
          <p:nvPr>
            <p:custDataLst>
              <p:tags r:id="rId2"/>
            </p:custDataLst>
          </p:nvPr>
        </p:nvSpPr>
        <p:spPr>
          <a:xfrm>
            <a:off x="4483617" y="1517006"/>
            <a:ext cx="717550" cy="650875"/>
          </a:xfrm>
          <a:prstGeom prst="rect">
            <a:avLst/>
          </a:prstGeom>
          <a:noFill/>
        </p:spPr>
        <p:txBody>
          <a:bodyPr wrap="square" rtlCol="0">
            <a:spAutoFit/>
          </a:bodyPr>
          <a:lstStyle/>
          <a:p>
            <a:pPr>
              <a:lnSpc>
                <a:spcPct val="130000"/>
              </a:lnSpc>
            </a:pPr>
            <a:r>
              <a:rPr lang="en-US" altLang="zh-CN" sz="2800" dirty="0">
                <a:solidFill>
                  <a:schemeClr val="bg2"/>
                </a:solidFill>
                <a:effectLst>
                  <a:reflection blurRad="6350" stA="53000" endA="300" endPos="35500" dir="5400000" sy="-90000" algn="bl" rotWithShape="0"/>
                </a:effectLst>
              </a:rPr>
              <a:t>01</a:t>
            </a:r>
          </a:p>
        </p:txBody>
      </p:sp>
      <p:sp>
        <p:nvSpPr>
          <p:cNvPr id="34" name="文本框 33">
            <a:extLst>
              <a:ext uri="{FF2B5EF4-FFF2-40B4-BE49-F238E27FC236}">
                <a16:creationId xmlns:a16="http://schemas.microsoft.com/office/drawing/2014/main" id="{4A001291-72E5-0E7F-2D81-DEE3D09D2E5D}"/>
              </a:ext>
            </a:extLst>
          </p:cNvPr>
          <p:cNvSpPr txBox="1"/>
          <p:nvPr>
            <p:custDataLst>
              <p:tags r:id="rId3"/>
            </p:custDataLst>
          </p:nvPr>
        </p:nvSpPr>
        <p:spPr>
          <a:xfrm>
            <a:off x="5227293" y="2338251"/>
            <a:ext cx="5952199" cy="491490"/>
          </a:xfrm>
          <a:prstGeom prst="rect">
            <a:avLst/>
          </a:prstGeom>
          <a:noFill/>
        </p:spPr>
        <p:txBody>
          <a:bodyPr wrap="square" rtlCol="0">
            <a:spAutoFit/>
          </a:bodyPr>
          <a:lstStyle/>
          <a:p>
            <a:pPr>
              <a:lnSpc>
                <a:spcPct val="130000"/>
              </a:lnSpc>
            </a:pPr>
            <a:r>
              <a:rPr lang="zh-CN" altLang="en-US" sz="2000" dirty="0">
                <a:solidFill>
                  <a:schemeClr val="bg2"/>
                </a:solidFill>
                <a:latin typeface="微软雅黑" panose="020B0503020204020204" charset="-122"/>
                <a:ea typeface="微软雅黑" panose="020B0503020204020204" charset="-122"/>
                <a:sym typeface="+mn-ea"/>
              </a:rPr>
              <a:t>国内外研究现状</a:t>
            </a:r>
            <a:endParaRPr lang="zh-CN" altLang="en-US" sz="2000" spc="120" dirty="0">
              <a:solidFill>
                <a:schemeClr val="bg2"/>
              </a:solidFill>
              <a:latin typeface="微软雅黑" panose="020B0503020204020204" charset="-122"/>
              <a:ea typeface="微软雅黑" panose="020B0503020204020204" charset="-122"/>
              <a:sym typeface="+mn-ea"/>
            </a:endParaRPr>
          </a:p>
        </p:txBody>
      </p:sp>
      <p:sp>
        <p:nvSpPr>
          <p:cNvPr id="35" name="文本框 34">
            <a:extLst>
              <a:ext uri="{FF2B5EF4-FFF2-40B4-BE49-F238E27FC236}">
                <a16:creationId xmlns:a16="http://schemas.microsoft.com/office/drawing/2014/main" id="{F60D927E-EC17-5612-1049-06464B664862}"/>
              </a:ext>
            </a:extLst>
          </p:cNvPr>
          <p:cNvSpPr txBox="1"/>
          <p:nvPr>
            <p:custDataLst>
              <p:tags r:id="rId4"/>
            </p:custDataLst>
          </p:nvPr>
        </p:nvSpPr>
        <p:spPr>
          <a:xfrm>
            <a:off x="4483617" y="2263289"/>
            <a:ext cx="717550" cy="650875"/>
          </a:xfrm>
          <a:prstGeom prst="rect">
            <a:avLst/>
          </a:prstGeom>
          <a:noFill/>
        </p:spPr>
        <p:txBody>
          <a:bodyPr wrap="square" rtlCol="0">
            <a:spAutoFit/>
          </a:bodyPr>
          <a:lstStyle/>
          <a:p>
            <a:pPr algn="l">
              <a:lnSpc>
                <a:spcPct val="130000"/>
              </a:lnSpc>
              <a:buClrTx/>
              <a:buSzTx/>
              <a:buFontTx/>
            </a:pPr>
            <a:r>
              <a:rPr lang="en-US" altLang="zh-CN" sz="2800" dirty="0">
                <a:solidFill>
                  <a:schemeClr val="bg2"/>
                </a:solidFill>
                <a:effectLst>
                  <a:reflection blurRad="6350" stA="53000" endA="300" endPos="35500" dir="5400000" sy="-90000" algn="bl" rotWithShape="0"/>
                </a:effectLst>
              </a:rPr>
              <a:t>02</a:t>
            </a:r>
          </a:p>
        </p:txBody>
      </p:sp>
      <p:sp>
        <p:nvSpPr>
          <p:cNvPr id="36" name="文本框 35">
            <a:extLst>
              <a:ext uri="{FF2B5EF4-FFF2-40B4-BE49-F238E27FC236}">
                <a16:creationId xmlns:a16="http://schemas.microsoft.com/office/drawing/2014/main" id="{1FE77D36-4863-47B0-558B-FC5FEA35289A}"/>
              </a:ext>
            </a:extLst>
          </p:cNvPr>
          <p:cNvSpPr txBox="1"/>
          <p:nvPr>
            <p:custDataLst>
              <p:tags r:id="rId5"/>
            </p:custDataLst>
          </p:nvPr>
        </p:nvSpPr>
        <p:spPr>
          <a:xfrm>
            <a:off x="5227293" y="3084534"/>
            <a:ext cx="5952199" cy="491490"/>
          </a:xfrm>
          <a:prstGeom prst="rect">
            <a:avLst/>
          </a:prstGeom>
          <a:noFill/>
        </p:spPr>
        <p:txBody>
          <a:bodyPr wrap="square" rtlCol="0">
            <a:spAutoFit/>
          </a:bodyPr>
          <a:lstStyle/>
          <a:p>
            <a:pPr>
              <a:lnSpc>
                <a:spcPct val="130000"/>
              </a:lnSpc>
            </a:pPr>
            <a:r>
              <a:rPr lang="zh-CN" altLang="en-US" sz="2000" dirty="0">
                <a:solidFill>
                  <a:schemeClr val="bg2"/>
                </a:solidFill>
                <a:latin typeface="微软雅黑" panose="020B0503020204020204" charset="-122"/>
                <a:ea typeface="微软雅黑" panose="020B0503020204020204" charset="-122"/>
                <a:sym typeface="+mn-ea"/>
              </a:rPr>
              <a:t>研究内容</a:t>
            </a:r>
            <a:endParaRPr lang="zh-CN" altLang="en-US" sz="2000" spc="120" dirty="0">
              <a:solidFill>
                <a:schemeClr val="bg2"/>
              </a:solidFill>
              <a:latin typeface="微软雅黑" panose="020B0503020204020204" charset="-122"/>
              <a:ea typeface="微软雅黑" panose="020B0503020204020204" charset="-122"/>
              <a:sym typeface="+mn-ea"/>
            </a:endParaRPr>
          </a:p>
        </p:txBody>
      </p:sp>
      <p:sp>
        <p:nvSpPr>
          <p:cNvPr id="37" name="文本框 36">
            <a:extLst>
              <a:ext uri="{FF2B5EF4-FFF2-40B4-BE49-F238E27FC236}">
                <a16:creationId xmlns:a16="http://schemas.microsoft.com/office/drawing/2014/main" id="{2506F52B-2B34-9AA5-572F-D7AABAAA3879}"/>
              </a:ext>
            </a:extLst>
          </p:cNvPr>
          <p:cNvSpPr txBox="1"/>
          <p:nvPr>
            <p:custDataLst>
              <p:tags r:id="rId6"/>
            </p:custDataLst>
          </p:nvPr>
        </p:nvSpPr>
        <p:spPr>
          <a:xfrm>
            <a:off x="4483617" y="3009572"/>
            <a:ext cx="717550" cy="650875"/>
          </a:xfrm>
          <a:prstGeom prst="rect">
            <a:avLst/>
          </a:prstGeom>
          <a:noFill/>
        </p:spPr>
        <p:txBody>
          <a:bodyPr wrap="square" rtlCol="0">
            <a:spAutoFit/>
          </a:bodyPr>
          <a:lstStyle/>
          <a:p>
            <a:pPr algn="l">
              <a:lnSpc>
                <a:spcPct val="130000"/>
              </a:lnSpc>
              <a:buClrTx/>
              <a:buSzTx/>
              <a:buFontTx/>
            </a:pPr>
            <a:r>
              <a:rPr lang="en-US" altLang="zh-CN" sz="2800" dirty="0">
                <a:solidFill>
                  <a:schemeClr val="bg2"/>
                </a:solidFill>
                <a:effectLst>
                  <a:reflection blurRad="6350" stA="53000" endA="300" endPos="35500" dir="5400000" sy="-90000" algn="bl" rotWithShape="0"/>
                </a:effectLst>
              </a:rPr>
              <a:t>03</a:t>
            </a:r>
          </a:p>
        </p:txBody>
      </p:sp>
      <p:sp>
        <p:nvSpPr>
          <p:cNvPr id="38" name="文本框 37">
            <a:extLst>
              <a:ext uri="{FF2B5EF4-FFF2-40B4-BE49-F238E27FC236}">
                <a16:creationId xmlns:a16="http://schemas.microsoft.com/office/drawing/2014/main" id="{873DFDC5-3637-099B-D5B2-76CF291827FD}"/>
              </a:ext>
            </a:extLst>
          </p:cNvPr>
          <p:cNvSpPr txBox="1"/>
          <p:nvPr>
            <p:custDataLst>
              <p:tags r:id="rId7"/>
            </p:custDataLst>
          </p:nvPr>
        </p:nvSpPr>
        <p:spPr>
          <a:xfrm>
            <a:off x="5227293" y="3861476"/>
            <a:ext cx="5952199" cy="491490"/>
          </a:xfrm>
          <a:prstGeom prst="rect">
            <a:avLst/>
          </a:prstGeom>
          <a:noFill/>
        </p:spPr>
        <p:txBody>
          <a:bodyPr wrap="square" rtlCol="0">
            <a:spAutoFit/>
          </a:bodyPr>
          <a:lstStyle/>
          <a:p>
            <a:pPr algn="l">
              <a:lnSpc>
                <a:spcPct val="130000"/>
              </a:lnSpc>
              <a:buClrTx/>
              <a:buSzTx/>
              <a:buFontTx/>
            </a:pPr>
            <a:r>
              <a:rPr lang="zh-CN" altLang="en-US" sz="2000" dirty="0">
                <a:solidFill>
                  <a:schemeClr val="bg2"/>
                </a:solidFill>
                <a:latin typeface="微软雅黑" panose="020B0503020204020204" charset="-122"/>
                <a:ea typeface="微软雅黑" panose="020B0503020204020204" charset="-122"/>
                <a:sym typeface="+mn-ea"/>
              </a:rPr>
              <a:t>研究进展</a:t>
            </a:r>
          </a:p>
        </p:txBody>
      </p:sp>
      <p:sp>
        <p:nvSpPr>
          <p:cNvPr id="39" name="文本框 38">
            <a:extLst>
              <a:ext uri="{FF2B5EF4-FFF2-40B4-BE49-F238E27FC236}">
                <a16:creationId xmlns:a16="http://schemas.microsoft.com/office/drawing/2014/main" id="{C514EFC7-0632-4A21-EB6F-D85EE96396B1}"/>
              </a:ext>
            </a:extLst>
          </p:cNvPr>
          <p:cNvSpPr txBox="1"/>
          <p:nvPr>
            <p:custDataLst>
              <p:tags r:id="rId8"/>
            </p:custDataLst>
          </p:nvPr>
        </p:nvSpPr>
        <p:spPr>
          <a:xfrm>
            <a:off x="4483617" y="3755855"/>
            <a:ext cx="717550" cy="650875"/>
          </a:xfrm>
          <a:prstGeom prst="rect">
            <a:avLst/>
          </a:prstGeom>
          <a:noFill/>
        </p:spPr>
        <p:txBody>
          <a:bodyPr wrap="square" rtlCol="0">
            <a:spAutoFit/>
          </a:bodyPr>
          <a:lstStyle/>
          <a:p>
            <a:pPr algn="l">
              <a:lnSpc>
                <a:spcPct val="130000"/>
              </a:lnSpc>
              <a:buClrTx/>
              <a:buSzTx/>
              <a:buFontTx/>
            </a:pPr>
            <a:r>
              <a:rPr lang="en-US" altLang="zh-CN" sz="2800" dirty="0">
                <a:solidFill>
                  <a:schemeClr val="bg2"/>
                </a:solidFill>
                <a:effectLst>
                  <a:reflection blurRad="6350" stA="53000" endA="300" endPos="35500" dir="5400000" sy="-90000" algn="bl" rotWithShape="0"/>
                </a:effectLst>
              </a:rPr>
              <a:t>04</a:t>
            </a:r>
          </a:p>
        </p:txBody>
      </p:sp>
      <p:sp>
        <p:nvSpPr>
          <p:cNvPr id="40" name="文本框 39">
            <a:extLst>
              <a:ext uri="{FF2B5EF4-FFF2-40B4-BE49-F238E27FC236}">
                <a16:creationId xmlns:a16="http://schemas.microsoft.com/office/drawing/2014/main" id="{919661FC-BC9B-DE92-C793-FFA4A263C193}"/>
              </a:ext>
            </a:extLst>
          </p:cNvPr>
          <p:cNvSpPr txBox="1"/>
          <p:nvPr>
            <p:custDataLst>
              <p:tags r:id="rId9"/>
            </p:custDataLst>
          </p:nvPr>
        </p:nvSpPr>
        <p:spPr>
          <a:xfrm>
            <a:off x="5227293" y="4577102"/>
            <a:ext cx="5952199" cy="491490"/>
          </a:xfrm>
          <a:prstGeom prst="rect">
            <a:avLst/>
          </a:prstGeom>
          <a:noFill/>
        </p:spPr>
        <p:txBody>
          <a:bodyPr wrap="square" rtlCol="0">
            <a:spAutoFit/>
          </a:bodyPr>
          <a:lstStyle/>
          <a:p>
            <a:pPr algn="l">
              <a:lnSpc>
                <a:spcPct val="130000"/>
              </a:lnSpc>
              <a:buClrTx/>
              <a:buSzTx/>
              <a:buFontTx/>
            </a:pPr>
            <a:r>
              <a:rPr lang="zh-CN" altLang="en-US" sz="2000" dirty="0">
                <a:solidFill>
                  <a:prstClr val="black"/>
                </a:solidFill>
                <a:latin typeface="微软雅黑" panose="020B0503020204020204" charset="-122"/>
                <a:ea typeface="微软雅黑" panose="020B0503020204020204" charset="-122"/>
                <a:sym typeface="+mn-ea"/>
              </a:rPr>
              <a:t>预期目标及创新之处</a:t>
            </a:r>
          </a:p>
        </p:txBody>
      </p:sp>
      <p:sp>
        <p:nvSpPr>
          <p:cNvPr id="41" name="文本框 40">
            <a:extLst>
              <a:ext uri="{FF2B5EF4-FFF2-40B4-BE49-F238E27FC236}">
                <a16:creationId xmlns:a16="http://schemas.microsoft.com/office/drawing/2014/main" id="{CCDF96ED-94EE-9699-2AD3-F99ABD743A24}"/>
              </a:ext>
            </a:extLst>
          </p:cNvPr>
          <p:cNvSpPr txBox="1"/>
          <p:nvPr>
            <p:custDataLst>
              <p:tags r:id="rId10"/>
            </p:custDataLst>
          </p:nvPr>
        </p:nvSpPr>
        <p:spPr>
          <a:xfrm>
            <a:off x="4483617" y="4502140"/>
            <a:ext cx="717550" cy="650875"/>
          </a:xfrm>
          <a:prstGeom prst="rect">
            <a:avLst/>
          </a:prstGeom>
          <a:noFill/>
        </p:spPr>
        <p:txBody>
          <a:bodyPr wrap="square" rtlCol="0">
            <a:spAutoFit/>
          </a:bodyPr>
          <a:lstStyle/>
          <a:p>
            <a:pPr algn="l">
              <a:lnSpc>
                <a:spcPct val="130000"/>
              </a:lnSpc>
              <a:buClrTx/>
              <a:buSzTx/>
              <a:buFontTx/>
            </a:pPr>
            <a:r>
              <a:rPr lang="en-US" altLang="zh-CN" sz="2800" dirty="0">
                <a:solidFill>
                  <a:srgbClr val="2E5696"/>
                </a:solidFill>
                <a:effectLst>
                  <a:reflection blurRad="6350" stA="53000" endA="300" endPos="35500" dir="5400000" sy="-90000" algn="bl" rotWithShape="0"/>
                </a:effectLst>
              </a:rPr>
              <a:t>05</a:t>
            </a:r>
          </a:p>
        </p:txBody>
      </p:sp>
      <p:cxnSp>
        <p:nvCxnSpPr>
          <p:cNvPr id="42" name="直接连接符 46">
            <a:extLst>
              <a:ext uri="{FF2B5EF4-FFF2-40B4-BE49-F238E27FC236}">
                <a16:creationId xmlns:a16="http://schemas.microsoft.com/office/drawing/2014/main" id="{B1EFC424-E162-B648-434D-8C3C2B342B62}"/>
              </a:ext>
            </a:extLst>
          </p:cNvPr>
          <p:cNvCxnSpPr>
            <a:cxnSpLocks noChangeShapeType="1"/>
          </p:cNvCxnSpPr>
          <p:nvPr/>
        </p:nvCxnSpPr>
        <p:spPr bwMode="auto">
          <a:xfrm flipH="1">
            <a:off x="864870" y="872490"/>
            <a:ext cx="11134725" cy="0"/>
          </a:xfrm>
          <a:prstGeom prst="line">
            <a:avLst/>
          </a:prstGeom>
          <a:noFill/>
          <a:ln w="9525" cmpd="sng">
            <a:solidFill>
              <a:srgbClr val="4D4948"/>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803250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4E3F0DC0-BE46-2DC2-8D3E-0C27E72BB765}"/>
              </a:ext>
            </a:extLst>
          </p:cNvPr>
          <p:cNvGrpSpPr/>
          <p:nvPr/>
        </p:nvGrpSpPr>
        <p:grpSpPr>
          <a:xfrm>
            <a:off x="234315" y="203200"/>
            <a:ext cx="6303645" cy="597535"/>
            <a:chOff x="234315" y="203200"/>
            <a:chExt cx="6303645" cy="597535"/>
          </a:xfrm>
        </p:grpSpPr>
        <p:sp>
          <p:nvSpPr>
            <p:cNvPr id="5" name="矩形 4">
              <a:extLst>
                <a:ext uri="{FF2B5EF4-FFF2-40B4-BE49-F238E27FC236}">
                  <a16:creationId xmlns:a16="http://schemas.microsoft.com/office/drawing/2014/main" id="{1CCC1F7F-82FA-6BEA-C751-B97C38887ED4}"/>
                </a:ext>
              </a:extLst>
            </p:cNvPr>
            <p:cNvSpPr/>
            <p:nvPr/>
          </p:nvSpPr>
          <p:spPr>
            <a:xfrm>
              <a:off x="234315" y="203200"/>
              <a:ext cx="496570" cy="496570"/>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6" name="矩形 5">
              <a:extLst>
                <a:ext uri="{FF2B5EF4-FFF2-40B4-BE49-F238E27FC236}">
                  <a16:creationId xmlns:a16="http://schemas.microsoft.com/office/drawing/2014/main" id="{5EF76CAD-FB94-0228-93FC-626DC5088090}"/>
                </a:ext>
              </a:extLst>
            </p:cNvPr>
            <p:cNvSpPr/>
            <p:nvPr/>
          </p:nvSpPr>
          <p:spPr>
            <a:xfrm>
              <a:off x="478790" y="469265"/>
              <a:ext cx="331470" cy="331470"/>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8" name="TextBox 28">
              <a:extLst>
                <a:ext uri="{FF2B5EF4-FFF2-40B4-BE49-F238E27FC236}">
                  <a16:creationId xmlns:a16="http://schemas.microsoft.com/office/drawing/2014/main" id="{92C4CAE3-DC34-4EB9-C268-D89356848036}"/>
                </a:ext>
              </a:extLst>
            </p:cNvPr>
            <p:cNvSpPr txBox="1"/>
            <p:nvPr/>
          </p:nvSpPr>
          <p:spPr>
            <a:xfrm>
              <a:off x="855345" y="262890"/>
              <a:ext cx="5682615" cy="535940"/>
            </a:xfrm>
            <a:prstGeom prst="rect">
              <a:avLst/>
            </a:prstGeom>
            <a:noFill/>
          </p:spPr>
          <p:txBody>
            <a:bodyPr wrap="square" lIns="105509" tIns="52755" rIns="105509" bIns="52755" rtlCol="0">
              <a:spAutoFit/>
            </a:bodyPr>
            <a:lstStyle>
              <a:defPPr>
                <a:defRPr lang="en-US"/>
              </a:defPPr>
              <a:lvl1pPr algn="just">
                <a:defRPr sz="2800" spc="600">
                  <a:solidFill>
                    <a:srgbClr val="2E5696"/>
                  </a:solidFill>
                  <a:latin typeface="微软雅黑" panose="020B0503020204020204" pitchFamily="34" charset="-122"/>
                  <a:ea typeface="微软雅黑" panose="020B0503020204020204" pitchFamily="34" charset="-122"/>
                </a:defRPr>
              </a:lvl1pPr>
            </a:lstStyle>
            <a:p>
              <a:r>
                <a:rPr lang="zh-CN" altLang="en-US" dirty="0">
                  <a:sym typeface="+mn-ea"/>
                </a:rPr>
                <a:t>预期目标与进度安排</a:t>
              </a:r>
            </a:p>
          </p:txBody>
        </p:sp>
      </p:grpSp>
      <p:cxnSp>
        <p:nvCxnSpPr>
          <p:cNvPr id="9" name="直接连接符 46">
            <a:extLst>
              <a:ext uri="{FF2B5EF4-FFF2-40B4-BE49-F238E27FC236}">
                <a16:creationId xmlns:a16="http://schemas.microsoft.com/office/drawing/2014/main" id="{901189C0-754B-0672-73EB-086BAF88CEBE}"/>
              </a:ext>
            </a:extLst>
          </p:cNvPr>
          <p:cNvCxnSpPr>
            <a:cxnSpLocks noChangeShapeType="1"/>
          </p:cNvCxnSpPr>
          <p:nvPr/>
        </p:nvCxnSpPr>
        <p:spPr bwMode="auto">
          <a:xfrm flipH="1">
            <a:off x="864870" y="872490"/>
            <a:ext cx="11134725" cy="0"/>
          </a:xfrm>
          <a:prstGeom prst="line">
            <a:avLst/>
          </a:prstGeom>
          <a:noFill/>
          <a:ln w="9525" cmpd="sng">
            <a:solidFill>
              <a:srgbClr val="4D4948"/>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圆角矩形 24">
            <a:extLst>
              <a:ext uri="{FF2B5EF4-FFF2-40B4-BE49-F238E27FC236}">
                <a16:creationId xmlns:a16="http://schemas.microsoft.com/office/drawing/2014/main" id="{EE1BE40E-90F5-2798-5FD6-58CADDCBA5CD}"/>
              </a:ext>
            </a:extLst>
          </p:cNvPr>
          <p:cNvSpPr/>
          <p:nvPr>
            <p:custDataLst>
              <p:tags r:id="rId1"/>
            </p:custDataLst>
          </p:nvPr>
        </p:nvSpPr>
        <p:spPr>
          <a:xfrm>
            <a:off x="1085917" y="1140723"/>
            <a:ext cx="8939857" cy="596265"/>
          </a:xfrm>
          <a:prstGeom prst="roundRect">
            <a:avLst>
              <a:gd name="adj" fmla="val 50000"/>
            </a:avLst>
          </a:prstGeom>
          <a:solidFill>
            <a:srgbClr val="1F74AD">
              <a:lumMod val="20000"/>
              <a:lumOff val="80000"/>
            </a:srgbClr>
          </a:solidFill>
          <a:ln w="12700" cap="flat" cmpd="sng" algn="ctr">
            <a:noFill/>
            <a:prstDash val="solid"/>
            <a:miter lim="800000"/>
          </a:ln>
          <a:effectLst>
            <a:outerShdw blurRad="50800" dist="38100" dir="2700000" algn="tl" rotWithShape="0">
              <a:srgbClr val="1F74AD">
                <a:lumMod val="75000"/>
                <a:alpha val="40000"/>
              </a:srgbClr>
            </a:outerShdw>
          </a:effectLst>
        </p:spPr>
        <p:txBody>
          <a:bodyPr rot="0" spcFirstLastPara="0" vertOverflow="overflow" horzOverflow="overflow" vert="horz" wrap="square" lIns="396000" tIns="45720" rIns="91440" bIns="45720" numCol="1" spcCol="0" rtlCol="0" fromWordArt="0" anchor="ctr" anchorCtr="0" forceAA="0" compatLnSpc="1">
            <a:noAutofit/>
          </a:bodyPr>
          <a:lstStyle/>
          <a:p>
            <a:pPr algn="ctr"/>
            <a:endParaRPr lang="da-DK" altLang="zh-CN" sz="1800" dirty="0">
              <a:solidFill>
                <a:srgbClr val="1F74AD">
                  <a:lumMod val="75000"/>
                </a:srgbClr>
              </a:solidFill>
              <a:latin typeface="微软雅黑" panose="020B0503020204020204" charset="-122"/>
              <a:ea typeface="微软雅黑" panose="020B0503020204020204" charset="-122"/>
            </a:endParaRPr>
          </a:p>
        </p:txBody>
      </p:sp>
      <p:sp>
        <p:nvSpPr>
          <p:cNvPr id="7" name="文本框 6">
            <a:extLst>
              <a:ext uri="{FF2B5EF4-FFF2-40B4-BE49-F238E27FC236}">
                <a16:creationId xmlns:a16="http://schemas.microsoft.com/office/drawing/2014/main" id="{7863B217-F89F-749F-3A71-65354806ECD0}"/>
              </a:ext>
            </a:extLst>
          </p:cNvPr>
          <p:cNvSpPr txBox="1"/>
          <p:nvPr>
            <p:custDataLst>
              <p:tags r:id="rId2"/>
            </p:custDataLst>
          </p:nvPr>
        </p:nvSpPr>
        <p:spPr>
          <a:xfrm>
            <a:off x="2281949" y="1170032"/>
            <a:ext cx="4716780" cy="615315"/>
          </a:xfrm>
          <a:prstGeom prst="rect">
            <a:avLst/>
          </a:prstGeom>
          <a:noFill/>
        </p:spPr>
        <p:txBody>
          <a:bodyPr wrap="square" rtlCol="0" anchor="ctr"/>
          <a:lstStyle/>
          <a:p>
            <a:pPr lvl="0" algn="ctr">
              <a:lnSpc>
                <a:spcPct val="120000"/>
              </a:lnSpc>
              <a:buSzPct val="100000"/>
            </a:pPr>
            <a:r>
              <a:rPr lang="zh-CN" altLang="en-US" sz="1600" b="1" spc="150" dirty="0">
                <a:solidFill>
                  <a:srgbClr val="1F74AD">
                    <a:lumMod val="75000"/>
                  </a:srgbClr>
                </a:solidFill>
                <a:ea typeface="微软雅黑" panose="020B0503020204020204" charset="-122"/>
                <a:sym typeface="+mn-ea"/>
              </a:rPr>
              <a:t>探索底层统一机理，</a:t>
            </a:r>
            <a:r>
              <a:rPr lang="zh-CN" altLang="en-US" sz="1600" b="1" spc="150" dirty="0">
                <a:solidFill>
                  <a:srgbClr val="1F74AD">
                    <a:lumMod val="75000"/>
                  </a:srgbClr>
                </a:solidFill>
                <a:ea typeface="微软雅黑" panose="020B0503020204020204" charset="-122"/>
              </a:rPr>
              <a:t>构建方法理论体系</a:t>
            </a:r>
          </a:p>
        </p:txBody>
      </p:sp>
      <p:sp>
        <p:nvSpPr>
          <p:cNvPr id="10" name="圆角矩形 30">
            <a:extLst>
              <a:ext uri="{FF2B5EF4-FFF2-40B4-BE49-F238E27FC236}">
                <a16:creationId xmlns:a16="http://schemas.microsoft.com/office/drawing/2014/main" id="{5818E415-F606-52B4-CFDE-AFFC41335615}"/>
              </a:ext>
            </a:extLst>
          </p:cNvPr>
          <p:cNvSpPr/>
          <p:nvPr>
            <p:custDataLst>
              <p:tags r:id="rId3"/>
            </p:custDataLst>
          </p:nvPr>
        </p:nvSpPr>
        <p:spPr>
          <a:xfrm>
            <a:off x="1093537" y="1878202"/>
            <a:ext cx="8940492" cy="596265"/>
          </a:xfrm>
          <a:prstGeom prst="roundRect">
            <a:avLst>
              <a:gd name="adj" fmla="val 50000"/>
            </a:avLst>
          </a:prstGeom>
          <a:solidFill>
            <a:srgbClr val="3498DB">
              <a:lumMod val="20000"/>
              <a:lumOff val="80000"/>
            </a:srgbClr>
          </a:solidFill>
          <a:ln w="12700" cap="flat" cmpd="sng" algn="ctr">
            <a:noFill/>
            <a:prstDash val="solid"/>
            <a:miter lim="800000"/>
          </a:ln>
          <a:effectLst>
            <a:outerShdw blurRad="50800" dist="38100" dir="2700000" algn="tl" rotWithShape="0">
              <a:srgbClr val="1F74AD">
                <a:lumMod val="75000"/>
                <a:alpha val="40000"/>
              </a:srgbClr>
            </a:outerShdw>
          </a:effectLst>
        </p:spPr>
        <p:txBody>
          <a:bodyPr rot="0" spcFirstLastPara="0" vertOverflow="overflow" horzOverflow="overflow" vert="horz" wrap="square" lIns="396000" tIns="45720" rIns="91440" bIns="45720" numCol="1" spcCol="0" rtlCol="0" fromWordArt="0" anchor="ctr" anchorCtr="0" forceAA="0" compatLnSpc="1">
            <a:noAutofit/>
          </a:bodyPr>
          <a:lstStyle/>
          <a:p>
            <a:pPr algn="ctr"/>
            <a:endParaRPr lang="da-DK" altLang="zh-CN" sz="1800" dirty="0">
              <a:solidFill>
                <a:srgbClr val="3498DB">
                  <a:lumMod val="75000"/>
                </a:srgbClr>
              </a:solidFill>
              <a:latin typeface="微软雅黑" panose="020B0503020204020204" charset="-122"/>
              <a:ea typeface="微软雅黑" panose="020B0503020204020204" charset="-122"/>
            </a:endParaRPr>
          </a:p>
        </p:txBody>
      </p:sp>
      <p:sp>
        <p:nvSpPr>
          <p:cNvPr id="11" name="文本框 10">
            <a:extLst>
              <a:ext uri="{FF2B5EF4-FFF2-40B4-BE49-F238E27FC236}">
                <a16:creationId xmlns:a16="http://schemas.microsoft.com/office/drawing/2014/main" id="{D739EC23-B46D-A909-3AC3-B8545F30C99D}"/>
              </a:ext>
            </a:extLst>
          </p:cNvPr>
          <p:cNvSpPr txBox="1"/>
          <p:nvPr>
            <p:custDataLst>
              <p:tags r:id="rId4"/>
            </p:custDataLst>
          </p:nvPr>
        </p:nvSpPr>
        <p:spPr>
          <a:xfrm>
            <a:off x="2422919" y="1880177"/>
            <a:ext cx="4996815" cy="615315"/>
          </a:xfrm>
          <a:prstGeom prst="rect">
            <a:avLst/>
          </a:prstGeom>
          <a:noFill/>
        </p:spPr>
        <p:txBody>
          <a:bodyPr wrap="square" rtlCol="0" anchor="ctr"/>
          <a:lstStyle/>
          <a:p>
            <a:pPr lvl="0">
              <a:lnSpc>
                <a:spcPct val="120000"/>
              </a:lnSpc>
            </a:pPr>
            <a:r>
              <a:rPr lang="zh-CN" altLang="en-US" sz="1600" b="1" spc="150" dirty="0">
                <a:solidFill>
                  <a:srgbClr val="1F74AD">
                    <a:lumMod val="75000"/>
                  </a:srgbClr>
                </a:solidFill>
                <a:ea typeface="微软雅黑" panose="020B0503020204020204" charset="-122"/>
              </a:rPr>
              <a:t>剖析模型内在表示</a:t>
            </a:r>
            <a:r>
              <a:rPr lang="zh-CN" altLang="en-US" sz="1600" b="1" spc="150" dirty="0">
                <a:solidFill>
                  <a:srgbClr val="1F74AD">
                    <a:lumMod val="75000"/>
                  </a:srgbClr>
                </a:solidFill>
                <a:ea typeface="微软雅黑" panose="020B0503020204020204" charset="-122"/>
                <a:sym typeface="+mn-ea"/>
              </a:rPr>
              <a:t>，衍生新的学习方法</a:t>
            </a:r>
          </a:p>
        </p:txBody>
      </p:sp>
      <p:sp>
        <p:nvSpPr>
          <p:cNvPr id="12" name="圆角矩形 35">
            <a:extLst>
              <a:ext uri="{FF2B5EF4-FFF2-40B4-BE49-F238E27FC236}">
                <a16:creationId xmlns:a16="http://schemas.microsoft.com/office/drawing/2014/main" id="{53CFF7BF-49F9-BF95-6CFD-4CB738396324}"/>
              </a:ext>
            </a:extLst>
          </p:cNvPr>
          <p:cNvSpPr/>
          <p:nvPr>
            <p:custDataLst>
              <p:tags r:id="rId5"/>
            </p:custDataLst>
          </p:nvPr>
        </p:nvSpPr>
        <p:spPr>
          <a:xfrm>
            <a:off x="1085917" y="2581164"/>
            <a:ext cx="8940491" cy="673735"/>
          </a:xfrm>
          <a:prstGeom prst="roundRect">
            <a:avLst>
              <a:gd name="adj" fmla="val 50000"/>
            </a:avLst>
          </a:prstGeom>
          <a:solidFill>
            <a:srgbClr val="1AA3AA">
              <a:lumMod val="20000"/>
              <a:lumOff val="80000"/>
            </a:srgbClr>
          </a:solidFill>
          <a:ln w="12700" cap="flat" cmpd="sng" algn="ctr">
            <a:noFill/>
            <a:prstDash val="solid"/>
            <a:miter lim="800000"/>
          </a:ln>
          <a:effectLst>
            <a:outerShdw blurRad="50800" dist="38100" dir="2700000" algn="tl" rotWithShape="0">
              <a:srgbClr val="1F74AD">
                <a:lumMod val="75000"/>
                <a:alpha val="40000"/>
              </a:srgbClr>
            </a:outerShdw>
          </a:effectLst>
        </p:spPr>
        <p:txBody>
          <a:bodyPr rot="0" spcFirstLastPara="0" vertOverflow="overflow" horzOverflow="overflow" vert="horz" wrap="square" lIns="396000" tIns="45720" rIns="91440" bIns="45720" numCol="1" spcCol="0" rtlCol="0" fromWordArt="0" anchor="ctr" anchorCtr="0" forceAA="0" compatLnSpc="1">
            <a:noAutofit/>
          </a:bodyPr>
          <a:lstStyle/>
          <a:p>
            <a:pPr algn="ctr"/>
            <a:endParaRPr lang="da-DK" altLang="zh-CN" sz="1800" dirty="0">
              <a:solidFill>
                <a:srgbClr val="1F74AD">
                  <a:lumMod val="75000"/>
                </a:srgbClr>
              </a:solidFill>
              <a:latin typeface="微软雅黑" panose="020B0503020204020204" charset="-122"/>
              <a:ea typeface="微软雅黑" panose="020B0503020204020204" charset="-122"/>
            </a:endParaRPr>
          </a:p>
        </p:txBody>
      </p:sp>
      <p:sp>
        <p:nvSpPr>
          <p:cNvPr id="13" name="文本框 12">
            <a:extLst>
              <a:ext uri="{FF2B5EF4-FFF2-40B4-BE49-F238E27FC236}">
                <a16:creationId xmlns:a16="http://schemas.microsoft.com/office/drawing/2014/main" id="{F78FE55E-F5A9-B150-7473-E7B76894A996}"/>
              </a:ext>
            </a:extLst>
          </p:cNvPr>
          <p:cNvSpPr txBox="1"/>
          <p:nvPr>
            <p:custDataLst>
              <p:tags r:id="rId6"/>
            </p:custDataLst>
          </p:nvPr>
        </p:nvSpPr>
        <p:spPr>
          <a:xfrm>
            <a:off x="2431173" y="2574405"/>
            <a:ext cx="7736840" cy="695174"/>
          </a:xfrm>
          <a:prstGeom prst="rect">
            <a:avLst/>
          </a:prstGeom>
          <a:noFill/>
        </p:spPr>
        <p:txBody>
          <a:bodyPr wrap="square" rtlCol="0" anchor="ctr"/>
          <a:lstStyle/>
          <a:p>
            <a:pPr marL="0" lvl="0">
              <a:lnSpc>
                <a:spcPct val="120000"/>
              </a:lnSpc>
              <a:spcBef>
                <a:spcPts val="0"/>
              </a:spcBef>
              <a:spcAft>
                <a:spcPts val="0"/>
              </a:spcAft>
              <a:buClrTx/>
              <a:buSzTx/>
              <a:buFontTx/>
            </a:pPr>
            <a:r>
              <a:rPr lang="zh-CN" sz="1600" b="1" spc="150" dirty="0">
                <a:solidFill>
                  <a:srgbClr val="1F74AD">
                    <a:lumMod val="75000"/>
                  </a:srgbClr>
                </a:solidFill>
                <a:ea typeface="微软雅黑" panose="020B0503020204020204" charset="-122"/>
                <a:sym typeface="+mn-ea"/>
              </a:rPr>
              <a:t>将提出的</a:t>
            </a:r>
            <a:r>
              <a:rPr lang="zh-CN" altLang="en-US" sz="1600" b="1" spc="150" dirty="0">
                <a:solidFill>
                  <a:srgbClr val="1F74AD">
                    <a:lumMod val="75000"/>
                  </a:srgbClr>
                </a:solidFill>
                <a:ea typeface="微软雅黑" panose="020B0503020204020204" charset="-122"/>
                <a:sym typeface="+mn-ea"/>
              </a:rPr>
              <a:t>深度学习</a:t>
            </a:r>
            <a:r>
              <a:rPr lang="zh-CN" sz="1600" b="1" spc="150" dirty="0">
                <a:solidFill>
                  <a:srgbClr val="1F74AD">
                    <a:lumMod val="75000"/>
                  </a:srgbClr>
                </a:solidFill>
                <a:ea typeface="微软雅黑" panose="020B0503020204020204" charset="-122"/>
                <a:sym typeface="+mn-ea"/>
              </a:rPr>
              <a:t>理论和方</a:t>
            </a:r>
            <a:r>
              <a:rPr sz="1600" b="1" spc="150" dirty="0">
                <a:solidFill>
                  <a:srgbClr val="1F74AD">
                    <a:lumMod val="75000"/>
                  </a:srgbClr>
                </a:solidFill>
                <a:ea typeface="微软雅黑" panose="020B0503020204020204" charset="-122"/>
                <a:sym typeface="+mn-ea"/>
              </a:rPr>
              <a:t>法</a:t>
            </a:r>
            <a:r>
              <a:rPr lang="zh-CN" sz="1600" b="1" spc="150" dirty="0">
                <a:solidFill>
                  <a:srgbClr val="1F74AD">
                    <a:lumMod val="75000"/>
                  </a:srgbClr>
                </a:solidFill>
                <a:ea typeface="微软雅黑" panose="020B0503020204020204" charset="-122"/>
                <a:sym typeface="+mn-ea"/>
              </a:rPr>
              <a:t>应用</a:t>
            </a:r>
            <a:r>
              <a:rPr lang="zh-CN" altLang="en-US" sz="1600" b="1" spc="150" dirty="0">
                <a:solidFill>
                  <a:srgbClr val="1F74AD">
                    <a:lumMod val="75000"/>
                  </a:srgbClr>
                </a:solidFill>
                <a:ea typeface="微软雅黑" panose="020B0503020204020204" charset="-122"/>
                <a:sym typeface="+mn-ea"/>
              </a:rPr>
              <a:t>在语音端点检测</a:t>
            </a:r>
            <a:r>
              <a:rPr lang="zh-CN" sz="1600" b="1" spc="150" dirty="0">
                <a:solidFill>
                  <a:srgbClr val="1F74AD">
                    <a:lumMod val="75000"/>
                  </a:srgbClr>
                </a:solidFill>
                <a:ea typeface="微软雅黑" panose="020B0503020204020204" charset="-122"/>
                <a:sym typeface="+mn-ea"/>
              </a:rPr>
              <a:t>，实现</a:t>
            </a:r>
            <a:r>
              <a:rPr lang="zh-CN" altLang="en-US" sz="1600" b="1" spc="150" dirty="0">
                <a:solidFill>
                  <a:srgbClr val="1F74AD">
                    <a:lumMod val="75000"/>
                  </a:srgbClr>
                </a:solidFill>
                <a:ea typeface="微软雅黑" panose="020B0503020204020204" charset="-122"/>
                <a:sym typeface="+mn-ea"/>
              </a:rPr>
              <a:t>效果显著提升</a:t>
            </a:r>
            <a:endParaRPr lang="zh-CN" sz="1600" b="1" spc="150" dirty="0">
              <a:solidFill>
                <a:srgbClr val="1F74AD">
                  <a:lumMod val="75000"/>
                </a:srgbClr>
              </a:solidFill>
              <a:ea typeface="微软雅黑" panose="020B0503020204020204" charset="-122"/>
              <a:sym typeface="+mn-ea"/>
            </a:endParaRPr>
          </a:p>
        </p:txBody>
      </p:sp>
      <p:sp>
        <p:nvSpPr>
          <p:cNvPr id="14" name="文本框 13">
            <a:extLst>
              <a:ext uri="{FF2B5EF4-FFF2-40B4-BE49-F238E27FC236}">
                <a16:creationId xmlns:a16="http://schemas.microsoft.com/office/drawing/2014/main" id="{C4DFD7EB-F6D7-71B0-71CA-35ED71393733}"/>
              </a:ext>
            </a:extLst>
          </p:cNvPr>
          <p:cNvSpPr txBox="1"/>
          <p:nvPr>
            <p:custDataLst>
              <p:tags r:id="rId7"/>
            </p:custDataLst>
          </p:nvPr>
        </p:nvSpPr>
        <p:spPr>
          <a:xfrm>
            <a:off x="1085917" y="1142822"/>
            <a:ext cx="1337002" cy="615315"/>
          </a:xfrm>
          <a:prstGeom prst="rect">
            <a:avLst/>
          </a:prstGeom>
          <a:noFill/>
        </p:spPr>
        <p:txBody>
          <a:bodyPr wrap="square" rtlCol="0" anchor="ctr"/>
          <a:lstStyle/>
          <a:p>
            <a:pPr marL="0" lvl="0" indent="0" algn="ctr">
              <a:lnSpc>
                <a:spcPct val="120000"/>
              </a:lnSpc>
              <a:spcBef>
                <a:spcPts val="0"/>
              </a:spcBef>
              <a:spcAft>
                <a:spcPts val="0"/>
              </a:spcAft>
              <a:buSzPct val="100000"/>
            </a:pPr>
            <a:r>
              <a:rPr lang="zh-CN" altLang="en-US" sz="2000" b="1" spc="150" dirty="0">
                <a:solidFill>
                  <a:srgbClr val="FF0000"/>
                </a:solidFill>
                <a:latin typeface="微软雅黑" panose="020B0503020204020204" charset="-122"/>
                <a:ea typeface="微软雅黑" panose="020B0503020204020204" charset="-122"/>
              </a:rPr>
              <a:t>理论体系</a:t>
            </a:r>
          </a:p>
        </p:txBody>
      </p:sp>
      <p:sp>
        <p:nvSpPr>
          <p:cNvPr id="15" name="文本框 14">
            <a:extLst>
              <a:ext uri="{FF2B5EF4-FFF2-40B4-BE49-F238E27FC236}">
                <a16:creationId xmlns:a16="http://schemas.microsoft.com/office/drawing/2014/main" id="{9A3C17BA-FA9E-03D8-0F18-868979C8FD65}"/>
              </a:ext>
            </a:extLst>
          </p:cNvPr>
          <p:cNvSpPr txBox="1"/>
          <p:nvPr>
            <p:custDataLst>
              <p:tags r:id="rId8"/>
            </p:custDataLst>
          </p:nvPr>
        </p:nvSpPr>
        <p:spPr>
          <a:xfrm>
            <a:off x="1092268" y="1890214"/>
            <a:ext cx="1301750" cy="615315"/>
          </a:xfrm>
          <a:prstGeom prst="rect">
            <a:avLst/>
          </a:prstGeom>
          <a:noFill/>
        </p:spPr>
        <p:txBody>
          <a:bodyPr wrap="square" rtlCol="0" anchor="ctr"/>
          <a:lstStyle/>
          <a:p>
            <a:pPr marL="0" lvl="0" indent="0" algn="ctr">
              <a:lnSpc>
                <a:spcPct val="120000"/>
              </a:lnSpc>
              <a:spcBef>
                <a:spcPts val="0"/>
              </a:spcBef>
              <a:spcAft>
                <a:spcPts val="0"/>
              </a:spcAft>
              <a:buSzPct val="100000"/>
            </a:pPr>
            <a:r>
              <a:rPr lang="zh-CN" altLang="zh-CN" sz="2000" b="1" spc="150" dirty="0">
                <a:solidFill>
                  <a:srgbClr val="FF0000"/>
                </a:solidFill>
                <a:latin typeface="微软雅黑" panose="020B0503020204020204" charset="-122"/>
                <a:ea typeface="微软雅黑" panose="020B0503020204020204" charset="-122"/>
              </a:rPr>
              <a:t>方法构建</a:t>
            </a:r>
          </a:p>
        </p:txBody>
      </p:sp>
      <p:sp>
        <p:nvSpPr>
          <p:cNvPr id="16" name="文本框 15">
            <a:extLst>
              <a:ext uri="{FF2B5EF4-FFF2-40B4-BE49-F238E27FC236}">
                <a16:creationId xmlns:a16="http://schemas.microsoft.com/office/drawing/2014/main" id="{C52C87A9-441A-70A6-9C2C-558D0C97FF22}"/>
              </a:ext>
            </a:extLst>
          </p:cNvPr>
          <p:cNvSpPr txBox="1"/>
          <p:nvPr>
            <p:custDataLst>
              <p:tags r:id="rId9"/>
            </p:custDataLst>
          </p:nvPr>
        </p:nvSpPr>
        <p:spPr>
          <a:xfrm>
            <a:off x="1085917" y="2584974"/>
            <a:ext cx="1302385" cy="615315"/>
          </a:xfrm>
          <a:prstGeom prst="rect">
            <a:avLst/>
          </a:prstGeom>
          <a:noFill/>
        </p:spPr>
        <p:txBody>
          <a:bodyPr wrap="square" rtlCol="0" anchor="ctr"/>
          <a:lstStyle/>
          <a:p>
            <a:pPr marL="0" lvl="0" indent="0" algn="ctr">
              <a:lnSpc>
                <a:spcPct val="120000"/>
              </a:lnSpc>
              <a:spcBef>
                <a:spcPts val="0"/>
              </a:spcBef>
              <a:spcAft>
                <a:spcPts val="0"/>
              </a:spcAft>
              <a:buSzPct val="100000"/>
            </a:pPr>
            <a:r>
              <a:rPr lang="zh-CN" altLang="en-US" sz="2000" b="1" spc="150" dirty="0">
                <a:solidFill>
                  <a:srgbClr val="FF0000"/>
                </a:solidFill>
                <a:latin typeface="微软雅黑" panose="020B0503020204020204" charset="-122"/>
                <a:ea typeface="微软雅黑" panose="020B0503020204020204" charset="-122"/>
              </a:rPr>
              <a:t>应用验证</a:t>
            </a:r>
          </a:p>
        </p:txBody>
      </p:sp>
      <p:sp>
        <p:nvSpPr>
          <p:cNvPr id="17" name="圆角矩形 11">
            <a:extLst>
              <a:ext uri="{FF2B5EF4-FFF2-40B4-BE49-F238E27FC236}">
                <a16:creationId xmlns:a16="http://schemas.microsoft.com/office/drawing/2014/main" id="{54D52E97-C9B3-7008-0C6B-FA427E9861E4}"/>
              </a:ext>
            </a:extLst>
          </p:cNvPr>
          <p:cNvSpPr/>
          <p:nvPr>
            <p:custDataLst>
              <p:tags r:id="rId10"/>
            </p:custDataLst>
          </p:nvPr>
        </p:nvSpPr>
        <p:spPr>
          <a:xfrm>
            <a:off x="1085917" y="3411969"/>
            <a:ext cx="8934141" cy="596265"/>
          </a:xfrm>
          <a:prstGeom prst="roundRect">
            <a:avLst>
              <a:gd name="adj" fmla="val 50000"/>
            </a:avLst>
          </a:prstGeom>
          <a:solidFill>
            <a:srgbClr val="1AA3AA">
              <a:lumMod val="20000"/>
              <a:lumOff val="80000"/>
            </a:srgbClr>
          </a:solidFill>
          <a:ln w="12700" cap="flat" cmpd="sng" algn="ctr">
            <a:noFill/>
            <a:prstDash val="solid"/>
            <a:miter lim="800000"/>
          </a:ln>
          <a:effectLst>
            <a:outerShdw blurRad="50800" dist="38100" dir="2700000" algn="tl" rotWithShape="0">
              <a:srgbClr val="1F74AD">
                <a:lumMod val="75000"/>
                <a:alpha val="40000"/>
              </a:srgbClr>
            </a:outerShdw>
          </a:effectLst>
        </p:spPr>
        <p:txBody>
          <a:bodyPr rot="0" spcFirstLastPara="0" vertOverflow="overflow" horzOverflow="overflow" vert="horz" wrap="square" lIns="396000" tIns="45720" rIns="91440" bIns="45720" numCol="1" spcCol="0" rtlCol="0" fromWordArt="0" anchor="ctr" anchorCtr="0" forceAA="0" compatLnSpc="1">
            <a:noAutofit/>
          </a:bodyPr>
          <a:lstStyle/>
          <a:p>
            <a:pPr algn="ctr"/>
            <a:endParaRPr lang="da-DK" altLang="zh-CN" sz="1800" dirty="0">
              <a:solidFill>
                <a:srgbClr val="1F74AD">
                  <a:lumMod val="75000"/>
                </a:srgbClr>
              </a:solidFill>
              <a:latin typeface="微软雅黑" panose="020B0503020204020204" charset="-122"/>
              <a:ea typeface="微软雅黑" panose="020B0503020204020204" charset="-122"/>
            </a:endParaRPr>
          </a:p>
        </p:txBody>
      </p:sp>
      <p:sp>
        <p:nvSpPr>
          <p:cNvPr id="18" name="文本框 17">
            <a:extLst>
              <a:ext uri="{FF2B5EF4-FFF2-40B4-BE49-F238E27FC236}">
                <a16:creationId xmlns:a16="http://schemas.microsoft.com/office/drawing/2014/main" id="{B20E6FE8-AE11-DBCF-7AC6-F6B9442C5A6C}"/>
              </a:ext>
            </a:extLst>
          </p:cNvPr>
          <p:cNvSpPr txBox="1"/>
          <p:nvPr>
            <p:custDataLst>
              <p:tags r:id="rId11"/>
            </p:custDataLst>
          </p:nvPr>
        </p:nvSpPr>
        <p:spPr>
          <a:xfrm>
            <a:off x="2424823" y="3347199"/>
            <a:ext cx="6828790" cy="785495"/>
          </a:xfrm>
          <a:prstGeom prst="rect">
            <a:avLst/>
          </a:prstGeom>
          <a:noFill/>
        </p:spPr>
        <p:txBody>
          <a:bodyPr wrap="square" rtlCol="0" anchor="ctr"/>
          <a:lstStyle/>
          <a:p>
            <a:pPr marL="0" lvl="0">
              <a:lnSpc>
                <a:spcPct val="120000"/>
              </a:lnSpc>
              <a:spcBef>
                <a:spcPts val="0"/>
              </a:spcBef>
              <a:spcAft>
                <a:spcPts val="0"/>
              </a:spcAft>
              <a:buClrTx/>
              <a:buSzTx/>
              <a:buFontTx/>
            </a:pPr>
            <a:r>
              <a:rPr sz="1600" b="1" spc="150" dirty="0" err="1">
                <a:solidFill>
                  <a:srgbClr val="1F74AD">
                    <a:lumMod val="75000"/>
                  </a:srgbClr>
                </a:solidFill>
                <a:ea typeface="微软雅黑" panose="020B0503020204020204" charset="-122"/>
                <a:sym typeface="+mn-ea"/>
              </a:rPr>
              <a:t>完成学位论文</a:t>
            </a:r>
            <a:r>
              <a:rPr sz="1600" b="1" spc="150" dirty="0">
                <a:solidFill>
                  <a:srgbClr val="1F74AD">
                    <a:lumMod val="75000"/>
                  </a:srgbClr>
                </a:solidFill>
                <a:ea typeface="微软雅黑" panose="020B0503020204020204" charset="-122"/>
                <a:sym typeface="+mn-ea"/>
              </a:rPr>
              <a:t>。</a:t>
            </a:r>
          </a:p>
        </p:txBody>
      </p:sp>
      <p:sp>
        <p:nvSpPr>
          <p:cNvPr id="19" name="文本框 18">
            <a:extLst>
              <a:ext uri="{FF2B5EF4-FFF2-40B4-BE49-F238E27FC236}">
                <a16:creationId xmlns:a16="http://schemas.microsoft.com/office/drawing/2014/main" id="{9CEE7455-4416-5882-3D51-0BC070D854BC}"/>
              </a:ext>
            </a:extLst>
          </p:cNvPr>
          <p:cNvSpPr txBox="1"/>
          <p:nvPr>
            <p:custDataLst>
              <p:tags r:id="rId12"/>
            </p:custDataLst>
          </p:nvPr>
        </p:nvSpPr>
        <p:spPr>
          <a:xfrm>
            <a:off x="1105129" y="3431366"/>
            <a:ext cx="1302385" cy="576868"/>
          </a:xfrm>
          <a:prstGeom prst="rect">
            <a:avLst/>
          </a:prstGeom>
          <a:noFill/>
        </p:spPr>
        <p:txBody>
          <a:bodyPr wrap="square" rtlCol="0" anchor="ctr"/>
          <a:lstStyle/>
          <a:p>
            <a:pPr marL="0" lvl="0" indent="0" algn="ctr">
              <a:lnSpc>
                <a:spcPct val="120000"/>
              </a:lnSpc>
              <a:spcBef>
                <a:spcPts val="0"/>
              </a:spcBef>
              <a:spcAft>
                <a:spcPts val="0"/>
              </a:spcAft>
              <a:buSzPct val="100000"/>
            </a:pPr>
            <a:r>
              <a:rPr lang="zh-CN" altLang="en-US" sz="2000" b="1" spc="150" dirty="0">
                <a:solidFill>
                  <a:srgbClr val="FF0000"/>
                </a:solidFill>
                <a:latin typeface="微软雅黑" panose="020B0503020204020204" charset="-122"/>
                <a:ea typeface="微软雅黑" panose="020B0503020204020204" charset="-122"/>
              </a:rPr>
              <a:t>论文成果</a:t>
            </a:r>
          </a:p>
        </p:txBody>
      </p:sp>
      <p:sp>
        <p:nvSpPr>
          <p:cNvPr id="20" name="矩形: 圆角 19">
            <a:extLst>
              <a:ext uri="{FF2B5EF4-FFF2-40B4-BE49-F238E27FC236}">
                <a16:creationId xmlns:a16="http://schemas.microsoft.com/office/drawing/2014/main" id="{54BB014B-5523-EE01-BB1E-1CB5D0790FCE}"/>
              </a:ext>
            </a:extLst>
          </p:cNvPr>
          <p:cNvSpPr/>
          <p:nvPr/>
        </p:nvSpPr>
        <p:spPr>
          <a:xfrm>
            <a:off x="730885" y="4811015"/>
            <a:ext cx="2019627" cy="1748782"/>
          </a:xfrm>
          <a:prstGeom prst="roundRect">
            <a:avLst/>
          </a:prstGeom>
          <a:solidFill>
            <a:schemeClr val="accent5">
              <a:lumMod val="60000"/>
              <a:lumOff val="40000"/>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solidFill>
                <a:srgbClr val="2E5696"/>
              </a:solidFill>
            </a:endParaRPr>
          </a:p>
        </p:txBody>
      </p:sp>
      <p:sp>
        <p:nvSpPr>
          <p:cNvPr id="24" name="矩形: 圆角 23">
            <a:extLst>
              <a:ext uri="{FF2B5EF4-FFF2-40B4-BE49-F238E27FC236}">
                <a16:creationId xmlns:a16="http://schemas.microsoft.com/office/drawing/2014/main" id="{0C686A2B-45CE-9CFF-21D1-1BA129387FD1}"/>
              </a:ext>
            </a:extLst>
          </p:cNvPr>
          <p:cNvSpPr/>
          <p:nvPr/>
        </p:nvSpPr>
        <p:spPr>
          <a:xfrm>
            <a:off x="2917670" y="4805197"/>
            <a:ext cx="2019627" cy="1748782"/>
          </a:xfrm>
          <a:prstGeom prst="roundRect">
            <a:avLst/>
          </a:prstGeom>
          <a:solidFill>
            <a:schemeClr val="accent5">
              <a:lumMod val="60000"/>
              <a:lumOff val="40000"/>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solidFill>
                <a:srgbClr val="2E5696"/>
              </a:solidFill>
            </a:endParaRPr>
          </a:p>
        </p:txBody>
      </p:sp>
      <p:sp>
        <p:nvSpPr>
          <p:cNvPr id="25" name="矩形: 圆角 24">
            <a:extLst>
              <a:ext uri="{FF2B5EF4-FFF2-40B4-BE49-F238E27FC236}">
                <a16:creationId xmlns:a16="http://schemas.microsoft.com/office/drawing/2014/main" id="{B75BA884-5A48-652B-24BC-B1E184DCA64A}"/>
              </a:ext>
            </a:extLst>
          </p:cNvPr>
          <p:cNvSpPr/>
          <p:nvPr/>
        </p:nvSpPr>
        <p:spPr>
          <a:xfrm>
            <a:off x="5100799" y="4813028"/>
            <a:ext cx="2019627" cy="1748782"/>
          </a:xfrm>
          <a:prstGeom prst="roundRect">
            <a:avLst/>
          </a:prstGeom>
          <a:solidFill>
            <a:schemeClr val="accent5">
              <a:lumMod val="60000"/>
              <a:lumOff val="40000"/>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solidFill>
                <a:srgbClr val="2E5696"/>
              </a:solidFill>
            </a:endParaRPr>
          </a:p>
        </p:txBody>
      </p:sp>
      <p:sp>
        <p:nvSpPr>
          <p:cNvPr id="26" name="矩形: 圆角 25">
            <a:extLst>
              <a:ext uri="{FF2B5EF4-FFF2-40B4-BE49-F238E27FC236}">
                <a16:creationId xmlns:a16="http://schemas.microsoft.com/office/drawing/2014/main" id="{075E8167-F95E-E519-CB82-5F713A5FE9F7}"/>
              </a:ext>
            </a:extLst>
          </p:cNvPr>
          <p:cNvSpPr/>
          <p:nvPr/>
        </p:nvSpPr>
        <p:spPr>
          <a:xfrm>
            <a:off x="7283928" y="4813028"/>
            <a:ext cx="2019627" cy="1748782"/>
          </a:xfrm>
          <a:prstGeom prst="roundRect">
            <a:avLst/>
          </a:prstGeom>
          <a:solidFill>
            <a:schemeClr val="accent5">
              <a:lumMod val="60000"/>
              <a:lumOff val="40000"/>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solidFill>
                <a:srgbClr val="2E5696"/>
              </a:solidFill>
            </a:endParaRPr>
          </a:p>
        </p:txBody>
      </p:sp>
      <p:sp>
        <p:nvSpPr>
          <p:cNvPr id="27" name="矩形: 圆角 26">
            <a:extLst>
              <a:ext uri="{FF2B5EF4-FFF2-40B4-BE49-F238E27FC236}">
                <a16:creationId xmlns:a16="http://schemas.microsoft.com/office/drawing/2014/main" id="{373068E6-EC1A-B1C1-61EC-4D71AEEB5081}"/>
              </a:ext>
            </a:extLst>
          </p:cNvPr>
          <p:cNvSpPr/>
          <p:nvPr/>
        </p:nvSpPr>
        <p:spPr>
          <a:xfrm>
            <a:off x="9455677" y="4800859"/>
            <a:ext cx="2019627" cy="1748782"/>
          </a:xfrm>
          <a:prstGeom prst="roundRect">
            <a:avLst/>
          </a:prstGeom>
          <a:solidFill>
            <a:schemeClr val="accent5">
              <a:lumMod val="60000"/>
              <a:lumOff val="40000"/>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solidFill>
                <a:srgbClr val="2E5696"/>
              </a:solidFill>
            </a:endParaRPr>
          </a:p>
        </p:txBody>
      </p:sp>
      <p:sp>
        <p:nvSpPr>
          <p:cNvPr id="29" name="文本框 28">
            <a:extLst>
              <a:ext uri="{FF2B5EF4-FFF2-40B4-BE49-F238E27FC236}">
                <a16:creationId xmlns:a16="http://schemas.microsoft.com/office/drawing/2014/main" id="{07B1D3A2-6426-0417-89F8-5AD8BADB17EE}"/>
              </a:ext>
            </a:extLst>
          </p:cNvPr>
          <p:cNvSpPr txBox="1"/>
          <p:nvPr/>
        </p:nvSpPr>
        <p:spPr>
          <a:xfrm>
            <a:off x="559329" y="4800859"/>
            <a:ext cx="2358341" cy="661720"/>
          </a:xfrm>
          <a:prstGeom prst="rect">
            <a:avLst/>
          </a:prstGeom>
          <a:noFill/>
        </p:spPr>
        <p:txBody>
          <a:bodyPr wrap="square">
            <a:spAutoFit/>
          </a:bodyPr>
          <a:lstStyle/>
          <a:p>
            <a:pPr algn="ctr">
              <a:spcBef>
                <a:spcPts val="600"/>
              </a:spcBef>
            </a:pPr>
            <a:r>
              <a:rPr lang="zh-CN" altLang="en-US" sz="1600" b="1" dirty="0">
                <a:solidFill>
                  <a:srgbClr val="2E5696"/>
                </a:solidFill>
                <a:latin typeface="微软雅黑" panose="020B0503020204020204" charset="-122"/>
                <a:ea typeface="微软雅黑" panose="020B0503020204020204" charset="-122"/>
                <a:cs typeface="微软雅黑" panose="020B0503020204020204" charset="-122"/>
                <a:sym typeface="+mn-ea"/>
              </a:rPr>
              <a:t>第一阶段</a:t>
            </a:r>
            <a:endParaRPr lang="en-US" altLang="zh-CN" sz="1600" b="1" dirty="0">
              <a:solidFill>
                <a:srgbClr val="2E5696"/>
              </a:solidFill>
              <a:latin typeface="微软雅黑" panose="020B0503020204020204" charset="-122"/>
              <a:ea typeface="微软雅黑" panose="020B0503020204020204" charset="-122"/>
              <a:cs typeface="微软雅黑" panose="020B0503020204020204" charset="-122"/>
              <a:sym typeface="+mn-ea"/>
            </a:endParaRPr>
          </a:p>
          <a:p>
            <a:pPr algn="ctr">
              <a:spcBef>
                <a:spcPts val="600"/>
              </a:spcBef>
            </a:pPr>
            <a:r>
              <a:rPr lang="zh-CN" altLang="en-US" sz="1600" b="1" dirty="0">
                <a:solidFill>
                  <a:srgbClr val="2E5696"/>
                </a:solidFill>
                <a:latin typeface="微软雅黑" panose="020B0503020204020204" charset="-122"/>
                <a:ea typeface="微软雅黑" panose="020B0503020204020204" charset="-122"/>
                <a:cs typeface="微软雅黑" panose="020B0503020204020204" charset="-122"/>
                <a:sym typeface="+mn-ea"/>
              </a:rPr>
              <a:t>（</a:t>
            </a:r>
            <a:r>
              <a:rPr lang="en-US" altLang="zh-CN" sz="1600" b="1" dirty="0">
                <a:solidFill>
                  <a:srgbClr val="2E5696"/>
                </a:solidFill>
                <a:latin typeface="微软雅黑" panose="020B0503020204020204" charset="-122"/>
                <a:ea typeface="微软雅黑" panose="020B0503020204020204" charset="-122"/>
                <a:cs typeface="微软雅黑" panose="020B0503020204020204" charset="-122"/>
                <a:sym typeface="+mn-ea"/>
              </a:rPr>
              <a:t>2022.012-2023.01</a:t>
            </a:r>
            <a:r>
              <a:rPr lang="zh-CN" altLang="en-US" sz="1600" b="1" dirty="0">
                <a:solidFill>
                  <a:srgbClr val="2E5696"/>
                </a:solidFill>
                <a:latin typeface="微软雅黑" panose="020B0503020204020204" charset="-122"/>
                <a:ea typeface="微软雅黑" panose="020B0503020204020204" charset="-122"/>
                <a:cs typeface="微软雅黑" panose="020B0503020204020204" charset="-122"/>
                <a:sym typeface="+mn-ea"/>
              </a:rPr>
              <a:t>）</a:t>
            </a:r>
            <a:endParaRPr lang="zh-CN" altLang="en-US" sz="1600" b="1" dirty="0">
              <a:solidFill>
                <a:srgbClr val="2E5696"/>
              </a:solidFill>
              <a:latin typeface="微软雅黑" panose="020B0503020204020204" charset="-122"/>
              <a:ea typeface="微软雅黑" panose="020B0503020204020204" charset="-122"/>
              <a:cs typeface="微软雅黑" panose="020B0503020204020204" charset="-122"/>
            </a:endParaRPr>
          </a:p>
        </p:txBody>
      </p:sp>
      <p:sp>
        <p:nvSpPr>
          <p:cNvPr id="30" name="文本框 29">
            <a:extLst>
              <a:ext uri="{FF2B5EF4-FFF2-40B4-BE49-F238E27FC236}">
                <a16:creationId xmlns:a16="http://schemas.microsoft.com/office/drawing/2014/main" id="{1D1FB088-255F-9EA0-DADE-072FA45BFCBA}"/>
              </a:ext>
            </a:extLst>
          </p:cNvPr>
          <p:cNvSpPr txBox="1"/>
          <p:nvPr/>
        </p:nvSpPr>
        <p:spPr>
          <a:xfrm>
            <a:off x="2748312" y="4817573"/>
            <a:ext cx="2358341" cy="661720"/>
          </a:xfrm>
          <a:prstGeom prst="rect">
            <a:avLst/>
          </a:prstGeom>
          <a:noFill/>
        </p:spPr>
        <p:txBody>
          <a:bodyPr wrap="square">
            <a:spAutoFit/>
          </a:bodyPr>
          <a:lstStyle/>
          <a:p>
            <a:pPr algn="ctr">
              <a:spcBef>
                <a:spcPts val="600"/>
              </a:spcBef>
            </a:pPr>
            <a:r>
              <a:rPr lang="zh-CN" altLang="en-US" sz="1600" b="1" dirty="0">
                <a:solidFill>
                  <a:srgbClr val="2E5696"/>
                </a:solidFill>
                <a:latin typeface="微软雅黑" panose="020B0503020204020204" charset="-122"/>
                <a:ea typeface="微软雅黑" panose="020B0503020204020204" charset="-122"/>
                <a:cs typeface="微软雅黑" panose="020B0503020204020204" charset="-122"/>
                <a:sym typeface="+mn-ea"/>
              </a:rPr>
              <a:t>第二阶段</a:t>
            </a:r>
            <a:endParaRPr lang="en-US" altLang="zh-CN" sz="1600" b="1" dirty="0">
              <a:solidFill>
                <a:srgbClr val="2E5696"/>
              </a:solidFill>
              <a:latin typeface="微软雅黑" panose="020B0503020204020204" charset="-122"/>
              <a:ea typeface="微软雅黑" panose="020B0503020204020204" charset="-122"/>
              <a:cs typeface="微软雅黑" panose="020B0503020204020204" charset="-122"/>
              <a:sym typeface="+mn-ea"/>
            </a:endParaRPr>
          </a:p>
          <a:p>
            <a:pPr algn="ctr">
              <a:spcBef>
                <a:spcPts val="600"/>
              </a:spcBef>
            </a:pPr>
            <a:r>
              <a:rPr lang="zh-CN" altLang="en-US" sz="1600" b="1" dirty="0">
                <a:solidFill>
                  <a:srgbClr val="2E5696"/>
                </a:solidFill>
                <a:latin typeface="微软雅黑" panose="020B0503020204020204" charset="-122"/>
                <a:ea typeface="微软雅黑" panose="020B0503020204020204" charset="-122"/>
                <a:cs typeface="微软雅黑" panose="020B0503020204020204" charset="-122"/>
                <a:sym typeface="+mn-ea"/>
              </a:rPr>
              <a:t>（</a:t>
            </a:r>
            <a:r>
              <a:rPr lang="en-US" altLang="zh-CN" sz="1600" b="1" dirty="0">
                <a:solidFill>
                  <a:srgbClr val="2E5696"/>
                </a:solidFill>
                <a:latin typeface="微软雅黑" panose="020B0503020204020204" charset="-122"/>
                <a:ea typeface="微软雅黑" panose="020B0503020204020204" charset="-122"/>
                <a:cs typeface="微软雅黑" panose="020B0503020204020204" charset="-122"/>
                <a:sym typeface="+mn-ea"/>
              </a:rPr>
              <a:t>2023.01-2023.02</a:t>
            </a:r>
            <a:r>
              <a:rPr lang="zh-CN" altLang="en-US" sz="1600" b="1" dirty="0">
                <a:solidFill>
                  <a:srgbClr val="2E5696"/>
                </a:solidFill>
                <a:latin typeface="微软雅黑" panose="020B0503020204020204" charset="-122"/>
                <a:ea typeface="微软雅黑" panose="020B0503020204020204" charset="-122"/>
                <a:cs typeface="微软雅黑" panose="020B0503020204020204" charset="-122"/>
                <a:sym typeface="+mn-ea"/>
              </a:rPr>
              <a:t>）</a:t>
            </a:r>
            <a:endParaRPr lang="zh-CN" altLang="en-US" sz="1600" b="1" dirty="0">
              <a:solidFill>
                <a:srgbClr val="2E5696"/>
              </a:solidFill>
              <a:latin typeface="微软雅黑" panose="020B0503020204020204" charset="-122"/>
              <a:ea typeface="微软雅黑" panose="020B0503020204020204" charset="-122"/>
              <a:cs typeface="微软雅黑" panose="020B0503020204020204" charset="-122"/>
            </a:endParaRPr>
          </a:p>
        </p:txBody>
      </p:sp>
      <p:sp>
        <p:nvSpPr>
          <p:cNvPr id="31" name="文本框 30">
            <a:extLst>
              <a:ext uri="{FF2B5EF4-FFF2-40B4-BE49-F238E27FC236}">
                <a16:creationId xmlns:a16="http://schemas.microsoft.com/office/drawing/2014/main" id="{F92276DC-CCBF-C079-E021-0A0C86F53349}"/>
              </a:ext>
            </a:extLst>
          </p:cNvPr>
          <p:cNvSpPr txBox="1"/>
          <p:nvPr/>
        </p:nvSpPr>
        <p:spPr>
          <a:xfrm>
            <a:off x="4914873" y="4815921"/>
            <a:ext cx="2358341" cy="661720"/>
          </a:xfrm>
          <a:prstGeom prst="rect">
            <a:avLst/>
          </a:prstGeom>
          <a:noFill/>
        </p:spPr>
        <p:txBody>
          <a:bodyPr wrap="square">
            <a:spAutoFit/>
          </a:bodyPr>
          <a:lstStyle/>
          <a:p>
            <a:pPr algn="ctr">
              <a:spcBef>
                <a:spcPts val="600"/>
              </a:spcBef>
            </a:pPr>
            <a:r>
              <a:rPr lang="zh-CN" altLang="en-US" sz="1600" b="1" dirty="0">
                <a:solidFill>
                  <a:srgbClr val="2E5696"/>
                </a:solidFill>
                <a:latin typeface="微软雅黑" panose="020B0503020204020204" charset="-122"/>
                <a:ea typeface="微软雅黑" panose="020B0503020204020204" charset="-122"/>
                <a:cs typeface="微软雅黑" panose="020B0503020204020204" charset="-122"/>
                <a:sym typeface="+mn-ea"/>
              </a:rPr>
              <a:t>第三阶段</a:t>
            </a:r>
            <a:endParaRPr lang="en-US" altLang="zh-CN" sz="1600" b="1" dirty="0">
              <a:solidFill>
                <a:srgbClr val="2E5696"/>
              </a:solidFill>
              <a:latin typeface="微软雅黑" panose="020B0503020204020204" charset="-122"/>
              <a:ea typeface="微软雅黑" panose="020B0503020204020204" charset="-122"/>
              <a:cs typeface="微软雅黑" panose="020B0503020204020204" charset="-122"/>
              <a:sym typeface="+mn-ea"/>
            </a:endParaRPr>
          </a:p>
          <a:p>
            <a:pPr algn="ctr">
              <a:spcBef>
                <a:spcPts val="600"/>
              </a:spcBef>
            </a:pPr>
            <a:r>
              <a:rPr lang="zh-CN" altLang="en-US" sz="1600" b="1" dirty="0">
                <a:solidFill>
                  <a:srgbClr val="2E5696"/>
                </a:solidFill>
                <a:latin typeface="微软雅黑" panose="020B0503020204020204" charset="-122"/>
                <a:ea typeface="微软雅黑" panose="020B0503020204020204" charset="-122"/>
                <a:cs typeface="微软雅黑" panose="020B0503020204020204" charset="-122"/>
                <a:sym typeface="+mn-ea"/>
              </a:rPr>
              <a:t>（</a:t>
            </a:r>
            <a:r>
              <a:rPr lang="en-US" altLang="zh-CN" sz="1600" b="1" dirty="0">
                <a:solidFill>
                  <a:srgbClr val="2E5696"/>
                </a:solidFill>
                <a:latin typeface="微软雅黑" panose="020B0503020204020204" charset="-122"/>
                <a:ea typeface="微软雅黑" panose="020B0503020204020204" charset="-122"/>
                <a:cs typeface="微软雅黑" panose="020B0503020204020204" charset="-122"/>
                <a:sym typeface="+mn-ea"/>
              </a:rPr>
              <a:t>2023.02-2023.03</a:t>
            </a:r>
            <a:r>
              <a:rPr lang="zh-CN" altLang="en-US" sz="1600" b="1" dirty="0">
                <a:solidFill>
                  <a:srgbClr val="2E5696"/>
                </a:solidFill>
                <a:latin typeface="微软雅黑" panose="020B0503020204020204" charset="-122"/>
                <a:ea typeface="微软雅黑" panose="020B0503020204020204" charset="-122"/>
                <a:cs typeface="微软雅黑" panose="020B0503020204020204" charset="-122"/>
                <a:sym typeface="+mn-ea"/>
              </a:rPr>
              <a:t>）</a:t>
            </a:r>
            <a:endParaRPr lang="zh-CN" altLang="en-US" sz="1600" b="1" dirty="0">
              <a:solidFill>
                <a:srgbClr val="2E5696"/>
              </a:solidFill>
              <a:latin typeface="微软雅黑" panose="020B0503020204020204" charset="-122"/>
              <a:ea typeface="微软雅黑" panose="020B0503020204020204" charset="-122"/>
              <a:cs typeface="微软雅黑" panose="020B0503020204020204" charset="-122"/>
            </a:endParaRPr>
          </a:p>
        </p:txBody>
      </p:sp>
      <p:sp>
        <p:nvSpPr>
          <p:cNvPr id="32" name="文本框 31">
            <a:extLst>
              <a:ext uri="{FF2B5EF4-FFF2-40B4-BE49-F238E27FC236}">
                <a16:creationId xmlns:a16="http://schemas.microsoft.com/office/drawing/2014/main" id="{869F55DD-2B15-E32B-B393-CBBAD4E8D543}"/>
              </a:ext>
            </a:extLst>
          </p:cNvPr>
          <p:cNvSpPr txBox="1"/>
          <p:nvPr/>
        </p:nvSpPr>
        <p:spPr>
          <a:xfrm>
            <a:off x="7103856" y="4800859"/>
            <a:ext cx="2358341" cy="661720"/>
          </a:xfrm>
          <a:prstGeom prst="rect">
            <a:avLst/>
          </a:prstGeom>
          <a:noFill/>
        </p:spPr>
        <p:txBody>
          <a:bodyPr wrap="square">
            <a:spAutoFit/>
          </a:bodyPr>
          <a:lstStyle/>
          <a:p>
            <a:pPr algn="ctr">
              <a:spcBef>
                <a:spcPts val="600"/>
              </a:spcBef>
            </a:pPr>
            <a:r>
              <a:rPr lang="zh-CN" altLang="en-US" sz="1600" b="1" dirty="0">
                <a:solidFill>
                  <a:srgbClr val="2E5696"/>
                </a:solidFill>
                <a:latin typeface="微软雅黑" panose="020B0503020204020204" charset="-122"/>
                <a:ea typeface="微软雅黑" panose="020B0503020204020204" charset="-122"/>
                <a:cs typeface="微软雅黑" panose="020B0503020204020204" charset="-122"/>
                <a:sym typeface="+mn-ea"/>
              </a:rPr>
              <a:t>第四阶段</a:t>
            </a:r>
            <a:endParaRPr lang="en-US" altLang="zh-CN" sz="1600" b="1" dirty="0">
              <a:solidFill>
                <a:srgbClr val="2E5696"/>
              </a:solidFill>
              <a:latin typeface="微软雅黑" panose="020B0503020204020204" charset="-122"/>
              <a:ea typeface="微软雅黑" panose="020B0503020204020204" charset="-122"/>
              <a:cs typeface="微软雅黑" panose="020B0503020204020204" charset="-122"/>
              <a:sym typeface="+mn-ea"/>
            </a:endParaRPr>
          </a:p>
          <a:p>
            <a:pPr algn="ctr">
              <a:spcBef>
                <a:spcPts val="600"/>
              </a:spcBef>
            </a:pPr>
            <a:r>
              <a:rPr lang="zh-CN" altLang="en-US" sz="1600" b="1" dirty="0">
                <a:solidFill>
                  <a:srgbClr val="2E5696"/>
                </a:solidFill>
                <a:latin typeface="微软雅黑" panose="020B0503020204020204" charset="-122"/>
                <a:ea typeface="微软雅黑" panose="020B0503020204020204" charset="-122"/>
                <a:cs typeface="微软雅黑" panose="020B0503020204020204" charset="-122"/>
                <a:sym typeface="+mn-ea"/>
              </a:rPr>
              <a:t>（</a:t>
            </a:r>
            <a:r>
              <a:rPr lang="en-US" altLang="zh-CN" sz="1600" b="1" dirty="0">
                <a:solidFill>
                  <a:srgbClr val="2E5696"/>
                </a:solidFill>
                <a:latin typeface="微软雅黑" panose="020B0503020204020204" charset="-122"/>
                <a:ea typeface="微软雅黑" panose="020B0503020204020204" charset="-122"/>
                <a:cs typeface="微软雅黑" panose="020B0503020204020204" charset="-122"/>
                <a:sym typeface="+mn-ea"/>
              </a:rPr>
              <a:t>2023.03-2023.04</a:t>
            </a:r>
            <a:r>
              <a:rPr lang="zh-CN" altLang="en-US" sz="1600" b="1" dirty="0">
                <a:solidFill>
                  <a:srgbClr val="2E5696"/>
                </a:solidFill>
                <a:latin typeface="微软雅黑" panose="020B0503020204020204" charset="-122"/>
                <a:ea typeface="微软雅黑" panose="020B0503020204020204" charset="-122"/>
                <a:cs typeface="微软雅黑" panose="020B0503020204020204" charset="-122"/>
                <a:sym typeface="+mn-ea"/>
              </a:rPr>
              <a:t>）</a:t>
            </a:r>
            <a:endParaRPr lang="zh-CN" altLang="en-US" sz="1600" b="1" dirty="0">
              <a:solidFill>
                <a:srgbClr val="2E5696"/>
              </a:solidFill>
              <a:latin typeface="微软雅黑" panose="020B0503020204020204" charset="-122"/>
              <a:ea typeface="微软雅黑" panose="020B0503020204020204" charset="-122"/>
              <a:cs typeface="微软雅黑" panose="020B0503020204020204" charset="-122"/>
            </a:endParaRPr>
          </a:p>
        </p:txBody>
      </p:sp>
      <p:sp>
        <p:nvSpPr>
          <p:cNvPr id="33" name="文本框 32">
            <a:extLst>
              <a:ext uri="{FF2B5EF4-FFF2-40B4-BE49-F238E27FC236}">
                <a16:creationId xmlns:a16="http://schemas.microsoft.com/office/drawing/2014/main" id="{3667DFB2-08D4-29D5-2440-DE6D4EA52CBE}"/>
              </a:ext>
            </a:extLst>
          </p:cNvPr>
          <p:cNvSpPr txBox="1"/>
          <p:nvPr/>
        </p:nvSpPr>
        <p:spPr>
          <a:xfrm>
            <a:off x="9261586" y="4800859"/>
            <a:ext cx="2358341" cy="661720"/>
          </a:xfrm>
          <a:prstGeom prst="rect">
            <a:avLst/>
          </a:prstGeom>
          <a:noFill/>
        </p:spPr>
        <p:txBody>
          <a:bodyPr wrap="square">
            <a:spAutoFit/>
          </a:bodyPr>
          <a:lstStyle/>
          <a:p>
            <a:pPr algn="ctr">
              <a:spcBef>
                <a:spcPts val="600"/>
              </a:spcBef>
            </a:pPr>
            <a:r>
              <a:rPr lang="zh-CN" altLang="en-US" sz="1600" b="1" dirty="0">
                <a:solidFill>
                  <a:srgbClr val="2E5696"/>
                </a:solidFill>
                <a:latin typeface="微软雅黑" panose="020B0503020204020204" charset="-122"/>
                <a:ea typeface="微软雅黑" panose="020B0503020204020204" charset="-122"/>
                <a:cs typeface="微软雅黑" panose="020B0503020204020204" charset="-122"/>
                <a:sym typeface="+mn-ea"/>
              </a:rPr>
              <a:t>第五阶段</a:t>
            </a:r>
            <a:endParaRPr lang="en-US" altLang="zh-CN" sz="1600" b="1" dirty="0">
              <a:solidFill>
                <a:srgbClr val="2E5696"/>
              </a:solidFill>
              <a:latin typeface="微软雅黑" panose="020B0503020204020204" charset="-122"/>
              <a:ea typeface="微软雅黑" panose="020B0503020204020204" charset="-122"/>
              <a:cs typeface="微软雅黑" panose="020B0503020204020204" charset="-122"/>
              <a:sym typeface="+mn-ea"/>
            </a:endParaRPr>
          </a:p>
          <a:p>
            <a:pPr algn="ctr">
              <a:spcBef>
                <a:spcPts val="600"/>
              </a:spcBef>
            </a:pPr>
            <a:r>
              <a:rPr lang="zh-CN" altLang="en-US" sz="1600" b="1" dirty="0">
                <a:solidFill>
                  <a:srgbClr val="2E5696"/>
                </a:solidFill>
                <a:latin typeface="微软雅黑" panose="020B0503020204020204" charset="-122"/>
                <a:ea typeface="微软雅黑" panose="020B0503020204020204" charset="-122"/>
                <a:cs typeface="微软雅黑" panose="020B0503020204020204" charset="-122"/>
                <a:sym typeface="+mn-ea"/>
              </a:rPr>
              <a:t>（</a:t>
            </a:r>
            <a:r>
              <a:rPr lang="en-US" altLang="zh-CN" sz="1600" b="1" dirty="0">
                <a:solidFill>
                  <a:srgbClr val="2E5696"/>
                </a:solidFill>
                <a:latin typeface="微软雅黑" panose="020B0503020204020204" charset="-122"/>
                <a:ea typeface="微软雅黑" panose="020B0503020204020204" charset="-122"/>
                <a:cs typeface="微软雅黑" panose="020B0503020204020204" charset="-122"/>
                <a:sym typeface="+mn-ea"/>
              </a:rPr>
              <a:t>2026</a:t>
            </a:r>
            <a:r>
              <a:rPr lang="zh-CN" altLang="en-US" sz="1600" b="1" dirty="0">
                <a:solidFill>
                  <a:srgbClr val="2E5696"/>
                </a:solidFill>
                <a:latin typeface="微软雅黑" panose="020B0503020204020204" charset="-122"/>
                <a:ea typeface="微软雅黑" panose="020B0503020204020204" charset="-122"/>
                <a:cs typeface="微软雅黑" panose="020B0503020204020204" charset="-122"/>
                <a:sym typeface="+mn-ea"/>
              </a:rPr>
              <a:t>。</a:t>
            </a:r>
            <a:r>
              <a:rPr lang="en-US" altLang="zh-CN" sz="1600" b="1" dirty="0">
                <a:solidFill>
                  <a:srgbClr val="2E5696"/>
                </a:solidFill>
                <a:latin typeface="微软雅黑" panose="020B0503020204020204" charset="-122"/>
                <a:ea typeface="微软雅黑" panose="020B0503020204020204" charset="-122"/>
                <a:cs typeface="微软雅黑" panose="020B0503020204020204" charset="-122"/>
                <a:sym typeface="+mn-ea"/>
              </a:rPr>
              <a:t>04-2023.05</a:t>
            </a:r>
            <a:r>
              <a:rPr lang="zh-CN" altLang="en-US" sz="1600" b="1" dirty="0">
                <a:solidFill>
                  <a:srgbClr val="2E5696"/>
                </a:solidFill>
                <a:latin typeface="微软雅黑" panose="020B0503020204020204" charset="-122"/>
                <a:ea typeface="微软雅黑" panose="020B0503020204020204" charset="-122"/>
                <a:cs typeface="微软雅黑" panose="020B0503020204020204" charset="-122"/>
                <a:sym typeface="+mn-ea"/>
              </a:rPr>
              <a:t>）</a:t>
            </a:r>
            <a:endParaRPr lang="zh-CN" altLang="en-US" sz="1600" b="1" dirty="0">
              <a:solidFill>
                <a:srgbClr val="2E5696"/>
              </a:solidFill>
              <a:latin typeface="微软雅黑" panose="020B0503020204020204" charset="-122"/>
              <a:ea typeface="微软雅黑" panose="020B0503020204020204" charset="-122"/>
              <a:cs typeface="微软雅黑" panose="020B0503020204020204" charset="-122"/>
            </a:endParaRPr>
          </a:p>
        </p:txBody>
      </p:sp>
      <p:sp>
        <p:nvSpPr>
          <p:cNvPr id="36" name="文本框 35">
            <a:extLst>
              <a:ext uri="{FF2B5EF4-FFF2-40B4-BE49-F238E27FC236}">
                <a16:creationId xmlns:a16="http://schemas.microsoft.com/office/drawing/2014/main" id="{8A991827-BDEB-F326-3EA3-CA984B3BC39D}"/>
              </a:ext>
            </a:extLst>
          </p:cNvPr>
          <p:cNvSpPr txBox="1"/>
          <p:nvPr/>
        </p:nvSpPr>
        <p:spPr>
          <a:xfrm>
            <a:off x="705317" y="5548251"/>
            <a:ext cx="2034074" cy="830997"/>
          </a:xfrm>
          <a:prstGeom prst="rect">
            <a:avLst/>
          </a:prstGeom>
          <a:noFill/>
        </p:spPr>
        <p:txBody>
          <a:bodyPr wrap="square" rtlCol="0">
            <a:spAutoFit/>
          </a:bodyPr>
          <a:lstStyle/>
          <a:p>
            <a:pPr algn="just"/>
            <a:r>
              <a:rPr lang="zh-CN" altLang="en-US" sz="1600" dirty="0">
                <a:solidFill>
                  <a:srgbClr val="2E5696"/>
                </a:solidFill>
              </a:rPr>
              <a:t>查阅文献，学习</a:t>
            </a:r>
            <a:r>
              <a:rPr lang="zh-CN" altLang="zh-CN" sz="1600" dirty="0">
                <a:solidFill>
                  <a:srgbClr val="2E5696"/>
                </a:solidFill>
              </a:rPr>
              <a:t>深度神经网络 </a:t>
            </a:r>
            <a:r>
              <a:rPr lang="zh-CN" altLang="en-US" sz="1600" dirty="0">
                <a:solidFill>
                  <a:srgbClr val="2E5696"/>
                </a:solidFill>
              </a:rPr>
              <a:t>、机器学习和语音检测</a:t>
            </a:r>
          </a:p>
        </p:txBody>
      </p:sp>
      <p:sp>
        <p:nvSpPr>
          <p:cNvPr id="37" name="文本框 36">
            <a:extLst>
              <a:ext uri="{FF2B5EF4-FFF2-40B4-BE49-F238E27FC236}">
                <a16:creationId xmlns:a16="http://schemas.microsoft.com/office/drawing/2014/main" id="{49EC6A95-F5F7-89EA-153F-3CE904958119}"/>
              </a:ext>
            </a:extLst>
          </p:cNvPr>
          <p:cNvSpPr txBox="1"/>
          <p:nvPr/>
        </p:nvSpPr>
        <p:spPr>
          <a:xfrm>
            <a:off x="2944603" y="5542583"/>
            <a:ext cx="2034074" cy="830997"/>
          </a:xfrm>
          <a:prstGeom prst="rect">
            <a:avLst/>
          </a:prstGeom>
          <a:noFill/>
        </p:spPr>
        <p:txBody>
          <a:bodyPr wrap="square" rtlCol="0">
            <a:spAutoFit/>
          </a:bodyPr>
          <a:lstStyle/>
          <a:p>
            <a:pPr algn="just"/>
            <a:r>
              <a:rPr lang="zh-CN" altLang="en-US" sz="1600" dirty="0">
                <a:solidFill>
                  <a:srgbClr val="2E5696"/>
                </a:solidFill>
              </a:rPr>
              <a:t>探索语音端点检测内在机理，研究相关证明</a:t>
            </a:r>
          </a:p>
        </p:txBody>
      </p:sp>
      <p:sp>
        <p:nvSpPr>
          <p:cNvPr id="38" name="文本框 37">
            <a:extLst>
              <a:ext uri="{FF2B5EF4-FFF2-40B4-BE49-F238E27FC236}">
                <a16:creationId xmlns:a16="http://schemas.microsoft.com/office/drawing/2014/main" id="{3CDC4305-9453-09CA-EC4F-9B739B4C2D2D}"/>
              </a:ext>
            </a:extLst>
          </p:cNvPr>
          <p:cNvSpPr txBox="1"/>
          <p:nvPr/>
        </p:nvSpPr>
        <p:spPr>
          <a:xfrm>
            <a:off x="5097732" y="5542583"/>
            <a:ext cx="2034074" cy="830997"/>
          </a:xfrm>
          <a:prstGeom prst="rect">
            <a:avLst/>
          </a:prstGeom>
          <a:noFill/>
        </p:spPr>
        <p:txBody>
          <a:bodyPr wrap="square" rtlCol="0">
            <a:spAutoFit/>
          </a:bodyPr>
          <a:lstStyle/>
          <a:p>
            <a:pPr algn="just"/>
            <a:r>
              <a:rPr lang="zh-CN" altLang="en-US" sz="1600" dirty="0">
                <a:solidFill>
                  <a:srgbClr val="2E5696"/>
                </a:solidFill>
              </a:rPr>
              <a:t>研究模型学习能力和逼近能力，构建适应的深度学习算法</a:t>
            </a:r>
          </a:p>
        </p:txBody>
      </p:sp>
      <p:sp>
        <p:nvSpPr>
          <p:cNvPr id="39" name="文本框 38">
            <a:extLst>
              <a:ext uri="{FF2B5EF4-FFF2-40B4-BE49-F238E27FC236}">
                <a16:creationId xmlns:a16="http://schemas.microsoft.com/office/drawing/2014/main" id="{7F7C1F7E-82D8-4843-F138-F37EE3CA2FE6}"/>
              </a:ext>
            </a:extLst>
          </p:cNvPr>
          <p:cNvSpPr txBox="1"/>
          <p:nvPr/>
        </p:nvSpPr>
        <p:spPr>
          <a:xfrm>
            <a:off x="7308960" y="5429357"/>
            <a:ext cx="2034074" cy="830997"/>
          </a:xfrm>
          <a:prstGeom prst="rect">
            <a:avLst/>
          </a:prstGeom>
          <a:noFill/>
        </p:spPr>
        <p:txBody>
          <a:bodyPr wrap="square" rtlCol="0">
            <a:spAutoFit/>
          </a:bodyPr>
          <a:lstStyle/>
          <a:p>
            <a:pPr algn="just"/>
            <a:r>
              <a:rPr lang="zh-CN" altLang="en-US" sz="1600" dirty="0">
                <a:solidFill>
                  <a:srgbClr val="2E5696"/>
                </a:solidFill>
              </a:rPr>
              <a:t>探究算法；研究基于深度学习算法的语音端点检测算法</a:t>
            </a:r>
          </a:p>
        </p:txBody>
      </p:sp>
      <p:sp>
        <p:nvSpPr>
          <p:cNvPr id="40" name="文本框 39">
            <a:extLst>
              <a:ext uri="{FF2B5EF4-FFF2-40B4-BE49-F238E27FC236}">
                <a16:creationId xmlns:a16="http://schemas.microsoft.com/office/drawing/2014/main" id="{B917B99C-64BB-8271-E142-133AFC3AE12A}"/>
              </a:ext>
            </a:extLst>
          </p:cNvPr>
          <p:cNvSpPr txBox="1"/>
          <p:nvPr/>
        </p:nvSpPr>
        <p:spPr>
          <a:xfrm>
            <a:off x="9520187" y="5498534"/>
            <a:ext cx="2034074" cy="584775"/>
          </a:xfrm>
          <a:prstGeom prst="rect">
            <a:avLst/>
          </a:prstGeom>
          <a:noFill/>
        </p:spPr>
        <p:txBody>
          <a:bodyPr wrap="square" rtlCol="0">
            <a:spAutoFit/>
          </a:bodyPr>
          <a:lstStyle/>
          <a:p>
            <a:pPr algn="just"/>
            <a:r>
              <a:rPr lang="zh-CN" altLang="en-US" sz="1600" dirty="0">
                <a:solidFill>
                  <a:srgbClr val="2E5696"/>
                </a:solidFill>
              </a:rPr>
              <a:t>整理研究内容，完成毕业论文</a:t>
            </a:r>
          </a:p>
        </p:txBody>
      </p:sp>
      <p:cxnSp>
        <p:nvCxnSpPr>
          <p:cNvPr id="43" name="直接箭头连接符 42">
            <a:extLst>
              <a:ext uri="{FF2B5EF4-FFF2-40B4-BE49-F238E27FC236}">
                <a16:creationId xmlns:a16="http://schemas.microsoft.com/office/drawing/2014/main" id="{FDC16A02-75AE-9616-B39F-51B99CFD70A3}"/>
              </a:ext>
            </a:extLst>
          </p:cNvPr>
          <p:cNvCxnSpPr>
            <a:cxnSpLocks/>
          </p:cNvCxnSpPr>
          <p:nvPr/>
        </p:nvCxnSpPr>
        <p:spPr>
          <a:xfrm flipV="1">
            <a:off x="810260" y="4493323"/>
            <a:ext cx="10676424" cy="12600"/>
          </a:xfrm>
          <a:prstGeom prst="straightConnector1">
            <a:avLst/>
          </a:prstGeom>
          <a:ln w="28575">
            <a:solidFill>
              <a:srgbClr val="00878E"/>
            </a:solidFill>
            <a:tailEnd type="triangle"/>
          </a:ln>
        </p:spPr>
        <p:style>
          <a:lnRef idx="1">
            <a:schemeClr val="accent1"/>
          </a:lnRef>
          <a:fillRef idx="0">
            <a:schemeClr val="accent1"/>
          </a:fillRef>
          <a:effectRef idx="0">
            <a:schemeClr val="accent1"/>
          </a:effectRef>
          <a:fontRef idx="minor">
            <a:schemeClr val="tx1"/>
          </a:fontRef>
        </p:style>
      </p:cxnSp>
      <p:sp>
        <p:nvSpPr>
          <p:cNvPr id="44" name="椭圆 43">
            <a:extLst>
              <a:ext uri="{FF2B5EF4-FFF2-40B4-BE49-F238E27FC236}">
                <a16:creationId xmlns:a16="http://schemas.microsoft.com/office/drawing/2014/main" id="{A21716C7-1850-3383-6301-821ADD834D2C}"/>
              </a:ext>
            </a:extLst>
          </p:cNvPr>
          <p:cNvSpPr/>
          <p:nvPr/>
        </p:nvSpPr>
        <p:spPr>
          <a:xfrm>
            <a:off x="1616841" y="4367323"/>
            <a:ext cx="252000" cy="252000"/>
          </a:xfrm>
          <a:prstGeom prst="ellipse">
            <a:avLst/>
          </a:prstGeom>
          <a:ln w="28575">
            <a:solidFill>
              <a:srgbClr val="00878E"/>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839B3C14-2C07-4F9E-C89B-144DFBD3A410}"/>
              </a:ext>
            </a:extLst>
          </p:cNvPr>
          <p:cNvSpPr/>
          <p:nvPr/>
        </p:nvSpPr>
        <p:spPr>
          <a:xfrm>
            <a:off x="5909675" y="4367323"/>
            <a:ext cx="252000" cy="252000"/>
          </a:xfrm>
          <a:prstGeom prst="ellipse">
            <a:avLst/>
          </a:prstGeom>
          <a:ln w="28575">
            <a:solidFill>
              <a:srgbClr val="00878E"/>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46" name="椭圆 45">
            <a:extLst>
              <a:ext uri="{FF2B5EF4-FFF2-40B4-BE49-F238E27FC236}">
                <a16:creationId xmlns:a16="http://schemas.microsoft.com/office/drawing/2014/main" id="{907C2BBD-852C-E944-E0EE-EAAE8342A381}"/>
              </a:ext>
            </a:extLst>
          </p:cNvPr>
          <p:cNvSpPr/>
          <p:nvPr/>
        </p:nvSpPr>
        <p:spPr>
          <a:xfrm>
            <a:off x="10323159" y="4379923"/>
            <a:ext cx="252000" cy="252000"/>
          </a:xfrm>
          <a:prstGeom prst="ellipse">
            <a:avLst/>
          </a:prstGeom>
          <a:ln w="28575">
            <a:solidFill>
              <a:srgbClr val="00878E"/>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47" name="椭圆 46">
            <a:extLst>
              <a:ext uri="{FF2B5EF4-FFF2-40B4-BE49-F238E27FC236}">
                <a16:creationId xmlns:a16="http://schemas.microsoft.com/office/drawing/2014/main" id="{8FB920BD-1919-4708-881A-C4DCBD3674EA}"/>
              </a:ext>
            </a:extLst>
          </p:cNvPr>
          <p:cNvSpPr/>
          <p:nvPr/>
        </p:nvSpPr>
        <p:spPr>
          <a:xfrm>
            <a:off x="3738475" y="4367980"/>
            <a:ext cx="252000" cy="252000"/>
          </a:xfrm>
          <a:prstGeom prst="ellipse">
            <a:avLst/>
          </a:prstGeom>
          <a:ln w="28575">
            <a:solidFill>
              <a:srgbClr val="00878E"/>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48" name="椭圆 47">
            <a:extLst>
              <a:ext uri="{FF2B5EF4-FFF2-40B4-BE49-F238E27FC236}">
                <a16:creationId xmlns:a16="http://schemas.microsoft.com/office/drawing/2014/main" id="{6B034839-1C04-469C-1E0D-3D6B683DE0D0}"/>
              </a:ext>
            </a:extLst>
          </p:cNvPr>
          <p:cNvSpPr/>
          <p:nvPr/>
        </p:nvSpPr>
        <p:spPr>
          <a:xfrm>
            <a:off x="8147597" y="4367323"/>
            <a:ext cx="252000" cy="252000"/>
          </a:xfrm>
          <a:prstGeom prst="ellipse">
            <a:avLst/>
          </a:prstGeom>
          <a:ln w="28575">
            <a:solidFill>
              <a:srgbClr val="00878E"/>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51" name="左大括号 50">
            <a:extLst>
              <a:ext uri="{FF2B5EF4-FFF2-40B4-BE49-F238E27FC236}">
                <a16:creationId xmlns:a16="http://schemas.microsoft.com/office/drawing/2014/main" id="{29B616F3-9BB5-2760-CCB9-7067AE366BB5}"/>
              </a:ext>
            </a:extLst>
          </p:cNvPr>
          <p:cNvSpPr/>
          <p:nvPr/>
        </p:nvSpPr>
        <p:spPr>
          <a:xfrm>
            <a:off x="729310" y="1417570"/>
            <a:ext cx="239900" cy="2383351"/>
          </a:xfrm>
          <a:prstGeom prst="leftBrace">
            <a:avLst>
              <a:gd name="adj1" fmla="val 83124"/>
              <a:gd name="adj2" fmla="val 50000"/>
            </a:avLst>
          </a:prstGeom>
          <a:ln w="38100"/>
        </p:spPr>
        <p:style>
          <a:lnRef idx="3">
            <a:schemeClr val="accent5"/>
          </a:lnRef>
          <a:fillRef idx="0">
            <a:schemeClr val="accent5"/>
          </a:fillRef>
          <a:effectRef idx="2">
            <a:schemeClr val="accent5"/>
          </a:effectRef>
          <a:fontRef idx="minor">
            <a:schemeClr val="tx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33AF02B6-C0F4-FBA7-410F-C3F96C34F3A5}"/>
              </a:ext>
            </a:extLst>
          </p:cNvPr>
          <p:cNvSpPr txBox="1"/>
          <p:nvPr/>
        </p:nvSpPr>
        <p:spPr>
          <a:xfrm>
            <a:off x="221458" y="1933428"/>
            <a:ext cx="539782" cy="1569660"/>
          </a:xfrm>
          <a:prstGeom prst="rect">
            <a:avLst/>
          </a:prstGeom>
          <a:noFill/>
        </p:spPr>
        <p:txBody>
          <a:bodyPr wrap="square" rtlCol="0">
            <a:spAutoFit/>
          </a:bodyPr>
          <a:lstStyle/>
          <a:p>
            <a:pPr algn="ctr"/>
            <a:r>
              <a:rPr lang="zh-CN" altLang="en-US" sz="2400" b="1" dirty="0">
                <a:solidFill>
                  <a:srgbClr val="2E5696"/>
                </a:solidFill>
              </a:rPr>
              <a:t>预期目标</a:t>
            </a:r>
          </a:p>
        </p:txBody>
      </p:sp>
      <p:grpSp>
        <p:nvGrpSpPr>
          <p:cNvPr id="2" name="组合 1">
            <a:extLst>
              <a:ext uri="{FF2B5EF4-FFF2-40B4-BE49-F238E27FC236}">
                <a16:creationId xmlns:a16="http://schemas.microsoft.com/office/drawing/2014/main" id="{15AB278C-CD3E-5BA1-DFC6-0AA97AFE1D45}"/>
              </a:ext>
            </a:extLst>
          </p:cNvPr>
          <p:cNvGrpSpPr/>
          <p:nvPr/>
        </p:nvGrpSpPr>
        <p:grpSpPr>
          <a:xfrm>
            <a:off x="10202629" y="1119988"/>
            <a:ext cx="1724927" cy="2960661"/>
            <a:chOff x="1049604" y="4585970"/>
            <a:chExt cx="10231827" cy="1399540"/>
          </a:xfrm>
        </p:grpSpPr>
        <p:sp>
          <p:nvSpPr>
            <p:cNvPr id="21" name="圆角矩形 7">
              <a:extLst>
                <a:ext uri="{FF2B5EF4-FFF2-40B4-BE49-F238E27FC236}">
                  <a16:creationId xmlns:a16="http://schemas.microsoft.com/office/drawing/2014/main" id="{7202BB61-431A-FBC0-4E0F-78C76FB741CD}"/>
                </a:ext>
              </a:extLst>
            </p:cNvPr>
            <p:cNvSpPr/>
            <p:nvPr/>
          </p:nvSpPr>
          <p:spPr>
            <a:xfrm>
              <a:off x="1098571" y="4585970"/>
              <a:ext cx="10182860" cy="1399540"/>
            </a:xfrm>
            <a:prstGeom prst="roundRect">
              <a:avLst/>
            </a:prstGeom>
            <a:solidFill>
              <a:srgbClr val="16468D"/>
            </a:solid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latin typeface="Arial"/>
                <a:ea typeface="微软雅黑"/>
                <a:cs typeface="+mn-cs"/>
              </a:endParaRPr>
            </a:p>
          </p:txBody>
        </p:sp>
        <p:sp>
          <p:nvSpPr>
            <p:cNvPr id="22" name="文本框 21">
              <a:extLst>
                <a:ext uri="{FF2B5EF4-FFF2-40B4-BE49-F238E27FC236}">
                  <a16:creationId xmlns:a16="http://schemas.microsoft.com/office/drawing/2014/main" id="{1F17D720-3D38-DDC3-C10D-FDF2EB1BC53B}"/>
                </a:ext>
              </a:extLst>
            </p:cNvPr>
            <p:cNvSpPr txBox="1"/>
            <p:nvPr/>
          </p:nvSpPr>
          <p:spPr>
            <a:xfrm>
              <a:off x="1049604" y="4600808"/>
              <a:ext cx="10134606" cy="1089536"/>
            </a:xfrm>
            <a:prstGeom prst="rect">
              <a:avLst/>
            </a:prstGeom>
            <a:noFill/>
          </p:spPr>
          <p:txBody>
            <a:bodyPr wrap="square" rtlCol="0">
              <a:spAutoFit/>
            </a:bodyPr>
            <a:lstStyle/>
            <a:p>
              <a:pPr algn="ctr">
                <a:lnSpc>
                  <a:spcPct val="200000"/>
                </a:lnSpc>
              </a:pPr>
              <a:r>
                <a:rPr lang="zh-CN" altLang="en-US" b="1" u="sng" dirty="0">
                  <a:solidFill>
                    <a:srgbClr val="FFC000"/>
                  </a:solidFill>
                  <a:latin typeface="微软雅黑" panose="020B0503020204020204" charset="-122"/>
                  <a:ea typeface="微软雅黑" panose="020B0503020204020204" charset="-122"/>
                  <a:sym typeface="等线" panose="02010600030101010101" pitchFamily="2" charset="-122"/>
                </a:rPr>
                <a:t>科学问题</a:t>
              </a:r>
              <a:endParaRPr lang="zh-CN" altLang="en-US" b="1" dirty="0">
                <a:solidFill>
                  <a:prstClr val="white"/>
                </a:solidFill>
                <a:latin typeface="微软雅黑" panose="020B0503020204020204" charset="-122"/>
                <a:ea typeface="微软雅黑" panose="020B0503020204020204" charset="-122"/>
                <a:sym typeface="等线" panose="02010600030101010101" pitchFamily="2" charset="-122"/>
              </a:endParaRPr>
            </a:p>
            <a:p>
              <a:pPr algn="ctr">
                <a:lnSpc>
                  <a:spcPct val="200000"/>
                </a:lnSpc>
              </a:pPr>
              <a:r>
                <a:rPr lang="en-US" altLang="zh-CN" sz="1400" b="1" dirty="0">
                  <a:solidFill>
                    <a:prstClr val="white"/>
                  </a:solidFill>
                  <a:latin typeface="微软雅黑" panose="020B0503020204020204" charset="-122"/>
                  <a:ea typeface="微软雅黑" panose="020B0503020204020204" charset="-122"/>
                  <a:sym typeface="等线" panose="02010600030101010101" pitchFamily="2" charset="-122"/>
                </a:rPr>
                <a:t>1.</a:t>
              </a:r>
              <a:r>
                <a:rPr lang="zh-CN" altLang="en-US" sz="1400" b="1" dirty="0">
                  <a:solidFill>
                    <a:prstClr val="white"/>
                  </a:solidFill>
                  <a:latin typeface="微软雅黑" panose="020B0503020204020204" charset="-122"/>
                  <a:ea typeface="微软雅黑" panose="020B0503020204020204" charset="-122"/>
                  <a:sym typeface="等线" panose="02010600030101010101" pitchFamily="2" charset="-122"/>
                </a:rPr>
                <a:t>挖掘语音端点检测算法的本质规律</a:t>
              </a:r>
              <a:endParaRPr lang="en-US" altLang="zh-CN" sz="1400" b="1" dirty="0">
                <a:solidFill>
                  <a:prstClr val="white"/>
                </a:solidFill>
                <a:latin typeface="微软雅黑" panose="020B0503020204020204" charset="-122"/>
                <a:ea typeface="微软雅黑" panose="020B0503020204020204" charset="-122"/>
                <a:sym typeface="等线" panose="02010600030101010101" pitchFamily="2" charset="-122"/>
              </a:endParaRPr>
            </a:p>
            <a:p>
              <a:pPr algn="ctr">
                <a:lnSpc>
                  <a:spcPct val="200000"/>
                </a:lnSpc>
              </a:pPr>
              <a:r>
                <a:rPr lang="en-US" altLang="zh-CN" sz="1400" b="1" dirty="0">
                  <a:solidFill>
                    <a:prstClr val="white"/>
                  </a:solidFill>
                  <a:latin typeface="微软雅黑" panose="020B0503020204020204" charset="-122"/>
                  <a:ea typeface="微软雅黑" panose="020B0503020204020204" charset="-122"/>
                  <a:sym typeface="等线" panose="02010600030101010101" pitchFamily="2" charset="-122"/>
                </a:rPr>
                <a:t>2.</a:t>
              </a:r>
              <a:r>
                <a:rPr lang="zh-CN" altLang="en-US" sz="1400" b="1" dirty="0">
                  <a:solidFill>
                    <a:prstClr val="white"/>
                  </a:solidFill>
                  <a:latin typeface="微软雅黑" panose="020B0503020204020204" charset="-122"/>
                  <a:ea typeface="微软雅黑" panose="020B0503020204020204" charset="-122"/>
                  <a:sym typeface="等线" panose="02010600030101010101" pitchFamily="2" charset="-122"/>
                </a:rPr>
                <a:t>构建理论体系</a:t>
              </a:r>
              <a:endParaRPr lang="en-US" altLang="zh-CN" sz="1400" b="1" dirty="0">
                <a:solidFill>
                  <a:prstClr val="white"/>
                </a:solidFill>
                <a:latin typeface="微软雅黑" panose="020B0503020204020204" charset="-122"/>
                <a:ea typeface="微软雅黑" panose="020B0503020204020204" charset="-122"/>
                <a:sym typeface="等线" panose="02010600030101010101" pitchFamily="2" charset="-122"/>
              </a:endParaRPr>
            </a:p>
            <a:p>
              <a:pPr algn="ctr">
                <a:lnSpc>
                  <a:spcPct val="200000"/>
                </a:lnSpc>
              </a:pPr>
              <a:r>
                <a:rPr lang="en-US" altLang="zh-CN" sz="1400" b="1" dirty="0">
                  <a:solidFill>
                    <a:prstClr val="white"/>
                  </a:solidFill>
                  <a:latin typeface="微软雅黑" panose="020B0503020204020204" charset="-122"/>
                  <a:ea typeface="微软雅黑" panose="020B0503020204020204" charset="-122"/>
                  <a:sym typeface="等线" panose="02010600030101010101" pitchFamily="2" charset="-122"/>
                </a:rPr>
                <a:t>3.</a:t>
              </a:r>
              <a:r>
                <a:rPr lang="zh-CN" altLang="en-US" sz="1400" b="1" dirty="0">
                  <a:solidFill>
                    <a:prstClr val="white"/>
                  </a:solidFill>
                  <a:latin typeface="微软雅黑" panose="020B0503020204020204" charset="-122"/>
                  <a:ea typeface="微软雅黑" panose="020B0503020204020204" charset="-122"/>
                  <a:sym typeface="等线" panose="02010600030101010101" pitchFamily="2" charset="-122"/>
                </a:rPr>
                <a:t>指导学习算法</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4E3F0DC0-BE46-2DC2-8D3E-0C27E72BB765}"/>
              </a:ext>
            </a:extLst>
          </p:cNvPr>
          <p:cNvGrpSpPr/>
          <p:nvPr/>
        </p:nvGrpSpPr>
        <p:grpSpPr>
          <a:xfrm>
            <a:off x="289925" y="569175"/>
            <a:ext cx="6303645" cy="597535"/>
            <a:chOff x="234315" y="203200"/>
            <a:chExt cx="6303645" cy="597535"/>
          </a:xfrm>
        </p:grpSpPr>
        <p:sp>
          <p:nvSpPr>
            <p:cNvPr id="5" name="矩形 4">
              <a:extLst>
                <a:ext uri="{FF2B5EF4-FFF2-40B4-BE49-F238E27FC236}">
                  <a16:creationId xmlns:a16="http://schemas.microsoft.com/office/drawing/2014/main" id="{1CCC1F7F-82FA-6BEA-C751-B97C38887ED4}"/>
                </a:ext>
              </a:extLst>
            </p:cNvPr>
            <p:cNvSpPr/>
            <p:nvPr/>
          </p:nvSpPr>
          <p:spPr>
            <a:xfrm>
              <a:off x="234315" y="203200"/>
              <a:ext cx="496570" cy="496570"/>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6" name="矩形 5">
              <a:extLst>
                <a:ext uri="{FF2B5EF4-FFF2-40B4-BE49-F238E27FC236}">
                  <a16:creationId xmlns:a16="http://schemas.microsoft.com/office/drawing/2014/main" id="{5EF76CAD-FB94-0228-93FC-626DC5088090}"/>
                </a:ext>
              </a:extLst>
            </p:cNvPr>
            <p:cNvSpPr/>
            <p:nvPr/>
          </p:nvSpPr>
          <p:spPr>
            <a:xfrm>
              <a:off x="478790" y="469265"/>
              <a:ext cx="331470" cy="331470"/>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8" name="TextBox 28">
              <a:extLst>
                <a:ext uri="{FF2B5EF4-FFF2-40B4-BE49-F238E27FC236}">
                  <a16:creationId xmlns:a16="http://schemas.microsoft.com/office/drawing/2014/main" id="{92C4CAE3-DC34-4EB9-C268-D89356848036}"/>
                </a:ext>
              </a:extLst>
            </p:cNvPr>
            <p:cNvSpPr txBox="1"/>
            <p:nvPr/>
          </p:nvSpPr>
          <p:spPr>
            <a:xfrm>
              <a:off x="855345" y="262890"/>
              <a:ext cx="5682615" cy="535940"/>
            </a:xfrm>
            <a:prstGeom prst="rect">
              <a:avLst/>
            </a:prstGeom>
            <a:noFill/>
          </p:spPr>
          <p:txBody>
            <a:bodyPr wrap="square" lIns="105509" tIns="52755" rIns="105509" bIns="52755" rtlCol="0">
              <a:spAutoFit/>
            </a:bodyPr>
            <a:lstStyle>
              <a:defPPr>
                <a:defRPr lang="en-US"/>
              </a:defPPr>
              <a:lvl1pPr algn="just">
                <a:defRPr sz="2800" spc="600">
                  <a:solidFill>
                    <a:srgbClr val="2E5696"/>
                  </a:solidFill>
                  <a:latin typeface="微软雅黑" panose="020B0503020204020204" pitchFamily="34" charset="-122"/>
                  <a:ea typeface="微软雅黑" panose="020B0503020204020204" pitchFamily="34" charset="-122"/>
                </a:defRPr>
              </a:lvl1pPr>
            </a:lstStyle>
            <a:p>
              <a:r>
                <a:rPr lang="zh-CN" altLang="en-US" dirty="0">
                  <a:sym typeface="+mn-ea"/>
                </a:rPr>
                <a:t>创新之处</a:t>
              </a:r>
            </a:p>
          </p:txBody>
        </p:sp>
      </p:grpSp>
      <p:cxnSp>
        <p:nvCxnSpPr>
          <p:cNvPr id="9" name="直接连接符 46">
            <a:extLst>
              <a:ext uri="{FF2B5EF4-FFF2-40B4-BE49-F238E27FC236}">
                <a16:creationId xmlns:a16="http://schemas.microsoft.com/office/drawing/2014/main" id="{901189C0-754B-0672-73EB-086BAF88CEBE}"/>
              </a:ext>
            </a:extLst>
          </p:cNvPr>
          <p:cNvCxnSpPr>
            <a:cxnSpLocks noChangeShapeType="1"/>
          </p:cNvCxnSpPr>
          <p:nvPr/>
        </p:nvCxnSpPr>
        <p:spPr bwMode="auto">
          <a:xfrm flipH="1">
            <a:off x="864870" y="872490"/>
            <a:ext cx="11134725" cy="0"/>
          </a:xfrm>
          <a:prstGeom prst="line">
            <a:avLst/>
          </a:prstGeom>
          <a:noFill/>
          <a:ln w="9525" cmpd="sng">
            <a:solidFill>
              <a:srgbClr val="4D4948"/>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文本框 46">
            <a:extLst>
              <a:ext uri="{FF2B5EF4-FFF2-40B4-BE49-F238E27FC236}">
                <a16:creationId xmlns:a16="http://schemas.microsoft.com/office/drawing/2014/main" id="{CC43BDF7-55D5-9E10-7B1A-5E256818A1A1}"/>
              </a:ext>
            </a:extLst>
          </p:cNvPr>
          <p:cNvSpPr txBox="1"/>
          <p:nvPr/>
        </p:nvSpPr>
        <p:spPr>
          <a:xfrm>
            <a:off x="2195830" y="2741869"/>
            <a:ext cx="3161665" cy="368300"/>
          </a:xfrm>
          <a:prstGeom prst="rect">
            <a:avLst/>
          </a:prstGeom>
          <a:noFill/>
          <a:ln w="9525">
            <a:noFill/>
          </a:ln>
        </p:spPr>
        <p:txBody>
          <a:bodyPr wrap="square">
            <a:spAutoFit/>
          </a:bodyPr>
          <a:lstStyle/>
          <a:p>
            <a:pPr algn="l">
              <a:buClrTx/>
              <a:buSzTx/>
              <a:buFontTx/>
            </a:pPr>
            <a:r>
              <a:rPr lang="zh-CN" altLang="en-US" sz="1800" b="1" dirty="0">
                <a:solidFill>
                  <a:schemeClr val="bg1"/>
                </a:solidFill>
                <a:latin typeface="微软雅黑" panose="020B0503020204020204" charset="-122"/>
                <a:ea typeface="微软雅黑" panose="020B0503020204020204" charset="-122"/>
              </a:rPr>
              <a:t>对创新研究方法的科学价值</a:t>
            </a:r>
          </a:p>
        </p:txBody>
      </p:sp>
      <p:sp>
        <p:nvSpPr>
          <p:cNvPr id="7" name="文本框 53">
            <a:extLst>
              <a:ext uri="{FF2B5EF4-FFF2-40B4-BE49-F238E27FC236}">
                <a16:creationId xmlns:a16="http://schemas.microsoft.com/office/drawing/2014/main" id="{1396110E-45EE-210B-AFC1-CCE6FAC31DFC}"/>
              </a:ext>
            </a:extLst>
          </p:cNvPr>
          <p:cNvSpPr txBox="1"/>
          <p:nvPr/>
        </p:nvSpPr>
        <p:spPr>
          <a:xfrm>
            <a:off x="2252980" y="4669094"/>
            <a:ext cx="3104515" cy="368300"/>
          </a:xfrm>
          <a:prstGeom prst="rect">
            <a:avLst/>
          </a:prstGeom>
          <a:noFill/>
          <a:ln w="9525">
            <a:noFill/>
          </a:ln>
        </p:spPr>
        <p:txBody>
          <a:bodyPr wrap="square">
            <a:spAutoFit/>
          </a:bodyPr>
          <a:lstStyle/>
          <a:p>
            <a:r>
              <a:rPr lang="zh-CN" altLang="en-US" sz="1800" b="1" dirty="0">
                <a:solidFill>
                  <a:schemeClr val="bg1"/>
                </a:solidFill>
                <a:latin typeface="微软雅黑" panose="020B0503020204020204" charset="-122"/>
                <a:ea typeface="微软雅黑" panose="020B0503020204020204" charset="-122"/>
              </a:rPr>
              <a:t>对推动学科发展的重要意义</a:t>
            </a:r>
          </a:p>
        </p:txBody>
      </p:sp>
      <p:sp>
        <p:nvSpPr>
          <p:cNvPr id="10" name="五边形 6">
            <a:extLst>
              <a:ext uri="{FF2B5EF4-FFF2-40B4-BE49-F238E27FC236}">
                <a16:creationId xmlns:a16="http://schemas.microsoft.com/office/drawing/2014/main" id="{0AEDBDBC-FD82-543A-48FC-BF86D36884E6}"/>
              </a:ext>
            </a:extLst>
          </p:cNvPr>
          <p:cNvSpPr/>
          <p:nvPr>
            <p:custDataLst>
              <p:tags r:id="rId1"/>
            </p:custDataLst>
          </p:nvPr>
        </p:nvSpPr>
        <p:spPr bwMode="auto">
          <a:xfrm>
            <a:off x="730885" y="1475044"/>
            <a:ext cx="1298575" cy="830580"/>
          </a:xfrm>
          <a:prstGeom prst="homePlate">
            <a:avLst>
              <a:gd name="adj" fmla="val 31944"/>
            </a:avLst>
          </a:prstGeom>
          <a:solidFill>
            <a:sysClr val="window" lastClr="FFFFFF">
              <a:lumMod val="95000"/>
            </a:sysClr>
          </a:solidFill>
          <a:ln w="19050">
            <a:noFill/>
            <a:round/>
          </a:ln>
        </p:spPr>
        <p:txBody>
          <a:bodyPr lIns="68580" tIns="34290" rIns="68580" bIns="34290" anchor="ctr" anchorCtr="1">
            <a:normAutofit/>
          </a:bodyPr>
          <a:lstStyle/>
          <a:p>
            <a:pPr marL="0" marR="0" lvl="0" indent="0" algn="ctr" defTabSz="914400" rtl="0" eaLnBrk="0" fontAlgn="base" latinLnBrk="0" hangingPunct="0">
              <a:lnSpc>
                <a:spcPct val="120000"/>
              </a:lnSpc>
              <a:spcBef>
                <a:spcPct val="0"/>
              </a:spcBef>
              <a:spcAft>
                <a:spcPct val="0"/>
              </a:spcAft>
              <a:buClrTx/>
              <a:buSzTx/>
              <a:buFontTx/>
              <a:buNone/>
              <a:defRPr/>
            </a:pPr>
            <a:r>
              <a:rPr kumimoji="0" lang="en-US" sz="2000" b="1" i="1" u="none" strike="noStrike" kern="1200" cap="none" spc="0" normalizeH="0" baseline="0" noProof="1">
                <a:ln>
                  <a:noFill/>
                </a:ln>
                <a:solidFill>
                  <a:srgbClr val="000000">
                    <a:lumMod val="75000"/>
                    <a:lumOff val="25000"/>
                  </a:srgbClr>
                </a:solidFill>
                <a:effectLst/>
                <a:uLnTx/>
                <a:uFillTx/>
                <a:latin typeface="Arial" panose="020B0604020202020204" pitchFamily="34" charset="0"/>
                <a:ea typeface="微软雅黑" panose="020B0503020204020204" charset="-122"/>
                <a:cs typeface="微软雅黑" panose="020B0503020204020204" charset="-122"/>
              </a:rPr>
              <a:t>01</a:t>
            </a:r>
          </a:p>
        </p:txBody>
      </p:sp>
      <p:grpSp>
        <p:nvGrpSpPr>
          <p:cNvPr id="11" name="组合 10">
            <a:extLst>
              <a:ext uri="{FF2B5EF4-FFF2-40B4-BE49-F238E27FC236}">
                <a16:creationId xmlns:a16="http://schemas.microsoft.com/office/drawing/2014/main" id="{B1639CFD-0BA2-36A1-DFF2-582EE5A61FEE}"/>
              </a:ext>
            </a:extLst>
          </p:cNvPr>
          <p:cNvGrpSpPr/>
          <p:nvPr/>
        </p:nvGrpSpPr>
        <p:grpSpPr>
          <a:xfrm>
            <a:off x="1367155" y="1410152"/>
            <a:ext cx="10150475" cy="1016074"/>
            <a:chOff x="1015" y="1429"/>
            <a:chExt cx="3055" cy="808"/>
          </a:xfrm>
        </p:grpSpPr>
        <p:sp>
          <p:nvSpPr>
            <p:cNvPr id="12" name="燕尾形箭头 8">
              <a:extLst>
                <a:ext uri="{FF2B5EF4-FFF2-40B4-BE49-F238E27FC236}">
                  <a16:creationId xmlns:a16="http://schemas.microsoft.com/office/drawing/2014/main" id="{659BCB50-ABEA-A68E-1C63-C4C18AA7F42A}"/>
                </a:ext>
              </a:extLst>
            </p:cNvPr>
            <p:cNvSpPr/>
            <p:nvPr>
              <p:custDataLst>
                <p:tags r:id="rId4"/>
              </p:custDataLst>
            </p:nvPr>
          </p:nvSpPr>
          <p:spPr bwMode="auto">
            <a:xfrm>
              <a:off x="1015" y="1470"/>
              <a:ext cx="3055" cy="718"/>
            </a:xfrm>
            <a:prstGeom prst="notchedRightArrow">
              <a:avLst>
                <a:gd name="adj1" fmla="val 100000"/>
                <a:gd name="adj2" fmla="val 31781"/>
              </a:avLst>
            </a:prstGeom>
            <a:solidFill>
              <a:srgbClr val="1F74AC"/>
            </a:solidFill>
            <a:ln w="19050">
              <a:noFill/>
              <a:round/>
            </a:ln>
          </p:spPr>
          <p:txBody>
            <a:bodyPr lIns="68580" tIns="34290" rIns="68580" bIns="34290" anchor="ctr">
              <a:normAutofit/>
            </a:bodyPr>
            <a:lstStyle/>
            <a:p>
              <a:pPr marL="0" marR="0" lvl="0" indent="0" algn="ctr" defTabSz="914400" rtl="0" eaLnBrk="1" fontAlgn="base" latinLnBrk="0" hangingPunct="1">
                <a:lnSpc>
                  <a:spcPct val="120000"/>
                </a:lnSpc>
                <a:spcBef>
                  <a:spcPct val="0"/>
                </a:spcBef>
                <a:spcAft>
                  <a:spcPct val="0"/>
                </a:spcAft>
                <a:buClrTx/>
                <a:buSzTx/>
                <a:buFontTx/>
                <a:buNone/>
                <a:defRPr/>
              </a:pPr>
              <a:endParaRPr kumimoji="0" lang="zh-CN" altLang="zh-CN" sz="1400" b="0" i="0" u="none" strike="noStrike" kern="1200" cap="none" spc="0" normalizeH="0" baseline="0" noProof="1">
                <a:ln>
                  <a:noFill/>
                </a:ln>
                <a:solidFill>
                  <a:srgbClr val="404040"/>
                </a:solidFill>
                <a:effectLst/>
                <a:uLnTx/>
                <a:uFillTx/>
                <a:latin typeface="微软雅黑" panose="020B0503020204020204" charset="-122"/>
                <a:ea typeface="微软雅黑" panose="020B0503020204020204" charset="-122"/>
                <a:cs typeface="+mn-cs"/>
              </a:endParaRPr>
            </a:p>
          </p:txBody>
        </p:sp>
        <p:sp>
          <p:nvSpPr>
            <p:cNvPr id="13" name="文本框 10">
              <a:extLst>
                <a:ext uri="{FF2B5EF4-FFF2-40B4-BE49-F238E27FC236}">
                  <a16:creationId xmlns:a16="http://schemas.microsoft.com/office/drawing/2014/main" id="{A11847FE-1432-72C9-4360-B0D044572812}"/>
                </a:ext>
              </a:extLst>
            </p:cNvPr>
            <p:cNvSpPr txBox="1"/>
            <p:nvPr/>
          </p:nvSpPr>
          <p:spPr>
            <a:xfrm>
              <a:off x="1240" y="1429"/>
              <a:ext cx="2512" cy="808"/>
            </a:xfrm>
            <a:prstGeom prst="rect">
              <a:avLst/>
            </a:prstGeom>
            <a:noFill/>
            <a:ln w="9525">
              <a:noFill/>
            </a:ln>
          </p:spPr>
          <p:txBody>
            <a:bodyPr wrap="square">
              <a:spAutoFit/>
            </a:bodyPr>
            <a:lstStyle/>
            <a:p>
              <a:r>
                <a:rPr lang="zh-CN" altLang="en-US" sz="2000" b="1" dirty="0">
                  <a:solidFill>
                    <a:schemeClr val="bg1"/>
                  </a:solidFill>
                  <a:latin typeface="+mn-lt"/>
                  <a:ea typeface="黑体" panose="02010609060101010101" charset="-122"/>
                  <a:sym typeface="+mn-ea"/>
                </a:rPr>
                <a:t>提出基于深度学习的语音端点检测理论，融合传统方法与深度学习算法的</a:t>
              </a:r>
              <a:r>
                <a:rPr lang="zh-CN" altLang="en-US" sz="2000" b="1" dirty="0">
                  <a:solidFill>
                    <a:schemeClr val="bg1"/>
                  </a:solidFill>
                  <a:ea typeface="黑体" panose="02010609060101010101" charset="-122"/>
                  <a:sym typeface="+mn-ea"/>
                </a:rPr>
                <a:t>内在机理，探索</a:t>
              </a:r>
              <a:r>
                <a:rPr lang="zh-CN" altLang="zh-CN" sz="2000" b="1" dirty="0">
                  <a:solidFill>
                    <a:schemeClr val="bg1"/>
                  </a:solidFill>
                  <a:ea typeface="黑体" panose="02010609060101010101" charset="-122"/>
                </a:rPr>
                <a:t>基于深度神经网络的语音端点检测方法在高噪声环境下</a:t>
              </a:r>
              <a:r>
                <a:rPr lang="zh-CN" altLang="en-US" sz="2000" b="1" dirty="0">
                  <a:solidFill>
                    <a:schemeClr val="bg1"/>
                  </a:solidFill>
                  <a:ea typeface="黑体" panose="02010609060101010101" charset="-122"/>
                </a:rPr>
                <a:t>做到</a:t>
              </a:r>
              <a:r>
                <a:rPr lang="zh-CN" altLang="zh-CN" sz="2000" b="1" dirty="0">
                  <a:solidFill>
                    <a:schemeClr val="bg1"/>
                  </a:solidFill>
                  <a:ea typeface="黑体" panose="02010609060101010101" charset="-122"/>
                </a:rPr>
                <a:t>更好的性能。 </a:t>
              </a:r>
              <a:endParaRPr lang="zh-CN" altLang="en-US" sz="2000" b="1" dirty="0">
                <a:solidFill>
                  <a:schemeClr val="bg1"/>
                </a:solidFill>
                <a:ea typeface="黑体" panose="02010609060101010101" charset="-122"/>
                <a:sym typeface="+mn-ea"/>
              </a:endParaRPr>
            </a:p>
          </p:txBody>
        </p:sp>
      </p:grpSp>
      <p:sp>
        <p:nvSpPr>
          <p:cNvPr id="18" name="五边形 6">
            <a:extLst>
              <a:ext uri="{FF2B5EF4-FFF2-40B4-BE49-F238E27FC236}">
                <a16:creationId xmlns:a16="http://schemas.microsoft.com/office/drawing/2014/main" id="{403A5434-317D-3648-A231-E02D6F0DD9E2}"/>
              </a:ext>
            </a:extLst>
          </p:cNvPr>
          <p:cNvSpPr/>
          <p:nvPr>
            <p:custDataLst>
              <p:tags r:id="rId2"/>
            </p:custDataLst>
          </p:nvPr>
        </p:nvSpPr>
        <p:spPr bwMode="auto">
          <a:xfrm>
            <a:off x="730885" y="3942019"/>
            <a:ext cx="1298575" cy="830580"/>
          </a:xfrm>
          <a:prstGeom prst="homePlate">
            <a:avLst>
              <a:gd name="adj" fmla="val 31944"/>
            </a:avLst>
          </a:prstGeom>
          <a:solidFill>
            <a:sysClr val="window" lastClr="FFFFFF">
              <a:lumMod val="95000"/>
            </a:sysClr>
          </a:solidFill>
          <a:ln w="19050">
            <a:noFill/>
            <a:round/>
          </a:ln>
        </p:spPr>
        <p:txBody>
          <a:bodyPr lIns="68580" tIns="34290" rIns="68580" bIns="34290" anchor="ctr" anchorCtr="1">
            <a:normAutofit/>
          </a:bodyPr>
          <a:lstStyle/>
          <a:p>
            <a:pPr marL="0" marR="0" lvl="0" indent="0" algn="ctr" defTabSz="914400" rtl="0" eaLnBrk="0" fontAlgn="base" latinLnBrk="0" hangingPunct="0">
              <a:lnSpc>
                <a:spcPct val="120000"/>
              </a:lnSpc>
              <a:spcBef>
                <a:spcPct val="0"/>
              </a:spcBef>
              <a:spcAft>
                <a:spcPct val="0"/>
              </a:spcAft>
              <a:buClrTx/>
              <a:buSzTx/>
              <a:buFontTx/>
              <a:buNone/>
              <a:defRPr/>
            </a:pPr>
            <a:r>
              <a:rPr kumimoji="0" lang="en-US" sz="2000" b="1" i="1" u="none" strike="noStrike" kern="1200" cap="none" spc="0" normalizeH="0" baseline="0" noProof="1">
                <a:ln>
                  <a:noFill/>
                </a:ln>
                <a:solidFill>
                  <a:srgbClr val="000000">
                    <a:lumMod val="75000"/>
                    <a:lumOff val="25000"/>
                  </a:srgbClr>
                </a:solidFill>
                <a:effectLst/>
                <a:uLnTx/>
                <a:uFillTx/>
                <a:latin typeface="Arial" panose="020B0604020202020204" pitchFamily="34" charset="0"/>
                <a:ea typeface="微软雅黑" panose="020B0503020204020204" charset="-122"/>
                <a:cs typeface="微软雅黑" panose="020B0503020204020204" charset="-122"/>
              </a:rPr>
              <a:t>0</a:t>
            </a:r>
            <a:r>
              <a:rPr kumimoji="0" lang="en-US" altLang="zh-CN" sz="2000" b="1" i="1" u="none" strike="noStrike" kern="1200" cap="none" spc="0" normalizeH="0" baseline="0" noProof="1">
                <a:ln>
                  <a:noFill/>
                </a:ln>
                <a:solidFill>
                  <a:srgbClr val="000000">
                    <a:lumMod val="75000"/>
                    <a:lumOff val="25000"/>
                  </a:srgbClr>
                </a:solidFill>
                <a:effectLst/>
                <a:uLnTx/>
                <a:uFillTx/>
                <a:latin typeface="Arial" panose="020B0604020202020204" pitchFamily="34" charset="0"/>
                <a:ea typeface="微软雅黑" panose="020B0503020204020204" charset="-122"/>
                <a:cs typeface="微软雅黑" panose="020B0503020204020204" charset="-122"/>
              </a:rPr>
              <a:t>2</a:t>
            </a:r>
            <a:endParaRPr kumimoji="0" lang="en-US" sz="2000" b="1" i="1" u="none" strike="noStrike" kern="1200" cap="none" spc="0" normalizeH="0" baseline="0" noProof="1">
              <a:ln>
                <a:noFill/>
              </a:ln>
              <a:solidFill>
                <a:srgbClr val="000000">
                  <a:lumMod val="75000"/>
                  <a:lumOff val="25000"/>
                </a:srgbClr>
              </a:solidFill>
              <a:effectLst/>
              <a:uLnTx/>
              <a:uFillTx/>
              <a:latin typeface="Arial" panose="020B0604020202020204" pitchFamily="34" charset="0"/>
              <a:ea typeface="微软雅黑" panose="020B0503020204020204" charset="-122"/>
              <a:cs typeface="微软雅黑" panose="020B0503020204020204" charset="-122"/>
            </a:endParaRPr>
          </a:p>
        </p:txBody>
      </p:sp>
      <p:grpSp>
        <p:nvGrpSpPr>
          <p:cNvPr id="19" name="组合 18">
            <a:extLst>
              <a:ext uri="{FF2B5EF4-FFF2-40B4-BE49-F238E27FC236}">
                <a16:creationId xmlns:a16="http://schemas.microsoft.com/office/drawing/2014/main" id="{4431EAD3-7732-6FAE-B959-457878149BC7}"/>
              </a:ext>
            </a:extLst>
          </p:cNvPr>
          <p:cNvGrpSpPr/>
          <p:nvPr/>
        </p:nvGrpSpPr>
        <p:grpSpPr>
          <a:xfrm>
            <a:off x="1380172" y="3860714"/>
            <a:ext cx="10150475" cy="902897"/>
            <a:chOff x="1015" y="1470"/>
            <a:chExt cx="3055" cy="718"/>
          </a:xfrm>
        </p:grpSpPr>
        <p:sp>
          <p:nvSpPr>
            <p:cNvPr id="20" name="燕尾形箭头 8">
              <a:extLst>
                <a:ext uri="{FF2B5EF4-FFF2-40B4-BE49-F238E27FC236}">
                  <a16:creationId xmlns:a16="http://schemas.microsoft.com/office/drawing/2014/main" id="{EFCE9A5D-36DC-16F7-2D11-F4E612C28A2F}"/>
                </a:ext>
              </a:extLst>
            </p:cNvPr>
            <p:cNvSpPr/>
            <p:nvPr>
              <p:custDataLst>
                <p:tags r:id="rId3"/>
              </p:custDataLst>
            </p:nvPr>
          </p:nvSpPr>
          <p:spPr bwMode="auto">
            <a:xfrm>
              <a:off x="1015" y="1470"/>
              <a:ext cx="3055" cy="718"/>
            </a:xfrm>
            <a:prstGeom prst="notchedRightArrow">
              <a:avLst>
                <a:gd name="adj1" fmla="val 100000"/>
                <a:gd name="adj2" fmla="val 31781"/>
              </a:avLst>
            </a:prstGeom>
            <a:solidFill>
              <a:srgbClr val="19A4AA"/>
            </a:solidFill>
            <a:ln w="19050">
              <a:noFill/>
              <a:round/>
            </a:ln>
          </p:spPr>
          <p:txBody>
            <a:bodyPr lIns="68580" tIns="34290" rIns="68580" bIns="34290" anchor="ctr">
              <a:normAutofit/>
            </a:bodyPr>
            <a:lstStyle/>
            <a:p>
              <a:pPr marL="0" marR="0" lvl="0" indent="0" algn="ctr" defTabSz="914400" rtl="0" eaLnBrk="1" fontAlgn="base" latinLnBrk="0" hangingPunct="1">
                <a:lnSpc>
                  <a:spcPct val="120000"/>
                </a:lnSpc>
                <a:spcBef>
                  <a:spcPct val="0"/>
                </a:spcBef>
                <a:spcAft>
                  <a:spcPct val="0"/>
                </a:spcAft>
                <a:buClrTx/>
                <a:buSzTx/>
                <a:buFontTx/>
                <a:buNone/>
                <a:defRPr/>
              </a:pPr>
              <a:endParaRPr kumimoji="0" lang="zh-CN" altLang="zh-CN" sz="1400" b="0" i="0" u="none" strike="noStrike" kern="1200" cap="none" spc="0" normalizeH="0" baseline="0" noProof="1">
                <a:ln>
                  <a:noFill/>
                </a:ln>
                <a:solidFill>
                  <a:srgbClr val="404040"/>
                </a:solidFill>
                <a:effectLst/>
                <a:uLnTx/>
                <a:uFillTx/>
                <a:latin typeface="微软雅黑" panose="020B0503020204020204" charset="-122"/>
                <a:ea typeface="微软雅黑" panose="020B0503020204020204" charset="-122"/>
                <a:cs typeface="+mn-cs"/>
              </a:endParaRPr>
            </a:p>
          </p:txBody>
        </p:sp>
        <p:sp>
          <p:nvSpPr>
            <p:cNvPr id="21" name="文本框 10">
              <a:extLst>
                <a:ext uri="{FF2B5EF4-FFF2-40B4-BE49-F238E27FC236}">
                  <a16:creationId xmlns:a16="http://schemas.microsoft.com/office/drawing/2014/main" id="{538E7AAE-3F14-66FB-47AC-BC5C5A0B266B}"/>
                </a:ext>
              </a:extLst>
            </p:cNvPr>
            <p:cNvSpPr txBox="1"/>
            <p:nvPr/>
          </p:nvSpPr>
          <p:spPr>
            <a:xfrm>
              <a:off x="1236" y="1570"/>
              <a:ext cx="2830" cy="563"/>
            </a:xfrm>
            <a:prstGeom prst="rect">
              <a:avLst/>
            </a:prstGeom>
            <a:noFill/>
            <a:ln w="9525">
              <a:noFill/>
            </a:ln>
          </p:spPr>
          <p:txBody>
            <a:bodyPr wrap="square">
              <a:spAutoFit/>
            </a:bodyPr>
            <a:lstStyle/>
            <a:p>
              <a:r>
                <a:rPr lang="zh-CN" altLang="zh-CN" sz="2000" b="1" dirty="0">
                  <a:solidFill>
                    <a:schemeClr val="bg1"/>
                  </a:solidFill>
                  <a:ea typeface="黑体" panose="02010609060101010101" charset="-122"/>
                </a:rPr>
                <a:t>通过人为加入噪声语料训练的深度神经网络模型具有更强的抗噪能力，进一步提高了深度神经网络模型在低信噪比条件下的端点检测能力 </a:t>
              </a:r>
              <a:endParaRPr lang="zh-CN" altLang="en-US" sz="2000" b="1" dirty="0">
                <a:solidFill>
                  <a:schemeClr val="bg1"/>
                </a:solidFill>
                <a:ea typeface="黑体" panose="02010609060101010101" charset="-122"/>
                <a:sym typeface="+mn-ea"/>
              </a:endParaRPr>
            </a:p>
          </p:txBody>
        </p:sp>
      </p:grpSp>
    </p:spTree>
    <p:extLst>
      <p:ext uri="{BB962C8B-B14F-4D97-AF65-F5344CB8AC3E}">
        <p14:creationId xmlns:p14="http://schemas.microsoft.com/office/powerpoint/2010/main" val="728095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080" y="1894840"/>
            <a:ext cx="12202160" cy="2202815"/>
            <a:chOff x="6" y="3491"/>
            <a:chExt cx="19216" cy="3469"/>
          </a:xfrm>
        </p:grpSpPr>
        <p:sp>
          <p:nvSpPr>
            <p:cNvPr id="6" name="矩形 5"/>
            <p:cNvSpPr/>
            <p:nvPr/>
          </p:nvSpPr>
          <p:spPr>
            <a:xfrm>
              <a:off x="6" y="3628"/>
              <a:ext cx="19216" cy="812"/>
            </a:xfrm>
            <a:prstGeom prst="rect">
              <a:avLst/>
            </a:prstGeom>
            <a:ln>
              <a:no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
          <p:nvSpPr>
            <p:cNvPr id="4" name="矩形 3"/>
            <p:cNvSpPr/>
            <p:nvPr/>
          </p:nvSpPr>
          <p:spPr>
            <a:xfrm>
              <a:off x="6" y="4440"/>
              <a:ext cx="19216" cy="2368"/>
            </a:xfrm>
            <a:prstGeom prst="rect">
              <a:avLst/>
            </a:prstGeom>
            <a:solidFill>
              <a:schemeClr val="accent5">
                <a:lumMod val="5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sz="3600" b="1">
                  <a:latin typeface="Times New Roman" panose="02020603050405020304" charset="0"/>
                  <a:cs typeface="Times New Roman" panose="02020603050405020304" charset="0"/>
                </a:rPr>
                <a:t>                    </a:t>
              </a:r>
              <a:r>
                <a:rPr lang="zh-CN" altLang="en-US" sz="3600" b="1">
                  <a:latin typeface="Times New Roman" panose="02020603050405020304" charset="0"/>
                  <a:cs typeface="Times New Roman" panose="02020603050405020304" charset="0"/>
                </a:rPr>
                <a:t>衷心感谢各位老师批评指正</a:t>
              </a:r>
            </a:p>
          </p:txBody>
        </p:sp>
        <p:pic>
          <p:nvPicPr>
            <p:cNvPr id="5" name="图片 4"/>
            <p:cNvPicPr>
              <a:picLocks noChangeAspect="1"/>
            </p:cNvPicPr>
            <p:nvPr/>
          </p:nvPicPr>
          <p:blipFill>
            <a:blip r:embed="rId3"/>
            <a:stretch>
              <a:fillRect/>
            </a:stretch>
          </p:blipFill>
          <p:spPr>
            <a:xfrm>
              <a:off x="1506" y="3491"/>
              <a:ext cx="3469" cy="3469"/>
            </a:xfrm>
            <a:prstGeom prst="ellipse">
              <a:avLst/>
            </a:prstGeom>
            <a:solidFill>
              <a:schemeClr val="accent5">
                <a:lumMod val="50000"/>
              </a:schemeClr>
            </a:solidFill>
          </p:spPr>
        </p:pic>
      </p:grpSp>
      <p:pic>
        <p:nvPicPr>
          <p:cNvPr id="2" name="图片 2" descr="C:\Users\hello\Documents\Tencent Files\1195319519\Image\Group\thumbnail\a4d90465-4275-425d-8d20-99575961365cOri"/>
          <p:cNvPicPr>
            <a:picLocks noChangeAspect="1" noChangeArrowheads="1"/>
          </p:cNvPicPr>
          <p:nvPr>
            <p:custDataLst>
              <p:tags r:id="rId1"/>
            </p:custDataLst>
          </p:nvPr>
        </p:nvPicPr>
        <p:blipFill>
          <a:blip r:embed="rId4" cstate="print">
            <a:extLst>
              <a:ext uri="{28A0092B-C50C-407E-A947-70E740481C1C}">
                <a14:useLocalDpi xmlns:a14="http://schemas.microsoft.com/office/drawing/2010/main" val="0"/>
              </a:ext>
            </a:extLst>
          </a:blip>
          <a:srcRect/>
          <a:stretch>
            <a:fillRect/>
          </a:stretch>
        </p:blipFill>
        <p:spPr>
          <a:xfrm>
            <a:off x="2356485" y="2722880"/>
            <a:ext cx="1403985" cy="1358265"/>
          </a:xfrm>
          <a:prstGeom prst="ellipse">
            <a:avLst/>
          </a:prstGeom>
          <a:noFill/>
          <a:ln>
            <a:noFill/>
          </a:ln>
        </p:spPr>
      </p:pic>
      <p:grpSp>
        <p:nvGrpSpPr>
          <p:cNvPr id="16" name="组合 15"/>
          <p:cNvGrpSpPr/>
          <p:nvPr/>
        </p:nvGrpSpPr>
        <p:grpSpPr>
          <a:xfrm>
            <a:off x="10593070" y="5666740"/>
            <a:ext cx="596265" cy="567690"/>
            <a:chOff x="212" y="208"/>
            <a:chExt cx="939" cy="894"/>
          </a:xfrm>
        </p:grpSpPr>
        <p:sp>
          <p:nvSpPr>
            <p:cNvPr id="14" name="矩形 13"/>
            <p:cNvSpPr/>
            <p:nvPr/>
          </p:nvSpPr>
          <p:spPr>
            <a:xfrm>
              <a:off x="369" y="320"/>
              <a:ext cx="782" cy="782"/>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sp>
          <p:nvSpPr>
            <p:cNvPr id="15" name="矩形 14"/>
            <p:cNvSpPr/>
            <p:nvPr/>
          </p:nvSpPr>
          <p:spPr>
            <a:xfrm>
              <a:off x="212" y="208"/>
              <a:ext cx="522" cy="522"/>
            </a:xfrm>
            <a:prstGeom prst="rect">
              <a:avLst/>
            </a:prstGeom>
            <a:solidFill>
              <a:srgbClr val="2E5696"/>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705">
                <a:solidFill>
                  <a:schemeClr val="tx1">
                    <a:lumMod val="85000"/>
                    <a:lumOff val="15000"/>
                  </a:schemeClr>
                </a:solidFill>
                <a:latin typeface="微软雅黑" panose="020B0503020204020204" charset="-122"/>
                <a:ea typeface="微软雅黑" panose="020B0503020204020204" charset="-122"/>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187308_2*l_h_f*1_1_1"/>
  <p:tag name="KSO_WM_TEMPLATE_CATEGORY" val="custom"/>
  <p:tag name="KSO_WM_TEMPLATE_INDEX" val="20187308"/>
  <p:tag name="KSO_WM_UNIT_LAYERLEVEL" val="1_1_1"/>
  <p:tag name="KSO_WM_TAG_VERSION" val="1.0"/>
  <p:tag name="KSO_WM_BEAUTIFY_FLAG" val="#wm#"/>
  <p:tag name="KSO_WM_UNIT_PRESET_TEXT" val="在此输入节标题1"/>
  <p:tag name="KSO_WM_UNIT_TEXT_FILL_FORE_SCHEMECOLOR_INDEX" val="13"/>
  <p:tag name="KSO_WM_UNIT_TEXT_FILL_TYPE" val="1"/>
  <p:tag name="KSO_WM_UNIT_USESOURCEFORMAT_APPLY"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187308_2*l_h_i*1_1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3.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187308_2*l_h_f*1_2_1"/>
  <p:tag name="KSO_WM_TEMPLATE_CATEGORY" val="custom"/>
  <p:tag name="KSO_WM_TEMPLATE_INDEX" val="20187308"/>
  <p:tag name="KSO_WM_UNIT_LAYERLEVEL" val="1_1_1"/>
  <p:tag name="KSO_WM_TAG_VERSION" val="1.0"/>
  <p:tag name="KSO_WM_BEAUTIFY_FLAG" val="#wm#"/>
  <p:tag name="KSO_WM_UNIT_PRESET_TEXT" val="在此输入节标题2"/>
  <p:tag name="KSO_WM_UNIT_TEXT_FILL_FORE_SCHEMECOLOR_INDEX" val="13"/>
  <p:tag name="KSO_WM_UNIT_TEXT_FILL_TYPE" val="1"/>
  <p:tag name="KSO_WM_UNIT_USESOURCEFORMAT_APPLY" val="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187308_2*l_h_i*1_2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5.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187308_2*l_h_f*1_3_1"/>
  <p:tag name="KSO_WM_TEMPLATE_CATEGORY" val="custom"/>
  <p:tag name="KSO_WM_TEMPLATE_INDEX" val="20187308"/>
  <p:tag name="KSO_WM_UNIT_LAYERLEVEL" val="1_1_1"/>
  <p:tag name="KSO_WM_TAG_VERSION" val="1.0"/>
  <p:tag name="KSO_WM_BEAUTIFY_FLAG" val="#wm#"/>
  <p:tag name="KSO_WM_UNIT_PRESET_TEXT" val="在此输入节标题3"/>
  <p:tag name="KSO_WM_UNIT_TEXT_FILL_FORE_SCHEMECOLOR_INDEX" val="13"/>
  <p:tag name="KSO_WM_UNIT_TEXT_FILL_TYPE" val="1"/>
  <p:tag name="KSO_WM_UNIT_USESOURCEFORMAT_APPLY" val="1"/>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187308_2*l_h_i*1_3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7.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187308_2*l_h_f*1_4_1"/>
  <p:tag name="KSO_WM_TEMPLATE_CATEGORY" val="custom"/>
  <p:tag name="KSO_WM_TEMPLATE_INDEX" val="20187308"/>
  <p:tag name="KSO_WM_UNIT_LAYERLEVEL" val="1_1_1"/>
  <p:tag name="KSO_WM_TAG_VERSION" val="1.0"/>
  <p:tag name="KSO_WM_BEAUTIFY_FLAG" val="#wm#"/>
  <p:tag name="KSO_WM_UNIT_PRESET_TEXT" val="在此输入节标题4"/>
  <p:tag name="KSO_WM_UNIT_TEXT_FILL_FORE_SCHEMECOLOR_INDEX" val="13"/>
  <p:tag name="KSO_WM_UNIT_TEXT_FILL_TYPE" val="1"/>
  <p:tag name="KSO_WM_UNIT_USESOURCEFORMAT_APPLY"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custom20187308_2*l_h_i*1_4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9.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custom20187308_2*l_h_f*1_5_1"/>
  <p:tag name="KSO_WM_TEMPLATE_CATEGORY" val="custom"/>
  <p:tag name="KSO_WM_TEMPLATE_INDEX" val="20187308"/>
  <p:tag name="KSO_WM_UNIT_LAYERLEVEL" val="1_1_1"/>
  <p:tag name="KSO_WM_TAG_VERSION" val="1.0"/>
  <p:tag name="KSO_WM_BEAUTIFY_FLAG" val="#wm#"/>
  <p:tag name="KSO_WM_UNIT_PRESET_TEXT" val="在此输入节标题5"/>
  <p:tag name="KSO_WM_UNIT_TEXT_FILL_FORE_SCHEMECOLOR_INDEX" val="13"/>
  <p:tag name="KSO_WM_UNIT_TEXT_FILL_TYPE" val="1"/>
  <p:tag name="KSO_WM_UNIT_USESOURCEFORMAT_APPLY"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custom20187308_2*l_h_i*1_5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1.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187308_2*b*1"/>
  <p:tag name="KSO_WM_TEMPLATE_CATEGORY" val="custom"/>
  <p:tag name="KSO_WM_TEMPLATE_INDEX" val="20187308"/>
  <p:tag name="KSO_WM_UNIT_LAYERLEVEL" val="1"/>
  <p:tag name="KSO_WM_TAG_VERSION" val="1.0"/>
  <p:tag name="KSO_WM_BEAUTIFY_FLAG" val="#wm#"/>
  <p:tag name="KSO_WM_UNIT_PRESET_TEXT" val="CONTENTS"/>
  <p:tag name="KSO_WM_UNIT_TEXT_FILL_FORE_SCHEMECOLOR_INDEX" val="13"/>
  <p:tag name="KSO_WM_UNIT_TEXT_FILL_TYPE" val="1"/>
  <p:tag name="KSO_WM_UNIT_USESOURCEFORMAT_APPLY" val="1"/>
</p:tagLst>
</file>

<file path=ppt/tags/tag12.xml><?xml version="1.0" encoding="utf-8"?>
<p:tagLst xmlns:a="http://schemas.openxmlformats.org/drawingml/2006/main" xmlns:r="http://schemas.openxmlformats.org/officeDocument/2006/relationships" xmlns:p="http://schemas.openxmlformats.org/presentationml/2006/main">
  <p:tag name="KSO_WM_UNIT_ISCONTENTSTITLE" val="1"/>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187308_2*a*1"/>
  <p:tag name="KSO_WM_TEMPLATE_CATEGORY" val="custom"/>
  <p:tag name="KSO_WM_TEMPLATE_INDEX" val="20187308"/>
  <p:tag name="KSO_WM_UNIT_LAYERLEVEL" val="1"/>
  <p:tag name="KSO_WM_TAG_VERSION" val="1.0"/>
  <p:tag name="KSO_WM_BEAUTIFY_FLAG" val="#wm#"/>
  <p:tag name="KSO_WM_UNIT_PRESET_TEXT" val="目录"/>
  <p:tag name="KSO_WM_UNIT_TEXT_FILL_FORE_SCHEMECOLOR_INDEX" val="13"/>
  <p:tag name="KSO_WM_UNIT_TEXT_FILL_TYPE" val="1"/>
  <p:tag name="KSO_WM_UNIT_USESOURCEFORMAT_APPLY"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custom20187308_2*i*4"/>
  <p:tag name="KSO_WM_TEMPLATE_CATEGORY" val="custom"/>
  <p:tag name="KSO_WM_TEMPLATE_INDEX" val="20187308"/>
  <p:tag name="KSO_WM_UNIT_LAYERLEVEL" val="1"/>
  <p:tag name="KSO_WM_TAG_VERSION" val="1.0"/>
  <p:tag name="KSO_WM_BEAUTIFY_FLAG" val="#wm#"/>
  <p:tag name="KSO_WM_UNIT_LINE_FORE_SCHEMECOLOR_INDEX" val="14"/>
  <p:tag name="KSO_WM_UNIT_LINE_FILL_TYPE" val="2"/>
  <p:tag name="KSO_WM_UNIT_USESOURCEFORMAT_APPLY" val="1"/>
</p:tagLst>
</file>

<file path=ppt/tags/tag14.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187308_2*l_h_f*1_1_1"/>
  <p:tag name="KSO_WM_TEMPLATE_CATEGORY" val="custom"/>
  <p:tag name="KSO_WM_TEMPLATE_INDEX" val="20187308"/>
  <p:tag name="KSO_WM_UNIT_LAYERLEVEL" val="1_1_1"/>
  <p:tag name="KSO_WM_TAG_VERSION" val="1.0"/>
  <p:tag name="KSO_WM_BEAUTIFY_FLAG" val="#wm#"/>
  <p:tag name="KSO_WM_UNIT_PRESET_TEXT" val="在此输入节标题1"/>
  <p:tag name="KSO_WM_UNIT_TEXT_FILL_FORE_SCHEMECOLOR_INDEX" val="13"/>
  <p:tag name="KSO_WM_UNIT_TEXT_FILL_TYPE" val="1"/>
  <p:tag name="KSO_WM_UNIT_USESOURCEFORMAT_APPLY"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187308_2*l_h_i*1_1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6.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187308_2*l_h_f*1_2_1"/>
  <p:tag name="KSO_WM_TEMPLATE_CATEGORY" val="custom"/>
  <p:tag name="KSO_WM_TEMPLATE_INDEX" val="20187308"/>
  <p:tag name="KSO_WM_UNIT_LAYERLEVEL" val="1_1_1"/>
  <p:tag name="KSO_WM_TAG_VERSION" val="1.0"/>
  <p:tag name="KSO_WM_BEAUTIFY_FLAG" val="#wm#"/>
  <p:tag name="KSO_WM_UNIT_PRESET_TEXT" val="在此输入节标题2"/>
  <p:tag name="KSO_WM_UNIT_TEXT_FILL_FORE_SCHEMECOLOR_INDEX" val="13"/>
  <p:tag name="KSO_WM_UNIT_TEXT_FILL_TYPE" val="1"/>
  <p:tag name="KSO_WM_UNIT_USESOURCEFORMAT_APPLY" val="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187308_2*l_h_i*1_2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8.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187308_2*l_h_f*1_3_1"/>
  <p:tag name="KSO_WM_TEMPLATE_CATEGORY" val="custom"/>
  <p:tag name="KSO_WM_TEMPLATE_INDEX" val="20187308"/>
  <p:tag name="KSO_WM_UNIT_LAYERLEVEL" val="1_1_1"/>
  <p:tag name="KSO_WM_TAG_VERSION" val="1.0"/>
  <p:tag name="KSO_WM_BEAUTIFY_FLAG" val="#wm#"/>
  <p:tag name="KSO_WM_UNIT_PRESET_TEXT" val="在此输入节标题3"/>
  <p:tag name="KSO_WM_UNIT_TEXT_FILL_FORE_SCHEMECOLOR_INDEX" val="13"/>
  <p:tag name="KSO_WM_UNIT_TEXT_FILL_TYPE" val="1"/>
  <p:tag name="KSO_WM_UNIT_USESOURCEFORMAT_APPLY" val="1"/>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187308_2*l_h_i*1_3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20.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187308_2*l_h_f*1_4_1"/>
  <p:tag name="KSO_WM_TEMPLATE_CATEGORY" val="custom"/>
  <p:tag name="KSO_WM_TEMPLATE_INDEX" val="20187308"/>
  <p:tag name="KSO_WM_UNIT_LAYERLEVEL" val="1_1_1"/>
  <p:tag name="KSO_WM_TAG_VERSION" val="1.0"/>
  <p:tag name="KSO_WM_BEAUTIFY_FLAG" val="#wm#"/>
  <p:tag name="KSO_WM_UNIT_PRESET_TEXT" val="在此输入节标题4"/>
  <p:tag name="KSO_WM_UNIT_TEXT_FILL_FORE_SCHEMECOLOR_INDEX" val="13"/>
  <p:tag name="KSO_WM_UNIT_TEXT_FILL_TYPE" val="1"/>
  <p:tag name="KSO_WM_UNIT_USESOURCEFORMAT_APPLY" val="1"/>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custom20187308_2*l_h_i*1_4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22.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custom20187308_2*l_h_f*1_5_1"/>
  <p:tag name="KSO_WM_TEMPLATE_CATEGORY" val="custom"/>
  <p:tag name="KSO_WM_TEMPLATE_INDEX" val="20187308"/>
  <p:tag name="KSO_WM_UNIT_LAYERLEVEL" val="1_1_1"/>
  <p:tag name="KSO_WM_TAG_VERSION" val="1.0"/>
  <p:tag name="KSO_WM_BEAUTIFY_FLAG" val="#wm#"/>
  <p:tag name="KSO_WM_UNIT_PRESET_TEXT" val="在此输入节标题5"/>
  <p:tag name="KSO_WM_UNIT_TEXT_FILL_FORE_SCHEMECOLOR_INDEX" val="13"/>
  <p:tag name="KSO_WM_UNIT_TEXT_FILL_TYPE" val="1"/>
  <p:tag name="KSO_WM_UNIT_USESOURCEFORMAT_APPLY" val="1"/>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custom20187308_2*l_h_i*1_5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24.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187308_2*b*1"/>
  <p:tag name="KSO_WM_TEMPLATE_CATEGORY" val="custom"/>
  <p:tag name="KSO_WM_TEMPLATE_INDEX" val="20187308"/>
  <p:tag name="KSO_WM_UNIT_LAYERLEVEL" val="1"/>
  <p:tag name="KSO_WM_TAG_VERSION" val="1.0"/>
  <p:tag name="KSO_WM_BEAUTIFY_FLAG" val="#wm#"/>
  <p:tag name="KSO_WM_UNIT_PRESET_TEXT" val="CONTENTS"/>
  <p:tag name="KSO_WM_UNIT_TEXT_FILL_FORE_SCHEMECOLOR_INDEX" val="13"/>
  <p:tag name="KSO_WM_UNIT_TEXT_FILL_TYPE" val="1"/>
  <p:tag name="KSO_WM_UNIT_USESOURCEFORMAT_APPLY" val="1"/>
</p:tagLst>
</file>

<file path=ppt/tags/tag25.xml><?xml version="1.0" encoding="utf-8"?>
<p:tagLst xmlns:a="http://schemas.openxmlformats.org/drawingml/2006/main" xmlns:r="http://schemas.openxmlformats.org/officeDocument/2006/relationships" xmlns:p="http://schemas.openxmlformats.org/presentationml/2006/main">
  <p:tag name="KSO_WM_UNIT_ISCONTENTSTITLE" val="1"/>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187308_2*a*1"/>
  <p:tag name="KSO_WM_TEMPLATE_CATEGORY" val="custom"/>
  <p:tag name="KSO_WM_TEMPLATE_INDEX" val="20187308"/>
  <p:tag name="KSO_WM_UNIT_LAYERLEVEL" val="1"/>
  <p:tag name="KSO_WM_TAG_VERSION" val="1.0"/>
  <p:tag name="KSO_WM_BEAUTIFY_FLAG" val="#wm#"/>
  <p:tag name="KSO_WM_UNIT_PRESET_TEXT" val="目录"/>
  <p:tag name="KSO_WM_UNIT_TEXT_FILL_FORE_SCHEMECOLOR_INDEX" val="13"/>
  <p:tag name="KSO_WM_UNIT_TEXT_FILL_TYPE" val="1"/>
  <p:tag name="KSO_WM_UNIT_USESOURCEFORMAT_APPLY" val="1"/>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custom20187308_2*i*4"/>
  <p:tag name="KSO_WM_TEMPLATE_CATEGORY" val="custom"/>
  <p:tag name="KSO_WM_TEMPLATE_INDEX" val="20187308"/>
  <p:tag name="KSO_WM_UNIT_LAYERLEVEL" val="1"/>
  <p:tag name="KSO_WM_TAG_VERSION" val="1.0"/>
  <p:tag name="KSO_WM_BEAUTIFY_FLAG" val="#wm#"/>
  <p:tag name="KSO_WM_UNIT_LINE_FORE_SCHEMECOLOR_INDEX" val="14"/>
  <p:tag name="KSO_WM_UNIT_LINE_FILL_TYPE" val="2"/>
  <p:tag name="KSO_WM_UNIT_USESOURCEFORMAT_APPLY" val="1"/>
</p:tagLst>
</file>

<file path=ppt/tags/tag27.xml><?xml version="1.0" encoding="utf-8"?>
<p:tagLst xmlns:a="http://schemas.openxmlformats.org/drawingml/2006/main" xmlns:r="http://schemas.openxmlformats.org/officeDocument/2006/relationships" xmlns:p="http://schemas.openxmlformats.org/presentationml/2006/main">
  <p:tag name="KSO_WM_SLIDE_ID" val="custom20187308_2"/>
  <p:tag name="KSO_WM_TEMPLATE_SUBCATEGORY" val="19"/>
  <p:tag name="KSO_WM_TEMPLATE_MASTER_TYPE" val="0"/>
  <p:tag name="KSO_WM_TEMPLATE_COLOR_TYPE" val="0"/>
  <p:tag name="KSO_WM_SLIDE_TYPE" val="contents"/>
  <p:tag name="KSO_WM_SLIDE_SUBTYPE" val="diag"/>
  <p:tag name="KSO_WM_SLIDE_ITEM_CNT" val="5"/>
  <p:tag name="KSO_WM_SLIDE_INDEX" val="2"/>
  <p:tag name="KSO_WM_DIAGRAM_GROUP_CODE" val="l1-1"/>
  <p:tag name="KSO_WM_SLIDE_DIAGTYPE" val="l"/>
  <p:tag name="KSO_WM_TAG_VERSION" val="1.0"/>
  <p:tag name="KSO_WM_BEAUTIFY_FLAG" val="#wm#"/>
  <p:tag name="KSO_WM_TEMPLATE_CATEGORY" val="custom"/>
  <p:tag name="KSO_WM_TEMPLATE_INDEX" val="20187308"/>
  <p:tag name="KSO_WM_SLIDE_LAYOUT" val="a_b_l"/>
  <p:tag name="KSO_WM_SLIDE_LAYOUT_CNT" val="1_1_1"/>
</p:tagLst>
</file>

<file path=ppt/tags/tag28.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187308_2*l_h_f*1_1_1"/>
  <p:tag name="KSO_WM_TEMPLATE_CATEGORY" val="custom"/>
  <p:tag name="KSO_WM_TEMPLATE_INDEX" val="20187308"/>
  <p:tag name="KSO_WM_UNIT_LAYERLEVEL" val="1_1_1"/>
  <p:tag name="KSO_WM_TAG_VERSION" val="1.0"/>
  <p:tag name="KSO_WM_BEAUTIFY_FLAG" val="#wm#"/>
  <p:tag name="KSO_WM_UNIT_PRESET_TEXT" val="在此输入节标题1"/>
  <p:tag name="KSO_WM_UNIT_TEXT_FILL_FORE_SCHEMECOLOR_INDEX" val="13"/>
  <p:tag name="KSO_WM_UNIT_TEXT_FILL_TYPE" val="1"/>
  <p:tag name="KSO_WM_UNIT_USESOURCEFORMAT_APPLY" val="1"/>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187308_2*l_h_i*1_1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30.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187308_2*l_h_f*1_2_1"/>
  <p:tag name="KSO_WM_TEMPLATE_CATEGORY" val="custom"/>
  <p:tag name="KSO_WM_TEMPLATE_INDEX" val="20187308"/>
  <p:tag name="KSO_WM_UNIT_LAYERLEVEL" val="1_1_1"/>
  <p:tag name="KSO_WM_TAG_VERSION" val="1.0"/>
  <p:tag name="KSO_WM_BEAUTIFY_FLAG" val="#wm#"/>
  <p:tag name="KSO_WM_UNIT_PRESET_TEXT" val="在此输入节标题2"/>
  <p:tag name="KSO_WM_UNIT_TEXT_FILL_FORE_SCHEMECOLOR_INDEX" val="13"/>
  <p:tag name="KSO_WM_UNIT_TEXT_FILL_TYPE" val="1"/>
  <p:tag name="KSO_WM_UNIT_USESOURCEFORMAT_APPLY" val="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187308_2*l_h_i*1_2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32.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187308_2*l_h_f*1_3_1"/>
  <p:tag name="KSO_WM_TEMPLATE_CATEGORY" val="custom"/>
  <p:tag name="KSO_WM_TEMPLATE_INDEX" val="20187308"/>
  <p:tag name="KSO_WM_UNIT_LAYERLEVEL" val="1_1_1"/>
  <p:tag name="KSO_WM_TAG_VERSION" val="1.0"/>
  <p:tag name="KSO_WM_BEAUTIFY_FLAG" val="#wm#"/>
  <p:tag name="KSO_WM_UNIT_PRESET_TEXT" val="在此输入节标题3"/>
  <p:tag name="KSO_WM_UNIT_TEXT_FILL_FORE_SCHEMECOLOR_INDEX" val="13"/>
  <p:tag name="KSO_WM_UNIT_TEXT_FILL_TYPE" val="1"/>
  <p:tag name="KSO_WM_UNIT_USESOURCEFORMAT_APPLY" val="1"/>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187308_2*l_h_i*1_3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34.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187308_2*l_h_f*1_4_1"/>
  <p:tag name="KSO_WM_TEMPLATE_CATEGORY" val="custom"/>
  <p:tag name="KSO_WM_TEMPLATE_INDEX" val="20187308"/>
  <p:tag name="KSO_WM_UNIT_LAYERLEVEL" val="1_1_1"/>
  <p:tag name="KSO_WM_TAG_VERSION" val="1.0"/>
  <p:tag name="KSO_WM_BEAUTIFY_FLAG" val="#wm#"/>
  <p:tag name="KSO_WM_UNIT_PRESET_TEXT" val="在此输入节标题4"/>
  <p:tag name="KSO_WM_UNIT_TEXT_FILL_FORE_SCHEMECOLOR_INDEX" val="13"/>
  <p:tag name="KSO_WM_UNIT_TEXT_FILL_TYPE" val="1"/>
  <p:tag name="KSO_WM_UNIT_USESOURCEFORMAT_APPLY" val="1"/>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custom20187308_2*l_h_i*1_4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36.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custom20187308_2*l_h_f*1_5_1"/>
  <p:tag name="KSO_WM_TEMPLATE_CATEGORY" val="custom"/>
  <p:tag name="KSO_WM_TEMPLATE_INDEX" val="20187308"/>
  <p:tag name="KSO_WM_UNIT_LAYERLEVEL" val="1_1_1"/>
  <p:tag name="KSO_WM_TAG_VERSION" val="1.0"/>
  <p:tag name="KSO_WM_BEAUTIFY_FLAG" val="#wm#"/>
  <p:tag name="KSO_WM_UNIT_PRESET_TEXT" val="在此输入节标题5"/>
  <p:tag name="KSO_WM_UNIT_TEXT_FILL_FORE_SCHEMECOLOR_INDEX" val="13"/>
  <p:tag name="KSO_WM_UNIT_TEXT_FILL_TYPE" val="1"/>
  <p:tag name="KSO_WM_UNIT_USESOURCEFORMAT_APPLY" val="1"/>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custom20187308_2*l_h_i*1_5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38.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187308_2*b*1"/>
  <p:tag name="KSO_WM_TEMPLATE_CATEGORY" val="custom"/>
  <p:tag name="KSO_WM_TEMPLATE_INDEX" val="20187308"/>
  <p:tag name="KSO_WM_UNIT_LAYERLEVEL" val="1"/>
  <p:tag name="KSO_WM_TAG_VERSION" val="1.0"/>
  <p:tag name="KSO_WM_BEAUTIFY_FLAG" val="#wm#"/>
  <p:tag name="KSO_WM_UNIT_PRESET_TEXT" val="CONTENTS"/>
  <p:tag name="KSO_WM_UNIT_TEXT_FILL_FORE_SCHEMECOLOR_INDEX" val="13"/>
  <p:tag name="KSO_WM_UNIT_TEXT_FILL_TYPE" val="1"/>
  <p:tag name="KSO_WM_UNIT_USESOURCEFORMAT_APPLY" val="1"/>
</p:tagLst>
</file>

<file path=ppt/tags/tag39.xml><?xml version="1.0" encoding="utf-8"?>
<p:tagLst xmlns:a="http://schemas.openxmlformats.org/drawingml/2006/main" xmlns:r="http://schemas.openxmlformats.org/officeDocument/2006/relationships" xmlns:p="http://schemas.openxmlformats.org/presentationml/2006/main">
  <p:tag name="KSO_WM_UNIT_ISCONTENTSTITLE" val="1"/>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187308_2*a*1"/>
  <p:tag name="KSO_WM_TEMPLATE_CATEGORY" val="custom"/>
  <p:tag name="KSO_WM_TEMPLATE_INDEX" val="20187308"/>
  <p:tag name="KSO_WM_UNIT_LAYERLEVEL" val="1"/>
  <p:tag name="KSO_WM_TAG_VERSION" val="1.0"/>
  <p:tag name="KSO_WM_BEAUTIFY_FLAG" val="#wm#"/>
  <p:tag name="KSO_WM_UNIT_PRESET_TEXT" val="目录"/>
  <p:tag name="KSO_WM_UNIT_TEXT_FILL_FORE_SCHEMECOLOR_INDEX" val="13"/>
  <p:tag name="KSO_WM_UNIT_TEXT_FILL_TYPE" val="1"/>
  <p:tag name="KSO_WM_UNIT_USESOURCEFORMAT_APPLY" val="1"/>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custom20187308_2*i*4"/>
  <p:tag name="KSO_WM_TEMPLATE_CATEGORY" val="custom"/>
  <p:tag name="KSO_WM_TEMPLATE_INDEX" val="20187308"/>
  <p:tag name="KSO_WM_UNIT_LAYERLEVEL" val="1"/>
  <p:tag name="KSO_WM_TAG_VERSION" val="1.0"/>
  <p:tag name="KSO_WM_BEAUTIFY_FLAG" val="#wm#"/>
  <p:tag name="KSO_WM_UNIT_LINE_FORE_SCHEMECOLOR_INDEX" val="14"/>
  <p:tag name="KSO_WM_UNIT_LINE_FILL_TYPE" val="2"/>
  <p:tag name="KSO_WM_UNIT_USESOURCEFORMAT_APPLY" val="1"/>
</p:tagLst>
</file>

<file path=ppt/tags/tag41.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187308_2*l_h_f*1_1_1"/>
  <p:tag name="KSO_WM_TEMPLATE_CATEGORY" val="custom"/>
  <p:tag name="KSO_WM_TEMPLATE_INDEX" val="20187308"/>
  <p:tag name="KSO_WM_UNIT_LAYERLEVEL" val="1_1_1"/>
  <p:tag name="KSO_WM_TAG_VERSION" val="1.0"/>
  <p:tag name="KSO_WM_BEAUTIFY_FLAG" val="#wm#"/>
  <p:tag name="KSO_WM_UNIT_PRESET_TEXT" val="在此输入节标题1"/>
  <p:tag name="KSO_WM_UNIT_TEXT_FILL_FORE_SCHEMECOLOR_INDEX" val="13"/>
  <p:tag name="KSO_WM_UNIT_TEXT_FILL_TYPE" val="1"/>
  <p:tag name="KSO_WM_UNIT_USESOURCEFORMAT_APPLY" val="1"/>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187308_2*l_h_i*1_1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43.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187308_2*l_h_f*1_2_1"/>
  <p:tag name="KSO_WM_TEMPLATE_CATEGORY" val="custom"/>
  <p:tag name="KSO_WM_TEMPLATE_INDEX" val="20187308"/>
  <p:tag name="KSO_WM_UNIT_LAYERLEVEL" val="1_1_1"/>
  <p:tag name="KSO_WM_TAG_VERSION" val="1.0"/>
  <p:tag name="KSO_WM_BEAUTIFY_FLAG" val="#wm#"/>
  <p:tag name="KSO_WM_UNIT_PRESET_TEXT" val="在此输入节标题2"/>
  <p:tag name="KSO_WM_UNIT_TEXT_FILL_FORE_SCHEMECOLOR_INDEX" val="13"/>
  <p:tag name="KSO_WM_UNIT_TEXT_FILL_TYPE" val="1"/>
  <p:tag name="KSO_WM_UNIT_USESOURCEFORMAT_APPLY" val="1"/>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187308_2*l_h_i*1_2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45.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187308_2*l_h_f*1_3_1"/>
  <p:tag name="KSO_WM_TEMPLATE_CATEGORY" val="custom"/>
  <p:tag name="KSO_WM_TEMPLATE_INDEX" val="20187308"/>
  <p:tag name="KSO_WM_UNIT_LAYERLEVEL" val="1_1_1"/>
  <p:tag name="KSO_WM_TAG_VERSION" val="1.0"/>
  <p:tag name="KSO_WM_BEAUTIFY_FLAG" val="#wm#"/>
  <p:tag name="KSO_WM_UNIT_PRESET_TEXT" val="在此输入节标题3"/>
  <p:tag name="KSO_WM_UNIT_TEXT_FILL_FORE_SCHEMECOLOR_INDEX" val="13"/>
  <p:tag name="KSO_WM_UNIT_TEXT_FILL_TYPE" val="1"/>
  <p:tag name="KSO_WM_UNIT_USESOURCEFORMAT_APPLY" val="1"/>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187308_2*l_h_i*1_3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47.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187308_2*l_h_f*1_4_1"/>
  <p:tag name="KSO_WM_TEMPLATE_CATEGORY" val="custom"/>
  <p:tag name="KSO_WM_TEMPLATE_INDEX" val="20187308"/>
  <p:tag name="KSO_WM_UNIT_LAYERLEVEL" val="1_1_1"/>
  <p:tag name="KSO_WM_TAG_VERSION" val="1.0"/>
  <p:tag name="KSO_WM_BEAUTIFY_FLAG" val="#wm#"/>
  <p:tag name="KSO_WM_UNIT_PRESET_TEXT" val="在此输入节标题4"/>
  <p:tag name="KSO_WM_UNIT_TEXT_FILL_FORE_SCHEMECOLOR_INDEX" val="13"/>
  <p:tag name="KSO_WM_UNIT_TEXT_FILL_TYPE" val="1"/>
  <p:tag name="KSO_WM_UNIT_USESOURCEFORMAT_APPLY" val="1"/>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custom20187308_2*l_h_i*1_4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49.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custom20187308_2*l_h_f*1_5_1"/>
  <p:tag name="KSO_WM_TEMPLATE_CATEGORY" val="custom"/>
  <p:tag name="KSO_WM_TEMPLATE_INDEX" val="20187308"/>
  <p:tag name="KSO_WM_UNIT_LAYERLEVEL" val="1_1_1"/>
  <p:tag name="KSO_WM_TAG_VERSION" val="1.0"/>
  <p:tag name="KSO_WM_BEAUTIFY_FLAG" val="#wm#"/>
  <p:tag name="KSO_WM_UNIT_PRESET_TEXT" val="在此输入节标题5"/>
  <p:tag name="KSO_WM_UNIT_TEXT_FILL_FORE_SCHEMECOLOR_INDEX" val="13"/>
  <p:tag name="KSO_WM_UNIT_TEXT_FILL_TYPE" val="1"/>
  <p:tag name="KSO_WM_UNIT_USESOURCEFORMAT_APPLY" val="1"/>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custom20187308_2*l_h_i*1_5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51.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187308_2*b*1"/>
  <p:tag name="KSO_WM_TEMPLATE_CATEGORY" val="custom"/>
  <p:tag name="KSO_WM_TEMPLATE_INDEX" val="20187308"/>
  <p:tag name="KSO_WM_UNIT_LAYERLEVEL" val="1"/>
  <p:tag name="KSO_WM_TAG_VERSION" val="1.0"/>
  <p:tag name="KSO_WM_BEAUTIFY_FLAG" val="#wm#"/>
  <p:tag name="KSO_WM_UNIT_PRESET_TEXT" val="CONTENTS"/>
  <p:tag name="KSO_WM_UNIT_TEXT_FILL_FORE_SCHEMECOLOR_INDEX" val="13"/>
  <p:tag name="KSO_WM_UNIT_TEXT_FILL_TYPE" val="1"/>
  <p:tag name="KSO_WM_UNIT_USESOURCEFORMAT_APPLY" val="1"/>
</p:tagLst>
</file>

<file path=ppt/tags/tag52.xml><?xml version="1.0" encoding="utf-8"?>
<p:tagLst xmlns:a="http://schemas.openxmlformats.org/drawingml/2006/main" xmlns:r="http://schemas.openxmlformats.org/officeDocument/2006/relationships" xmlns:p="http://schemas.openxmlformats.org/presentationml/2006/main">
  <p:tag name="KSO_WM_UNIT_ISCONTENTSTITLE" val="1"/>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187308_2*a*1"/>
  <p:tag name="KSO_WM_TEMPLATE_CATEGORY" val="custom"/>
  <p:tag name="KSO_WM_TEMPLATE_INDEX" val="20187308"/>
  <p:tag name="KSO_WM_UNIT_LAYERLEVEL" val="1"/>
  <p:tag name="KSO_WM_TAG_VERSION" val="1.0"/>
  <p:tag name="KSO_WM_BEAUTIFY_FLAG" val="#wm#"/>
  <p:tag name="KSO_WM_UNIT_PRESET_TEXT" val="目录"/>
  <p:tag name="KSO_WM_UNIT_TEXT_FILL_FORE_SCHEMECOLOR_INDEX" val="13"/>
  <p:tag name="KSO_WM_UNIT_TEXT_FILL_TYPE" val="1"/>
  <p:tag name="KSO_WM_UNIT_USESOURCEFORMAT_APPLY" val="1"/>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custom20187308_2*i*4"/>
  <p:tag name="KSO_WM_TEMPLATE_CATEGORY" val="custom"/>
  <p:tag name="KSO_WM_TEMPLATE_INDEX" val="20187308"/>
  <p:tag name="KSO_WM_UNIT_LAYERLEVEL" val="1"/>
  <p:tag name="KSO_WM_TAG_VERSION" val="1.0"/>
  <p:tag name="KSO_WM_BEAUTIFY_FLAG" val="#wm#"/>
  <p:tag name="KSO_WM_UNIT_LINE_FORE_SCHEMECOLOR_INDEX" val="14"/>
  <p:tag name="KSO_WM_UNIT_LINE_FILL_TYPE" val="2"/>
  <p:tag name="KSO_WM_UNIT_USESOURCEFORMAT_APPLY" val="1"/>
</p:tagLst>
</file>

<file path=ppt/tags/tag54.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187308_2*l_h_f*1_1_1"/>
  <p:tag name="KSO_WM_TEMPLATE_CATEGORY" val="custom"/>
  <p:tag name="KSO_WM_TEMPLATE_INDEX" val="20187308"/>
  <p:tag name="KSO_WM_UNIT_LAYERLEVEL" val="1_1_1"/>
  <p:tag name="KSO_WM_TAG_VERSION" val="1.0"/>
  <p:tag name="KSO_WM_BEAUTIFY_FLAG" val="#wm#"/>
  <p:tag name="KSO_WM_UNIT_PRESET_TEXT" val="在此输入节标题1"/>
  <p:tag name="KSO_WM_UNIT_TEXT_FILL_FORE_SCHEMECOLOR_INDEX" val="13"/>
  <p:tag name="KSO_WM_UNIT_TEXT_FILL_TYPE" val="1"/>
  <p:tag name="KSO_WM_UNIT_USESOURCEFORMAT_APPLY" val="1"/>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187308_2*l_h_i*1_1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56.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187308_2*l_h_f*1_2_1"/>
  <p:tag name="KSO_WM_TEMPLATE_CATEGORY" val="custom"/>
  <p:tag name="KSO_WM_TEMPLATE_INDEX" val="20187308"/>
  <p:tag name="KSO_WM_UNIT_LAYERLEVEL" val="1_1_1"/>
  <p:tag name="KSO_WM_TAG_VERSION" val="1.0"/>
  <p:tag name="KSO_WM_BEAUTIFY_FLAG" val="#wm#"/>
  <p:tag name="KSO_WM_UNIT_PRESET_TEXT" val="在此输入节标题2"/>
  <p:tag name="KSO_WM_UNIT_TEXT_FILL_FORE_SCHEMECOLOR_INDEX" val="13"/>
  <p:tag name="KSO_WM_UNIT_TEXT_FILL_TYPE" val="1"/>
  <p:tag name="KSO_WM_UNIT_USESOURCEFORMAT_APPLY" val="1"/>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187308_2*l_h_i*1_2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58.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187308_2*l_h_f*1_3_1"/>
  <p:tag name="KSO_WM_TEMPLATE_CATEGORY" val="custom"/>
  <p:tag name="KSO_WM_TEMPLATE_INDEX" val="20187308"/>
  <p:tag name="KSO_WM_UNIT_LAYERLEVEL" val="1_1_1"/>
  <p:tag name="KSO_WM_TAG_VERSION" val="1.0"/>
  <p:tag name="KSO_WM_BEAUTIFY_FLAG" val="#wm#"/>
  <p:tag name="KSO_WM_UNIT_PRESET_TEXT" val="在此输入节标题3"/>
  <p:tag name="KSO_WM_UNIT_TEXT_FILL_FORE_SCHEMECOLOR_INDEX" val="13"/>
  <p:tag name="KSO_WM_UNIT_TEXT_FILL_TYPE" val="1"/>
  <p:tag name="KSO_WM_UNIT_USESOURCEFORMAT_APPLY" val="1"/>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187308_2*l_h_i*1_3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60.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187308_2*l_h_f*1_4_1"/>
  <p:tag name="KSO_WM_TEMPLATE_CATEGORY" val="custom"/>
  <p:tag name="KSO_WM_TEMPLATE_INDEX" val="20187308"/>
  <p:tag name="KSO_WM_UNIT_LAYERLEVEL" val="1_1_1"/>
  <p:tag name="KSO_WM_TAG_VERSION" val="1.0"/>
  <p:tag name="KSO_WM_BEAUTIFY_FLAG" val="#wm#"/>
  <p:tag name="KSO_WM_UNIT_PRESET_TEXT" val="在此输入节标题4"/>
  <p:tag name="KSO_WM_UNIT_TEXT_FILL_FORE_SCHEMECOLOR_INDEX" val="13"/>
  <p:tag name="KSO_WM_UNIT_TEXT_FILL_TYPE" val="1"/>
  <p:tag name="KSO_WM_UNIT_USESOURCEFORMAT_APPLY" val="1"/>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custom20187308_2*l_h_i*1_4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62.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custom20187308_2*l_h_f*1_5_1"/>
  <p:tag name="KSO_WM_TEMPLATE_CATEGORY" val="custom"/>
  <p:tag name="KSO_WM_TEMPLATE_INDEX" val="20187308"/>
  <p:tag name="KSO_WM_UNIT_LAYERLEVEL" val="1_1_1"/>
  <p:tag name="KSO_WM_TAG_VERSION" val="1.0"/>
  <p:tag name="KSO_WM_BEAUTIFY_FLAG" val="#wm#"/>
  <p:tag name="KSO_WM_UNIT_PRESET_TEXT" val="在此输入节标题5"/>
  <p:tag name="KSO_WM_UNIT_TEXT_FILL_FORE_SCHEMECOLOR_INDEX" val="13"/>
  <p:tag name="KSO_WM_UNIT_TEXT_FILL_TYPE" val="1"/>
  <p:tag name="KSO_WM_UNIT_USESOURCEFORMAT_APPLY" val="1"/>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custom20187308_2*l_h_i*1_5_1"/>
  <p:tag name="KSO_WM_TEMPLATE_CATEGORY" val="custom"/>
  <p:tag name="KSO_WM_TEMPLATE_INDEX" val="2018730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64.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187308_2*b*1"/>
  <p:tag name="KSO_WM_TEMPLATE_CATEGORY" val="custom"/>
  <p:tag name="KSO_WM_TEMPLATE_INDEX" val="20187308"/>
  <p:tag name="KSO_WM_UNIT_LAYERLEVEL" val="1"/>
  <p:tag name="KSO_WM_TAG_VERSION" val="1.0"/>
  <p:tag name="KSO_WM_BEAUTIFY_FLAG" val="#wm#"/>
  <p:tag name="KSO_WM_UNIT_PRESET_TEXT" val="CONTENTS"/>
  <p:tag name="KSO_WM_UNIT_TEXT_FILL_FORE_SCHEMECOLOR_INDEX" val="13"/>
  <p:tag name="KSO_WM_UNIT_TEXT_FILL_TYPE" val="1"/>
  <p:tag name="KSO_WM_UNIT_USESOURCEFORMAT_APPLY" val="1"/>
</p:tagLst>
</file>

<file path=ppt/tags/tag65.xml><?xml version="1.0" encoding="utf-8"?>
<p:tagLst xmlns:a="http://schemas.openxmlformats.org/drawingml/2006/main" xmlns:r="http://schemas.openxmlformats.org/officeDocument/2006/relationships" xmlns:p="http://schemas.openxmlformats.org/presentationml/2006/main">
  <p:tag name="KSO_WM_UNIT_ISCONTENTSTITLE" val="1"/>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187308_2*a*1"/>
  <p:tag name="KSO_WM_TEMPLATE_CATEGORY" val="custom"/>
  <p:tag name="KSO_WM_TEMPLATE_INDEX" val="20187308"/>
  <p:tag name="KSO_WM_UNIT_LAYERLEVEL" val="1"/>
  <p:tag name="KSO_WM_TAG_VERSION" val="1.0"/>
  <p:tag name="KSO_WM_BEAUTIFY_FLAG" val="#wm#"/>
  <p:tag name="KSO_WM_UNIT_PRESET_TEXT" val="目录"/>
  <p:tag name="KSO_WM_UNIT_TEXT_FILL_FORE_SCHEMECOLOR_INDEX" val="13"/>
  <p:tag name="KSO_WM_UNIT_TEXT_FILL_TYPE" val="1"/>
  <p:tag name="KSO_WM_UNIT_USESOURCEFORMAT_APPLY" val="1"/>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custom20187308_2*i*4"/>
  <p:tag name="KSO_WM_TEMPLATE_CATEGORY" val="custom"/>
  <p:tag name="KSO_WM_TEMPLATE_INDEX" val="20187308"/>
  <p:tag name="KSO_WM_UNIT_LAYERLEVEL" val="1"/>
  <p:tag name="KSO_WM_TAG_VERSION" val="1.0"/>
  <p:tag name="KSO_WM_BEAUTIFY_FLAG" val="#wm#"/>
  <p:tag name="KSO_WM_UNIT_LINE_FORE_SCHEMECOLOR_INDEX" val="14"/>
  <p:tag name="KSO_WM_UNIT_LINE_FILL_TYPE" val="2"/>
  <p:tag name="KSO_WM_UNIT_USESOURCEFORMAT_APPLY" val="1"/>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7_5*l_h_i*1_1_3"/>
  <p:tag name="KSO_WM_TEMPLATE_CATEGORY" val="diagram"/>
  <p:tag name="KSO_WM_TEMPLATE_INDEX" val="7"/>
  <p:tag name="KSO_WM_UNIT_LAYERLEVEL" val="1_1_1"/>
  <p:tag name="KSO_WM_TAG_VERSION" val="1.0"/>
  <p:tag name="KSO_WM_BEAUTIFY_FLAG" val="#wm#"/>
  <p:tag name="KSO_WM_UNIT_FILL_FORE_SCHEMECOLOR_INDEX" val="5"/>
  <p:tag name="KSO_WM_UNIT_FILL_TYPE" val="1"/>
  <p:tag name="KSO_WM_UNIT_SHADOW_SCHEMECOLOR_INDEX" val="5"/>
  <p:tag name="KSO_WM_UNIT_TEXT_FILL_FORE_SCHEMECOLOR_INDEX" val="5"/>
  <p:tag name="KSO_WM_UNIT_TEXT_FILL_TYPE" val="1"/>
  <p:tag name="KSO_WM_UNIT_USESOURCEFORMAT_APPLY" val="1"/>
</p:tagLst>
</file>

<file path=ppt/tags/tag68.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7_5*l_h_f*1_1_1"/>
  <p:tag name="KSO_WM_TEMPLATE_CATEGORY" val="diagram"/>
  <p:tag name="KSO_WM_TEMPLATE_INDEX" val="7"/>
  <p:tag name="KSO_WM_UNIT_LAYERLEVEL" val="1_1_1"/>
  <p:tag name="KSO_WM_TAG_VERSION" val="1.0"/>
  <p:tag name="KSO_WM_BEAUTIFY_FLAG" val="#wm#"/>
  <p:tag name="KSO_WM_UNIT_PRESET_TEXT" val="单击此处添加文本"/>
  <p:tag name="KSO_WM_UNIT_TEXT_FILL_FORE_SCHEMECOLOR_INDEX" val="5"/>
  <p:tag name="KSO_WM_UNIT_TEXT_FILL_TYPE" val="1"/>
  <p:tag name="KSO_WM_UNIT_USESOURCEFORMAT_APPLY" val="1"/>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7_5*l_h_i*1_2_3"/>
  <p:tag name="KSO_WM_TEMPLATE_CATEGORY" val="diagram"/>
  <p:tag name="KSO_WM_TEMPLATE_INDEX" val="7"/>
  <p:tag name="KSO_WM_UNIT_LAYERLEVEL" val="1_1_1"/>
  <p:tag name="KSO_WM_TAG_VERSION" val="1.0"/>
  <p:tag name="KSO_WM_BEAUTIFY_FLAG" val="#wm#"/>
  <p:tag name="KSO_WM_UNIT_FILL_FORE_SCHEMECOLOR_INDEX" val="6"/>
  <p:tag name="KSO_WM_UNIT_FILL_TYPE" val="1"/>
  <p:tag name="KSO_WM_UNIT_SHADOW_SCHEMECOLOR_INDEX" val="5"/>
  <p:tag name="KSO_WM_UNIT_TEXT_FILL_FORE_SCHEMECOLOR_INDEX" val="6"/>
  <p:tag name="KSO_WM_UNIT_TEXT_FILL_TYPE" val="1"/>
  <p:tag name="KSO_WM_UNIT_USESOURCEFORMAT_APPLY" val="1"/>
</p:tagLst>
</file>

<file path=ppt/tags/tag70.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7_5*l_h_f*1_2_1"/>
  <p:tag name="KSO_WM_TEMPLATE_CATEGORY" val="diagram"/>
  <p:tag name="KSO_WM_TEMPLATE_INDEX" val="7"/>
  <p:tag name="KSO_WM_UNIT_LAYERLEVEL" val="1_1_1"/>
  <p:tag name="KSO_WM_TAG_VERSION" val="1.0"/>
  <p:tag name="KSO_WM_BEAUTIFY_FLAG" val="#wm#"/>
  <p:tag name="KSO_WM_UNIT_PRESET_TEXT" val="单击此处添加文本"/>
  <p:tag name="KSO_WM_UNIT_TEXT_FILL_FORE_SCHEMECOLOR_INDEX" val="6"/>
  <p:tag name="KSO_WM_UNIT_TEXT_FILL_TYPE" val="1"/>
  <p:tag name="KSO_WM_UNIT_USESOURCEFORMAT_APPLY" val="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7_5*l_h_i*1_3_3"/>
  <p:tag name="KSO_WM_TEMPLATE_CATEGORY" val="diagram"/>
  <p:tag name="KSO_WM_TEMPLATE_INDEX" val="7"/>
  <p:tag name="KSO_WM_UNIT_LAYERLEVEL" val="1_1_1"/>
  <p:tag name="KSO_WM_TAG_VERSION" val="1.0"/>
  <p:tag name="KSO_WM_BEAUTIFY_FLAG" val="#wm#"/>
  <p:tag name="KSO_WM_UNIT_FILL_FORE_SCHEMECOLOR_INDEX" val="7"/>
  <p:tag name="KSO_WM_UNIT_FILL_TYPE" val="1"/>
  <p:tag name="KSO_WM_UNIT_SHADOW_SCHEMECOLOR_INDEX" val="5"/>
  <p:tag name="KSO_WM_UNIT_TEXT_FILL_FORE_SCHEMECOLOR_INDEX" val="5"/>
  <p:tag name="KSO_WM_UNIT_TEXT_FILL_TYPE" val="1"/>
  <p:tag name="KSO_WM_UNIT_USESOURCEFORMAT_APPLY" val="1"/>
</p:tagLst>
</file>

<file path=ppt/tags/tag72.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7_5*l_h_f*1_3_1"/>
  <p:tag name="KSO_WM_TEMPLATE_CATEGORY" val="diagram"/>
  <p:tag name="KSO_WM_TEMPLATE_INDEX" val="7"/>
  <p:tag name="KSO_WM_UNIT_LAYERLEVEL" val="1_1_1"/>
  <p:tag name="KSO_WM_TAG_VERSION" val="1.0"/>
  <p:tag name="KSO_WM_BEAUTIFY_FLAG" val="#wm#"/>
  <p:tag name="KSO_WM_UNIT_PRESET_TEXT" val="单击此处添加文本"/>
  <p:tag name="KSO_WM_UNIT_TEXT_FILL_FORE_SCHEMECOLOR_INDEX" val="7"/>
  <p:tag name="KSO_WM_UNIT_TEXT_FILL_TYPE" val="1"/>
  <p:tag name="KSO_WM_UNIT_USESOURCEFORMAT_APPLY" val="1"/>
</p:tagLst>
</file>

<file path=ppt/tags/tag73.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7_5*l_h_f*1_1_1"/>
  <p:tag name="KSO_WM_TEMPLATE_CATEGORY" val="diagram"/>
  <p:tag name="KSO_WM_TEMPLATE_INDEX" val="7"/>
  <p:tag name="KSO_WM_UNIT_LAYERLEVEL" val="1_1_1"/>
  <p:tag name="KSO_WM_TAG_VERSION" val="1.0"/>
  <p:tag name="KSO_WM_BEAUTIFY_FLAG" val="#wm#"/>
  <p:tag name="KSO_WM_UNIT_PRESET_TEXT" val="单击此处添加文本"/>
  <p:tag name="KSO_WM_UNIT_TEXT_FILL_FORE_SCHEMECOLOR_INDEX" val="5"/>
  <p:tag name="KSO_WM_UNIT_TEXT_FILL_TYPE" val="1"/>
  <p:tag name="KSO_WM_UNIT_USESOURCEFORMAT_APPLY" val="1"/>
</p:tagLst>
</file>

<file path=ppt/tags/tag74.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7_5*l_h_f*1_1_1"/>
  <p:tag name="KSO_WM_TEMPLATE_CATEGORY" val="diagram"/>
  <p:tag name="KSO_WM_TEMPLATE_INDEX" val="7"/>
  <p:tag name="KSO_WM_UNIT_LAYERLEVEL" val="1_1_1"/>
  <p:tag name="KSO_WM_TAG_VERSION" val="1.0"/>
  <p:tag name="KSO_WM_BEAUTIFY_FLAG" val="#wm#"/>
  <p:tag name="KSO_WM_UNIT_PRESET_TEXT" val="单击此处添加文本"/>
  <p:tag name="KSO_WM_UNIT_TEXT_FILL_FORE_SCHEMECOLOR_INDEX" val="5"/>
  <p:tag name="KSO_WM_UNIT_TEXT_FILL_TYPE" val="1"/>
  <p:tag name="KSO_WM_UNIT_USESOURCEFORMAT_APPLY" val="1"/>
</p:tagLst>
</file>

<file path=ppt/tags/tag75.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7_5*l_h_f*1_1_1"/>
  <p:tag name="KSO_WM_TEMPLATE_CATEGORY" val="diagram"/>
  <p:tag name="KSO_WM_TEMPLATE_INDEX" val="7"/>
  <p:tag name="KSO_WM_UNIT_LAYERLEVEL" val="1_1_1"/>
  <p:tag name="KSO_WM_TAG_VERSION" val="1.0"/>
  <p:tag name="KSO_WM_BEAUTIFY_FLAG" val="#wm#"/>
  <p:tag name="KSO_WM_UNIT_PRESET_TEXT" val="单击此处添加文本"/>
  <p:tag name="KSO_WM_UNIT_TEXT_FILL_FORE_SCHEMECOLOR_INDEX" val="5"/>
  <p:tag name="KSO_WM_UNIT_TEXT_FILL_TYPE" val="1"/>
  <p:tag name="KSO_WM_UNIT_USESOURCEFORMAT_APPLY" val="1"/>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7_5*l_h_i*1_3_3"/>
  <p:tag name="KSO_WM_TEMPLATE_CATEGORY" val="diagram"/>
  <p:tag name="KSO_WM_TEMPLATE_INDEX" val="7"/>
  <p:tag name="KSO_WM_UNIT_LAYERLEVEL" val="1_1_1"/>
  <p:tag name="KSO_WM_TAG_VERSION" val="1.0"/>
  <p:tag name="KSO_WM_BEAUTIFY_FLAG" val="#wm#"/>
  <p:tag name="KSO_WM_UNIT_FILL_FORE_SCHEMECOLOR_INDEX" val="7"/>
  <p:tag name="KSO_WM_UNIT_FILL_TYPE" val="1"/>
  <p:tag name="KSO_WM_UNIT_SHADOW_SCHEMECOLOR_INDEX" val="5"/>
  <p:tag name="KSO_WM_UNIT_TEXT_FILL_FORE_SCHEMECOLOR_INDEX" val="5"/>
  <p:tag name="KSO_WM_UNIT_TEXT_FILL_TYPE" val="1"/>
  <p:tag name="KSO_WM_UNIT_USESOURCEFORMAT_APPLY" val="1"/>
</p:tagLst>
</file>

<file path=ppt/tags/tag77.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7_5*l_h_f*1_3_1"/>
  <p:tag name="KSO_WM_TEMPLATE_CATEGORY" val="diagram"/>
  <p:tag name="KSO_WM_TEMPLATE_INDEX" val="7"/>
  <p:tag name="KSO_WM_UNIT_LAYERLEVEL" val="1_1_1"/>
  <p:tag name="KSO_WM_TAG_VERSION" val="1.0"/>
  <p:tag name="KSO_WM_BEAUTIFY_FLAG" val="#wm#"/>
  <p:tag name="KSO_WM_UNIT_PRESET_TEXT" val="单击此处添加文本"/>
  <p:tag name="KSO_WM_UNIT_TEXT_FILL_FORE_SCHEMECOLOR_INDEX" val="7"/>
  <p:tag name="KSO_WM_UNIT_TEXT_FILL_TYPE" val="1"/>
  <p:tag name="KSO_WM_UNIT_USESOURCEFORMAT_APPLY" val="1"/>
</p:tagLst>
</file>

<file path=ppt/tags/tag78.xml><?xml version="1.0" encoding="utf-8"?>
<p:tagLst xmlns:a="http://schemas.openxmlformats.org/drawingml/2006/main" xmlns:r="http://schemas.openxmlformats.org/officeDocument/2006/relationships" xmlns:p="http://schemas.openxmlformats.org/presentationml/2006/main">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7_5*l_h_f*1_1_1"/>
  <p:tag name="KSO_WM_TEMPLATE_CATEGORY" val="diagram"/>
  <p:tag name="KSO_WM_TEMPLATE_INDEX" val="7"/>
  <p:tag name="KSO_WM_UNIT_LAYERLEVEL" val="1_1_1"/>
  <p:tag name="KSO_WM_TAG_VERSION" val="1.0"/>
  <p:tag name="KSO_WM_BEAUTIFY_FLAG" val="#wm#"/>
  <p:tag name="KSO_WM_UNIT_PRESET_TEXT" val="单击此处添加文本"/>
  <p:tag name="KSO_WM_UNIT_TEXT_FILL_FORE_SCHEMECOLOR_INDEX" val="5"/>
  <p:tag name="KSO_WM_UNIT_TEXT_FILL_TYPE" val="1"/>
  <p:tag name="KSO_WM_UNIT_USESOURCEFORMAT_APPLY" val="1"/>
</p:tagLst>
</file>

<file path=ppt/tags/tag79.xml><?xml version="1.0" encoding="utf-8"?>
<p:tagLst xmlns:a="http://schemas.openxmlformats.org/drawingml/2006/main" xmlns:r="http://schemas.openxmlformats.org/officeDocument/2006/relationships" xmlns:p="http://schemas.openxmlformats.org/presentationml/2006/main">
  <p:tag name="KSO_WM_UNIT_COLOR_SCHEME_SHAPE_ID" val="3"/>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1985_1*m_h_i*1_1_1"/>
  <p:tag name="KSO_WM_TEMPLATE_CATEGORY" val="diagram"/>
  <p:tag name="KSO_WM_TEMPLATE_INDEX" val="20191985"/>
  <p:tag name="KSO_WM_UNIT_LAYERLEVEL" val="1_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Lst>
</file>

<file path=ppt/tags/tag80.xml><?xml version="1.0" encoding="utf-8"?>
<p:tagLst xmlns:a="http://schemas.openxmlformats.org/drawingml/2006/main" xmlns:r="http://schemas.openxmlformats.org/officeDocument/2006/relationships" xmlns:p="http://schemas.openxmlformats.org/presentationml/2006/main">
  <p:tag name="KSO_WM_UNIT_COLOR_SCHEME_SHAPE_ID" val="3"/>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1985_1*m_h_i*1_1_1"/>
  <p:tag name="KSO_WM_TEMPLATE_CATEGORY" val="diagram"/>
  <p:tag name="KSO_WM_TEMPLATE_INDEX" val="20191985"/>
  <p:tag name="KSO_WM_UNIT_LAYERLEVEL" val="1_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Lst>
</file>

<file path=ppt/tags/tag81.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191985_1*m_h_i*1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82.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191985_1*m_h_i*1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83.xml><?xml version="1.0" encoding="utf-8"?>
<p:tagLst xmlns:a="http://schemas.openxmlformats.org/drawingml/2006/main" xmlns:r="http://schemas.openxmlformats.org/officeDocument/2006/relationships" xmlns:p="http://schemas.openxmlformats.org/presentationml/2006/main">
  <p:tag name="REFSHAPE" val="380896588"/>
</p:tagLst>
</file>

<file path=ppt/theme/theme1.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固定格式">
      <a:majorFont>
        <a:latin typeface="Times New Roman"/>
        <a:ea typeface="微软雅黑"/>
        <a:cs typeface=""/>
      </a:majorFont>
      <a:minorFont>
        <a:latin typeface="微软雅黑"/>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17994</TotalTime>
  <Words>1671</Words>
  <Application>Microsoft Macintosh PowerPoint</Application>
  <PresentationFormat>宽屏</PresentationFormat>
  <Paragraphs>171</Paragraphs>
  <Slides>16</Slides>
  <Notes>7</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16</vt:i4>
      </vt:variant>
    </vt:vector>
  </HeadingPairs>
  <TitlesOfParts>
    <vt:vector size="27" baseType="lpstr">
      <vt:lpstr>等线</vt:lpstr>
      <vt:lpstr>SimHei</vt:lpstr>
      <vt:lpstr>SimHei</vt:lpstr>
      <vt:lpstr>楷体</vt:lpstr>
      <vt:lpstr>SimSun</vt:lpstr>
      <vt:lpstr>SimSun</vt:lpstr>
      <vt:lpstr>微软雅黑</vt:lpstr>
      <vt:lpstr>TimesNewRomanPSMT</vt:lpstr>
      <vt:lpstr>Arial</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刘 畅</dc:creator>
  <cp:lastModifiedBy>小王 小王混世魔王</cp:lastModifiedBy>
  <cp:revision>411</cp:revision>
  <dcterms:created xsi:type="dcterms:W3CDTF">2022-11-23T11:42:13Z</dcterms:created>
  <dcterms:modified xsi:type="dcterms:W3CDTF">2022-12-29T01:11:54Z</dcterms:modified>
</cp:coreProperties>
</file>